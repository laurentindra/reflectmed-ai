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337" r:id="rId2"/>
    <p:sldId id="338" r:id="rId3"/>
    <p:sldId id="339" r:id="rId4"/>
    <p:sldId id="340" r:id="rId5"/>
    <p:sldId id="341" r:id="rId6"/>
    <p:sldId id="342" r:id="rId7"/>
    <p:sldId id="343" r:id="rId8"/>
    <p:sldId id="344" r:id="rId9"/>
    <p:sldId id="345" r:id="rId10"/>
    <p:sldId id="346" r:id="rId11"/>
    <p:sldId id="347" r:id="rId12"/>
    <p:sldId id="348" r:id="rId13"/>
    <p:sldId id="349" r:id="rId14"/>
    <p:sldId id="350" r:id="rId15"/>
    <p:sldId id="351" r:id="rId16"/>
    <p:sldId id="352" r:id="rId17"/>
    <p:sldId id="359" r:id="rId18"/>
    <p:sldId id="354" r:id="rId19"/>
    <p:sldId id="363" r:id="rId20"/>
    <p:sldId id="355" r:id="rId21"/>
    <p:sldId id="35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70"/>
    <p:restoredTop sz="94700"/>
  </p:normalViewPr>
  <p:slideViewPr>
    <p:cSldViewPr snapToGrid="0">
      <p:cViewPr varScale="1">
        <p:scale>
          <a:sx n="80" d="100"/>
          <a:sy n="80" d="100"/>
        </p:scale>
        <p:origin x="200" y="6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manualLayout>
          <c:layoutTarget val="inner"/>
          <c:xMode val="edge"/>
          <c:yMode val="edge"/>
          <c:x val="0"/>
          <c:y val="0"/>
          <c:w val="1"/>
          <c:h val="1"/>
        </c:manualLayout>
      </c:layout>
      <c:doughnutChart>
        <c:varyColors val="1"/>
        <c:ser>
          <c:idx val="0"/>
          <c:order val="0"/>
          <c:dPt>
            <c:idx val="0"/>
            <c:bubble3D val="0"/>
            <c:spPr>
              <a:solidFill>
                <a:srgbClr val="0E8A8A"/>
              </a:solidFill>
              <a:ln w="28575">
                <a:solidFill>
                  <a:srgbClr val="FFFFFF"/>
                </a:solidFill>
              </a:ln>
            </c:spPr>
            <c:extLst>
              <c:ext xmlns:c16="http://schemas.microsoft.com/office/drawing/2014/chart" uri="{C3380CC4-5D6E-409C-BE32-E72D297353CC}">
                <c16:uniqueId val="{00000001-7883-CF47-983B-BE45B376A5CC}"/>
              </c:ext>
            </c:extLst>
          </c:dPt>
          <c:dPt>
            <c:idx val="1"/>
            <c:bubble3D val="0"/>
            <c:spPr>
              <a:solidFill>
                <a:srgbClr val="12B5A5"/>
              </a:solidFill>
              <a:ln w="28575">
                <a:solidFill>
                  <a:srgbClr val="FFFFFF"/>
                </a:solidFill>
              </a:ln>
            </c:spPr>
            <c:extLst>
              <c:ext xmlns:c16="http://schemas.microsoft.com/office/drawing/2014/chart" uri="{C3380CC4-5D6E-409C-BE32-E72D297353CC}">
                <c16:uniqueId val="{00000003-7883-CF47-983B-BE45B376A5CC}"/>
              </c:ext>
            </c:extLst>
          </c:dPt>
          <c:dPt>
            <c:idx val="2"/>
            <c:bubble3D val="0"/>
            <c:spPr>
              <a:solidFill>
                <a:srgbClr val="1F4E6B"/>
              </a:solidFill>
              <a:ln w="28575">
                <a:solidFill>
                  <a:srgbClr val="FFFFFF"/>
                </a:solidFill>
              </a:ln>
            </c:spPr>
            <c:extLst>
              <c:ext xmlns:c16="http://schemas.microsoft.com/office/drawing/2014/chart" uri="{C3380CC4-5D6E-409C-BE32-E72D297353CC}">
                <c16:uniqueId val="{00000005-7883-CF47-983B-BE45B376A5CC}"/>
              </c:ext>
            </c:extLst>
          </c:dPt>
          <c:dPt>
            <c:idx val="3"/>
            <c:bubble3D val="0"/>
            <c:spPr>
              <a:solidFill>
                <a:srgbClr val="3E7596"/>
              </a:solidFill>
              <a:ln w="28575">
                <a:solidFill>
                  <a:srgbClr val="FFFFFF"/>
                </a:solidFill>
              </a:ln>
            </c:spPr>
            <c:extLst>
              <c:ext xmlns:c16="http://schemas.microsoft.com/office/drawing/2014/chart" uri="{C3380CC4-5D6E-409C-BE32-E72D297353CC}">
                <c16:uniqueId val="{00000007-7883-CF47-983B-BE45B376A5CC}"/>
              </c:ext>
            </c:extLst>
          </c:dPt>
          <c:dPt>
            <c:idx val="4"/>
            <c:bubble3D val="0"/>
            <c:spPr>
              <a:solidFill>
                <a:srgbClr val="E08A3C"/>
              </a:solidFill>
              <a:ln w="28575">
                <a:solidFill>
                  <a:srgbClr val="FFFFFF"/>
                </a:solidFill>
              </a:ln>
            </c:spPr>
            <c:extLst>
              <c:ext xmlns:c16="http://schemas.microsoft.com/office/drawing/2014/chart" uri="{C3380CC4-5D6E-409C-BE32-E72D297353CC}">
                <c16:uniqueId val="{00000009-7883-CF47-983B-BE45B376A5CC}"/>
              </c:ext>
            </c:extLst>
          </c:dPt>
          <c:dPt>
            <c:idx val="5"/>
            <c:bubble3D val="0"/>
            <c:spPr>
              <a:solidFill>
                <a:srgbClr val="C97B33"/>
              </a:solidFill>
              <a:ln w="28575">
                <a:solidFill>
                  <a:srgbClr val="FFFFFF"/>
                </a:solidFill>
              </a:ln>
            </c:spPr>
            <c:extLst>
              <c:ext xmlns:c16="http://schemas.microsoft.com/office/drawing/2014/chart" uri="{C3380CC4-5D6E-409C-BE32-E72D297353CC}">
                <c16:uniqueId val="{0000000B-7883-CF47-983B-BE45B376A5CC}"/>
              </c:ext>
            </c:extLst>
          </c:dPt>
          <c:cat>
            <c:strLit>
              <c:ptCount val="6"/>
              <c:pt idx="0">
                <c:v>Description</c:v>
              </c:pt>
              <c:pt idx="1">
                <c:v>Feelings</c:v>
              </c:pt>
              <c:pt idx="2">
                <c:v>Evaluation</c:v>
              </c:pt>
              <c:pt idx="3">
                <c:v>Analysis</c:v>
              </c:pt>
              <c:pt idx="4">
                <c:v>Conclusion</c:v>
              </c:pt>
              <c:pt idx="5">
                <c:v>Action plan</c:v>
              </c:pt>
            </c:strLit>
          </c:cat>
          <c:val>
            <c:numLit>
              <c:formatCode>General</c:formatCode>
              <c:ptCount val="6"/>
              <c:pt idx="0">
                <c:v>1</c:v>
              </c:pt>
              <c:pt idx="1">
                <c:v>1</c:v>
              </c:pt>
              <c:pt idx="2">
                <c:v>1</c:v>
              </c:pt>
              <c:pt idx="3">
                <c:v>1</c:v>
              </c:pt>
              <c:pt idx="4">
                <c:v>1</c:v>
              </c:pt>
              <c:pt idx="5">
                <c:v>1</c:v>
              </c:pt>
            </c:numLit>
          </c:val>
          <c:extLst>
            <c:ext xmlns:c16="http://schemas.microsoft.com/office/drawing/2014/chart" uri="{C3380CC4-5D6E-409C-BE32-E72D297353CC}">
              <c16:uniqueId val="{0000000C-7883-CF47-983B-BE45B376A5CC}"/>
            </c:ext>
          </c:extLst>
        </c:ser>
        <c:dLbls>
          <c:showLegendKey val="0"/>
          <c:showVal val="0"/>
          <c:showCatName val="0"/>
          <c:showSerName val="0"/>
          <c:showPercent val="0"/>
          <c:showBubbleSize val="0"/>
          <c:showLeaderLines val="1"/>
        </c:dLbls>
        <c:firstSliceAng val="330"/>
        <c:holeSize val="52"/>
      </c:doughnutChart>
      <c:spPr>
        <a:noFill/>
        <a:ln>
          <a:noFill/>
        </a:ln>
      </c:spPr>
    </c:plotArea>
    <c:plotVisOnly val="1"/>
    <c:dispBlanksAs val="zero"/>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CA9FC4-A6FE-4241-BDCF-8A5201AF192C}" type="datetimeFigureOut">
              <a:rPr lang="en-US" smtClean="0"/>
              <a:t>5/30/26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2B0F7-0FEC-3C4A-8C4F-309D7EFBBF93}" type="slidenum">
              <a:rPr lang="en-US" smtClean="0"/>
              <a:t>‹#›</a:t>
            </a:fld>
            <a:endParaRPr lang="en-US"/>
          </a:p>
        </p:txBody>
      </p:sp>
    </p:spTree>
    <p:extLst>
      <p:ext uri="{BB962C8B-B14F-4D97-AF65-F5344CB8AC3E}">
        <p14:creationId xmlns:p14="http://schemas.microsoft.com/office/powerpoint/2010/main" val="3643550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pembuka. Sapa mahasiswa dan jelaskan bahwa hari ini kita membahas REFLEKSI — bukan sekadar "mengingat kembali", tapi proses berpikir yang mengubah pengalaman menjadi pembelajaran yang lebih dalam.</a:t>
            </a:r>
          </a:p>
          <a:p>
            <a:endParaRPr lang="id-ID" dirty="0"/>
          </a:p>
          <a:p>
            <a:r>
              <a:rPr lang="id-ID" dirty="0"/>
              <a:t>Poin yang disampaikan:</a:t>
            </a:r>
          </a:p>
          <a:p>
            <a:r>
              <a:rPr lang="id-ID" dirty="0"/>
              <a:t>- Tanyakan: "Setelah selesai jaga atau praktik klinik, apa yang biasanya kalian lakukan?" Pancing diskusi singkat.</a:t>
            </a:r>
          </a:p>
          <a:p>
            <a:r>
              <a:rPr lang="id-ID" dirty="0"/>
              <a:t>- Tekankan refleksi adalah keterampilan yang bisa dilatih, bukan bakat.</a:t>
            </a:r>
          </a:p>
          <a:p>
            <a:r>
              <a:rPr lang="id-ID" dirty="0"/>
              <a:t>- Seluruh materi bersumber dari AMEE Guide No. 44 (Sandars, 2009), panduan resmi pendidikan kedokteran, ditambah model praktis yang relevan.</a:t>
            </a:r>
          </a:p>
          <a:p>
            <a:endParaRPr lang="id-ID" dirty="0"/>
          </a:p>
          <a:p>
            <a:r>
              <a:rPr lang="id-ID" dirty="0"/>
              <a:t>Tujuan sesi: mahasiswa memahami teori refleksi DAN mampu mempraktikkannya dalam pembelajaran sehari-hari.</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tujuan pembelajaran. Jelaskan MENGAPA refleksi penting sebelum masuk ke teori.</a:t>
            </a:r>
          </a:p>
          <a:p>
            <a:endParaRPr lang="id-ID" dirty="0"/>
          </a:p>
          <a:p>
            <a:r>
              <a:rPr lang="id-ID" dirty="0"/>
              <a:t>Poin yang disampaikan:</a:t>
            </a:r>
          </a:p>
          <a:p>
            <a:r>
              <a:rPr lang="id-ID" dirty="0"/>
              <a:t>- Tekankan kalimat kunci: "Pengalaman saja tidak menjamin pembelajaran." Banyak mahasiswa melewati rotasi klinik tanpa benar-benar belajar dari pengalamannya. Refleksi adalah jembatannya.</a:t>
            </a:r>
          </a:p>
          <a:p>
            <a:r>
              <a:rPr lang="id-ID" dirty="0"/>
              <a:t>- Hubungkan dengan self-regulated learning dan lifelong learning — kompetensi wajib dokter.</a:t>
            </a:r>
          </a:p>
          <a:p>
            <a:r>
              <a:rPr lang="id-ID" dirty="0"/>
              <a:t>- Bacakan tiga tujuan sesi: Understand (paham teori), Apply (mampu menerapkan teknik), Grow (membangun kebiasaan).</a:t>
            </a:r>
          </a:p>
          <a:p>
            <a:endParaRPr lang="id-ID" dirty="0"/>
          </a:p>
          <a:p>
            <a:r>
              <a:rPr lang="id-ID" dirty="0"/>
              <a:t>Ajak mahasiswa memegang tiga kata kunci ini sepanjang sesi. Di akhir, kita akan cek apakah ketiganya tercapai.</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definisi. Bangun pemahaman konseptual tentang APA itu refleksi.</a:t>
            </a:r>
          </a:p>
          <a:p>
            <a:endParaRPr lang="id-ID" dirty="0"/>
          </a:p>
          <a:p>
            <a:r>
              <a:rPr lang="id-ID" dirty="0"/>
              <a:t>Poin yang disampaikan:</a:t>
            </a:r>
          </a:p>
          <a:p>
            <a:r>
              <a:rPr lang="id-ID" dirty="0"/>
              <a:t>- Bacakan definisi Sandars: refleksi adalah proses METAKOGNITIF — "berpikir tentang cara kita berpikir".</a:t>
            </a:r>
          </a:p>
          <a:p>
            <a:r>
              <a:rPr lang="id-ID" dirty="0"/>
              <a:t>- Tekankan dua kata kunci: (1) greater understanding of self AND situation, (2) future actions informed by this understanding. Jadi refleksi selalu berorientasi ke perbaikan tindakan ke depan.</a:t>
            </a:r>
          </a:p>
          <a:p>
            <a:r>
              <a:rPr lang="id-ID" dirty="0"/>
              <a:t>- Sebutkan definisi klasik lain sebagai pembanding: Boud dkk. (1985) dan Moon (2004) — semua menekankan eksplorasi pengalaman untuk pemahaman baru.</a:t>
            </a:r>
          </a:p>
          <a:p>
            <a:endParaRPr lang="id-ID" dirty="0"/>
          </a:p>
          <a:p>
            <a:r>
              <a:rPr lang="id-ID" dirty="0"/>
              <a:t>Analogi: refleksi seperti "memutar ulang rekaman" pengalaman, tapi dengan tujuan menemukan pelajaran, bukan sekadar mengenang.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pembeda: refleksi BUKAN sekadar berpikir atau mendeskripsikan.</a:t>
            </a:r>
          </a:p>
          <a:p>
            <a:endParaRPr lang="id-ID" dirty="0"/>
          </a:p>
          <a:p>
            <a:r>
              <a:rPr lang="id-ID" dirty="0"/>
              <a:t>Poin yang disampaikan:</a:t>
            </a:r>
          </a:p>
          <a:p>
            <a:r>
              <a:rPr lang="id-ID" dirty="0"/>
              <a:t>- Banyak mahasiswa mengira "sudah refleksi" padahal baru mendeskripsikan kejadian. Tunjukkan dua kotak: kiri = sekadar deskripsi, kanan = refleksi sejati.</a:t>
            </a:r>
          </a:p>
          <a:p>
            <a:r>
              <a:rPr lang="id-ID" dirty="0"/>
              <a:t>- Refleksi sejati selalu mengandung: pertanyaan "mengapa", menantang asumsi, dan komitmen tindakan yang berbeda ke depan.</a:t>
            </a:r>
          </a:p>
          <a:p>
            <a:r>
              <a:rPr lang="id-ID" dirty="0"/>
              <a:t>- Gunakan contoh klinis di slide (pasien nyeri dada / red flag yang terlewat) untuk membuatnya konkret.</a:t>
            </a:r>
          </a:p>
          <a:p>
            <a:endParaRPr lang="id-ID" dirty="0"/>
          </a:p>
          <a:p>
            <a:r>
              <a:rPr lang="id-ID" dirty="0"/>
              <a:t>Aktivitas singkat: minta satu mahasiswa menceritakan pengalaman, lalu pandu dari "deskripsi" menuju "refleksi" dengan pertanyaan mengapa.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model inti tiga tahap (Figure 1, Sandars 2009).</a:t>
            </a:r>
          </a:p>
          <a:p>
            <a:endParaRPr lang="id-ID" dirty="0"/>
          </a:p>
          <a:p>
            <a:r>
              <a:rPr lang="id-ID" dirty="0"/>
              <a:t>Poin yang disampaikan:</a:t>
            </a:r>
          </a:p>
          <a:p>
            <a:r>
              <a:rPr lang="id-ID" dirty="0"/>
              <a:t>- Refleksi paling sederhana = siklus tiga komponen: PLANNING (merencanakan), DOING (melakukan), REVIEW (meninjau).</a:t>
            </a:r>
          </a:p>
          <a:p>
            <a:r>
              <a:rPr lang="id-ID" dirty="0"/>
              <a:t>- Tekankan kata "siklus" — review menghasilkan rencana baru, jadi ini berputar terus, bukan garis lurus. Tunjuk panah balik di atas.</a:t>
            </a:r>
          </a:p>
          <a:p>
            <a:r>
              <a:rPr lang="id-ID" dirty="0"/>
              <a:t>- Hubungkan ke praktik: sebelum jaga (planning), saat jaga (doing), sesudah jaga (review).</a:t>
            </a:r>
          </a:p>
          <a:p>
            <a:endParaRPr lang="id-ID" dirty="0"/>
          </a:p>
          <a:p>
            <a:r>
              <a:rPr lang="id-ID" dirty="0"/>
              <a:t>Catatan transisi Morph: ketiga lingkaran ini akan "bertransformasi" menyusun ulang menjadi siklus Kolb di slide berikutnya. Beri jeda agar audiens menikmati animasinya.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Kolb. Jelaskan refleksi sebagai bagian dari SIKLUS belajar, bukan kejadian sekali jadi.</a:t>
            </a:r>
          </a:p>
          <a:p>
            <a:endParaRPr lang="id-ID" dirty="0"/>
          </a:p>
          <a:p>
            <a:r>
              <a:rPr lang="id-ID" dirty="0"/>
              <a:t>Poin yang disampaikan:</a:t>
            </a:r>
          </a:p>
          <a:p>
            <a:r>
              <a:rPr lang="id-ID" dirty="0"/>
              <a:t>- Tunjukkan keempat fase berurutan (lihat nomor 1-4 di lingkaran): 1) pengalaman konkret, 2) observasi reflektif, 3) konseptualisasi abstrak, 4) eksperimentasi aktif.</a:t>
            </a:r>
          </a:p>
          <a:p>
            <a:r>
              <a:rPr lang="id-ID" dirty="0"/>
              <a:t>- Tekankan ini SIKLUS — setelah mencoba pendekatan baru (fase 4), kita kembali mengalami situasi baru (fase 1). Belajar terjadi berputar terus.</a:t>
            </a:r>
          </a:p>
          <a:p>
            <a:r>
              <a:rPr lang="id-ID" dirty="0"/>
              <a:t>- Beri contoh klinis: gagal memasang infus (pengalaman) -&gt; memikirkan kenapa gagal (observasi) -&gt; membaca teknik yang benar (konsep) -&gt; mencoba lagi dengan teknik baru (eksperimen).</a:t>
            </a:r>
          </a:p>
          <a:p>
            <a:endParaRPr lang="id-ID" dirty="0"/>
          </a:p>
          <a:p>
            <a:r>
              <a:rPr lang="id-ID" dirty="0"/>
              <a:t>Kaitkan: refleksi adalah fase ke-2 yang menghubungkan "melakukan" dengan "memahami".</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Schön. Perkenalkan dua jenis refleksi pada praktisi ahli.</a:t>
            </a:r>
          </a:p>
          <a:p>
            <a:endParaRPr lang="id-ID" dirty="0"/>
          </a:p>
          <a:p>
            <a:r>
              <a:rPr lang="id-ID" dirty="0"/>
              <a:t>Poin yang disampaikan:</a:t>
            </a:r>
          </a:p>
          <a:p>
            <a:r>
              <a:rPr lang="id-ID" dirty="0"/>
              <a:t>- Reflection-IN-action ("berpikir sambil bertindak"): terjadi SAAT situasi berlangsung. Contoh: saat pasien tiba-tiba memburuk, dokter ahli langsung menyesuaikan tindakan tanpa berhenti berpikir lama.</a:t>
            </a:r>
          </a:p>
          <a:p>
            <a:r>
              <a:rPr lang="id-ID" dirty="0"/>
              <a:t>- Reflection-ON-action ("menengok ke belakang"): terjadi SETELAH kejadian selesai. Contoh: malam harinya merenungkan keputusan tadi dan apa yang bisa diperbaiki.</a:t>
            </a:r>
          </a:p>
          <a:p>
            <a:r>
              <a:rPr lang="id-ID" dirty="0"/>
              <a:t>- Tekankan: keahlian profesional dibangun dari kumpulan "mental model" yang terbentuk lewat refleksi-on-action, lalu bisa dipanggil cepat saat refleksi-in-action.</a:t>
            </a:r>
          </a:p>
          <a:p>
            <a:endParaRPr lang="id-ID" dirty="0"/>
          </a:p>
          <a:p>
            <a:r>
              <a:rPr lang="id-ID" dirty="0"/>
              <a:t>Pesan untuk mahasiswa: kalian masih pemula, jadi fokus dulu pada reflection-ON-action (sesudah kejadian). Kemampuan in-action tumbuh seiring jam terbang.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Mezirow. Jelaskan bentuk refleksi yang paling mendalam: transformative learning.</a:t>
            </a:r>
          </a:p>
          <a:p>
            <a:endParaRPr lang="id-ID" dirty="0"/>
          </a:p>
          <a:p>
            <a:r>
              <a:rPr lang="id-ID" dirty="0"/>
              <a:t>Poin yang disampaikan:</a:t>
            </a:r>
          </a:p>
          <a:p>
            <a:r>
              <a:rPr lang="id-ID" dirty="0"/>
              <a:t>- "Disorienting dilemma" (dilema yang mengguncang): momen ketika kita sadar ada KESENJANGAN antara keyakinan lama dan kenyataan. Inilah pemicu refleksi terdalam.</a:t>
            </a:r>
          </a:p>
          <a:p>
            <a:r>
              <a:rPr lang="id-ID" dirty="0"/>
              <a:t>- Refleksi kritis: kita mempertanyakan asumsi dasar kita. Sering disertai emosi kuat — sedih, malu, atau marah. Wajar dan penting.</a:t>
            </a:r>
          </a:p>
          <a:p>
            <a:r>
              <a:rPr lang="id-ID" dirty="0"/>
              <a:t>- Pergeseran perspektif: hasil akhirnya adalah cara pandang baru tentang diri atau dunia.</a:t>
            </a:r>
          </a:p>
          <a:p>
            <a:endParaRPr lang="id-ID" dirty="0"/>
          </a:p>
          <a:p>
            <a:r>
              <a:rPr lang="id-ID" dirty="0"/>
              <a:t>Contoh klinis: mahasiswa yakin "saya komunikator yang baik", lalu pasien mengeluh tidak dimengerti (dilema). Setelah merenung, ia sadar gaya bicaranya terlalu teknis (refleksi kritis), lalu mengubah cara berkomunikasi (pergeseran perspektif). Tekankan: emosi tidak nyaman adalah TANDA pembelajaran mendalam sedang terjadi.</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tingkat kedalaman refleksi. Inti pesan: tidak semua refleksi sama dalamnya.</a:t>
            </a:r>
          </a:p>
          <a:p>
            <a:endParaRPr lang="id-ID" dirty="0"/>
          </a:p>
          <a:p>
            <a:r>
              <a:rPr lang="id-ID" dirty="0"/>
              <a:t>Poin yang disampaikan:</a:t>
            </a:r>
          </a:p>
          <a:p>
            <a:r>
              <a:rPr lang="id-ID" dirty="0"/>
              <a:t>- SUPERFICIAL (dangkal): hanya mendeskripsikan kejadian — "apa yang terjadi". Belum ada pembelajaran berarti. Ini level paling umum tapi paling lemah.</a:t>
            </a:r>
          </a:p>
          <a:p>
            <a:r>
              <a:rPr lang="id-ID" dirty="0"/>
              <a:t>- ANALYTICAL: mulai "melangkah mundur", bertanya mengapa, menganalisis. Ada tantangan terhadap cara pandang.</a:t>
            </a:r>
          </a:p>
          <a:p>
            <a:r>
              <a:rPr lang="id-ID" dirty="0"/>
              <a:t>- DEEP / TRANSFORMATIVE: menantang dan MENGUBAH keyakinan serta perspektif. Inilah yang setara dengan transformative learning Mezirow.</a:t>
            </a:r>
          </a:p>
          <a:p>
            <a:endParaRPr lang="id-ID" dirty="0"/>
          </a:p>
          <a:p>
            <a:r>
              <a:rPr lang="id-ID" dirty="0"/>
              <a:t>Pesan untuk mahasiswa: saat menulis jurnal refleksi, jangan berhenti di "ceritakan ulang". Dorong diri ke pertanyaan "mengapa saya bereaksi begitu?" dan "apa yang akan saya ubah?". Penilaian (assessment) biasanya mencari bukti refleksi yang DALAM, bukan sekadar deskripsi.</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transisi (pembatas bagian). Gunakan untuk memberi jeda dan menandai pergantian fokus.</a:t>
            </a:r>
          </a:p>
          <a:p>
            <a:endParaRPr lang="id-ID" dirty="0"/>
          </a:p>
          <a:p>
            <a:r>
              <a:rPr lang="id-ID" dirty="0"/>
              <a:t>Poin yang disampaikan:</a:t>
            </a:r>
          </a:p>
          <a:p>
            <a:r>
              <a:rPr lang="id-ID" dirty="0"/>
              <a:t>- Sampaikan: "Sampai di sini kita sudah memahami TEORI refleksi — apa itu, model-modelnya, dan tingkat kedalamannya."</a:t>
            </a:r>
          </a:p>
          <a:p>
            <a:r>
              <a:rPr lang="id-ID" dirty="0"/>
              <a:t>- "Sekarang kita masuk ke bagian yang paling penting bagi kalian sebagai mahasiswa: BAGAIMANA mempraktikkannya."</a:t>
            </a:r>
          </a:p>
          <a:p>
            <a:r>
              <a:rPr lang="id-ID" dirty="0"/>
              <a:t>- Bangkitkan rasa ingin tahu: kita akan bahas keterampilan metakognitif, teknik-teknik konkret (jurnal, mindfulness, portofolio), peran mentor, hambatan, dan rutinitas harian yang bisa langsung dipakai.</a:t>
            </a:r>
          </a:p>
          <a:p>
            <a:endParaRPr lang="id-ID" dirty="0"/>
          </a:p>
          <a:p>
            <a:r>
              <a:rPr lang="id-ID" dirty="0"/>
              <a:t>Beri jeda sejenak. Ini momen yang baik untuk bertanya apakah ada pertanyaan tentang bagian teori sebelum lanjut.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keterampilan metakognitif — inti dari "bagaimana cara berefleksi".</a:t>
            </a:r>
          </a:p>
          <a:p>
            <a:endParaRPr lang="id-ID" dirty="0"/>
          </a:p>
          <a:p>
            <a:r>
              <a:rPr lang="id-ID" dirty="0"/>
              <a:t>Poin yang disampaikan:</a:t>
            </a:r>
          </a:p>
          <a:p>
            <a:r>
              <a:rPr lang="id-ID" dirty="0"/>
              <a:t>- Refleksi yang baik melatih tiga keterampilan yang bekerja BERURUTAN, masing-masing membangun yang sebelumnya.</a:t>
            </a:r>
          </a:p>
          <a:p>
            <a:r>
              <a:rPr lang="id-ID" dirty="0"/>
              <a:t>- (1) Noticing: menyadari saat mental model/asumsi lama kita tidak lagi cocok dengan situasi. Ini langkah pertama yang paling sering terlewat.</a:t>
            </a:r>
          </a:p>
          <a:p>
            <a:r>
              <a:rPr lang="id-ID" dirty="0"/>
              <a:t>- (2) Processing: menggali pengalaman — mempertanyakan asumsi, perasaan, dan kemungkinan penjelasan lain.</a:t>
            </a:r>
          </a:p>
          <a:p>
            <a:r>
              <a:rPr lang="id-ID" dirty="0"/>
              <a:t>- (3) Altered action: mengubah insight menjadi perubahan nyata pada tindakan berikutnya. Tanpa langkah ini, refleksi hanya wacana.</a:t>
            </a:r>
          </a:p>
          <a:p>
            <a:endParaRPr lang="id-ID" dirty="0"/>
          </a:p>
          <a:p>
            <a:r>
              <a:rPr lang="id-ID" dirty="0"/>
              <a:t>Tekankan: tujuan akhir refleksi selalu altered action — perubahan perilaku, bukan sekadar "merenung".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Teknik 1: Reflective journals &amp; critical incident reports.</a:t>
            </a:r>
          </a:p>
          <a:p>
            <a:endParaRPr lang="id-ID" dirty="0"/>
          </a:p>
          <a:p>
            <a:r>
              <a:rPr lang="id-ID" dirty="0"/>
              <a:t>Poin yang disampaikan:</a:t>
            </a:r>
          </a:p>
          <a:p>
            <a:r>
              <a:rPr lang="id-ID" dirty="0"/>
              <a:t>- Jurnal reflektif: menulis bebas tentang pengalaman bermakna — apa yang terjadi, apa yang dirasakan, apa yang dipelajari. Ini teknik paling umum di pendidikan kedokteran.</a:t>
            </a:r>
          </a:p>
          <a:p>
            <a:r>
              <a:rPr lang="id-ID" dirty="0"/>
              <a:t>- Critical incident report: fokus pada SATU peristiwa spesifik yang berkesan (baik atau buruk), lalu menggali mengapa itu penting.</a:t>
            </a:r>
          </a:p>
          <a:p>
            <a:r>
              <a:rPr lang="id-ID" dirty="0"/>
              <a:t>- Ingatkan: tujuannya bukan menulis indah, tapi jujur. Jurnal pribadi boleh berantakan.</a:t>
            </a:r>
          </a:p>
          <a:p>
            <a:endParaRPr lang="id-ID" dirty="0"/>
          </a:p>
          <a:p>
            <a:r>
              <a:rPr lang="id-ID" dirty="0"/>
              <a:t>Latihan "Try this": setelah ronde bangsal berikutnya, tulis tiga kalimat — satu fakta, satu perasaan, satu hal yang akan dilakukan berbeda. Mudah dijadikan kebiasaan harian.</a:t>
            </a:r>
          </a:p>
          <a:p>
            <a:endParaRPr lang="id-ID" dirty="0"/>
          </a:p>
          <a:p>
            <a:r>
              <a:rPr lang="id-ID" dirty="0"/>
              <a:t>Sumber: AMEE Guide 44 (Sandars, 2009).</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Teknik 2: Mindfulness &amp; self-monitoring (Epstein, 1999).</a:t>
            </a:r>
          </a:p>
          <a:p>
            <a:endParaRPr lang="id-ID" dirty="0"/>
          </a:p>
          <a:p>
            <a:r>
              <a:rPr lang="id-ID" dirty="0"/>
              <a:t>Poin yang disampaikan:</a:t>
            </a:r>
          </a:p>
          <a:p>
            <a:r>
              <a:rPr lang="id-ID" dirty="0"/>
              <a:t>- Jelaskan mindful practice: memberi perhatian penuh dan tanpa menghakimi pada pikiran serta emosi yang muncul saat ini juga.</a:t>
            </a:r>
          </a:p>
          <a:p>
            <a:r>
              <a:rPr lang="id-ID" dirty="0"/>
              <a:t>- Hubungkan dengan slide Schön: self-monitoring real-time inilah fondasi reflection-in-action.</a:t>
            </a:r>
          </a:p>
          <a:p>
            <a:r>
              <a:rPr lang="id-ID" dirty="0"/>
              <a:t>- Akui bahwa ini tidak mudah — perlu latihan rutin, sama seperti keterampilan klinis.</a:t>
            </a:r>
          </a:p>
          <a:p>
            <a:endParaRPr lang="id-ID" dirty="0"/>
          </a:p>
          <a:p>
            <a:r>
              <a:rPr lang="id-ID" dirty="0"/>
              <a:t>Latihan "Try this": ajak mahasiswa mencoba langsung — sebelum bertemu pasien, tarik satu napas lambat dan namai perasaan yang muncul. Sederhana tapi melatih kesadaran.</a:t>
            </a:r>
          </a:p>
          <a:p>
            <a:endParaRPr lang="id-ID" dirty="0"/>
          </a:p>
          <a:p>
            <a:r>
              <a:rPr lang="id-ID" dirty="0"/>
              <a:t>Sumber: Epstein 1999 (JAMA), dikutip dalam AMEE Guide 44.</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Teknik 3: Portfolio &amp; digital storytelling.</a:t>
            </a:r>
          </a:p>
          <a:p>
            <a:endParaRPr lang="id-ID" dirty="0"/>
          </a:p>
          <a:p>
            <a:r>
              <a:rPr lang="id-ID" dirty="0"/>
              <a:t>Poin yang disampaikan:</a:t>
            </a:r>
          </a:p>
          <a:p>
            <a:r>
              <a:rPr lang="id-ID" dirty="0"/>
              <a:t>- Portfolio: kumpulan bukti pembelajaran dari waktu ke waktu BESERTA refleksi yang menghubungkannya — bukan sekadar tumpukan sertifikat.</a:t>
            </a:r>
          </a:p>
          <a:p>
            <a:r>
              <a:rPr lang="id-ID" dirty="0"/>
              <a:t>- Digital storytelling: gunakan video, audio, atau gambar untuk berefleksi secara kreatif. Sangat kuat untuk pengalaman yang sulit diungkapkan dengan kata-kata.</a:t>
            </a:r>
          </a:p>
          <a:p>
            <a:r>
              <a:rPr lang="id-ID" dirty="0"/>
              <a:t>- Tekankan pesan AMEE Guide 44: pilihan teknik tergantung tujuan DAN gaya belajar tiap orang. Tidak ada satu metode yang benar untuk semua.</a:t>
            </a:r>
          </a:p>
          <a:p>
            <a:endParaRPr lang="id-ID" dirty="0"/>
          </a:p>
          <a:p>
            <a:r>
              <a:rPr lang="id-ID" dirty="0"/>
              <a:t>Latihan "Try this": minta mahasiswa memilih satu kasus dari rotasi ini dan merekam catatan suara 60 detik tentang pelajaran yang didapat.</a:t>
            </a:r>
          </a:p>
          <a:p>
            <a:endParaRPr lang="id-ID" dirty="0"/>
          </a:p>
          <a:p>
            <a:r>
              <a:rPr lang="id-ID" dirty="0"/>
              <a:t>Sumber: AMEE Guide 44 (Sandars, 2009).</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refleksi terbimbing &amp; umpan balik.</a:t>
            </a:r>
          </a:p>
          <a:p>
            <a:endParaRPr lang="id-ID" dirty="0"/>
          </a:p>
          <a:p>
            <a:r>
              <a:rPr lang="id-ID" dirty="0"/>
              <a:t>Poin yang disampaikan:</a:t>
            </a:r>
          </a:p>
          <a:p>
            <a:r>
              <a:rPr lang="id-ID" dirty="0"/>
              <a:t>- Refleksi tidak harus dilakukan sendirian. Mentor/fasilitator memberi "supportive challenge" — menantang asumsi kita dengan cara yang mendukung, bukan menghakimi.</a:t>
            </a:r>
          </a:p>
          <a:p>
            <a:r>
              <a:rPr lang="id-ID" dirty="0"/>
              <a:t>- Umpan balik (feedback) berperan seperti cermin: memberi informasi konkret tentang performa kita yang sering tidak kita sadari sendiri (blind spots).</a:t>
            </a:r>
          </a:p>
          <a:p>
            <a:r>
              <a:rPr lang="id-ID" dirty="0"/>
              <a:t>- Tekankan prinsip kunci di ribbon bawah: "challenge with support — never challenge alone." Menantang keyakinan seseorang tanpa dukungan bisa berbahaya secara emosional.</a:t>
            </a:r>
          </a:p>
          <a:p>
            <a:endParaRPr lang="id-ID" dirty="0"/>
          </a:p>
          <a:p>
            <a:r>
              <a:rPr lang="id-ID" dirty="0"/>
              <a:t>Kaitkan ke praktik: dorong mahasiswa mencari mentor (DPJP, residen senior) dan secara aktif meminta feedback, bukan menunggu.</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hambatan refleksi. Akui jujur bahwa refleksi tidak selalu mudah — ada hambatan nyata, dan setiap hambatan punya solusi.</a:t>
            </a:r>
          </a:p>
          <a:p>
            <a:endParaRPr lang="id-ID" dirty="0"/>
          </a:p>
          <a:p>
            <a:r>
              <a:rPr lang="id-ID" dirty="0"/>
              <a:t>Bahas tiap baris:</a:t>
            </a:r>
          </a:p>
          <a:p>
            <a:r>
              <a:rPr lang="id-ID" dirty="0"/>
              <a:t>- Motivasi rendah: mahasiswa sering disuruh "refleksi" tanpa tahu tujuannya. Solusi: tetapkan tujuan yang spesifik dan jelas sebelum mulai.</a:t>
            </a:r>
          </a:p>
          <a:p>
            <a:r>
              <a:rPr lang="id-ID" dirty="0"/>
              <a:t>- Kerentanan emosional: refleksi mendalam bisa memunculkan rasa ragu atau gagal. Solusi: ciptakan ruang aman, beri dukungan bila perlu lebih dari sekadar tugas.</a:t>
            </a:r>
          </a:p>
          <a:p>
            <a:r>
              <a:rPr lang="id-ID" dirty="0"/>
              <a:t>- Ketegangan penilaian: bila refleksi dinilai/diberi nilai, mahasiswa cenderung menulis yang "aman", bukan yang jujur. Solusi: pisahkan peran mentor dari peran penilai.</a:t>
            </a:r>
          </a:p>
          <a:p>
            <a:endParaRPr lang="id-ID" dirty="0"/>
          </a:p>
          <a:p>
            <a:r>
              <a:rPr lang="id-ID" dirty="0"/>
              <a:t>Pesan: tugas pendidik adalah menurunkan hambatan ini, bukan menyalahkan mahasiswa yang kesulitan refleksi.</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model praktis Gibbs. Ini "alat" konkret yang bisa langsung dipakai mahasiswa.</a:t>
            </a:r>
          </a:p>
          <a:p>
            <a:endParaRPr lang="id-ID" dirty="0"/>
          </a:p>
          <a:p>
            <a:r>
              <a:rPr lang="id-ID" dirty="0"/>
              <a:t>Poin yang disampaikan:</a:t>
            </a:r>
          </a:p>
          <a:p>
            <a:r>
              <a:rPr lang="id-ID" dirty="0"/>
              <a:t>- Jelaskan ini model di luar AMEE Guide tapi PALING populer di pendidikan kedokteran karena sederhana dan berurutan.</a:t>
            </a:r>
          </a:p>
          <a:p>
            <a:r>
              <a:rPr lang="id-ID" dirty="0"/>
              <a:t>- Pandu satu putaran: (1) Description - apa yang terjadi, (2) Feelings - apa yang dirasakan, (3) Evaluation - apa yang baik/buruk, (4) Analysis - apa maknanya, (5) Conclusion - apa lagi yang bisa dilakukan, (6) Action plan - apa yang akan diubah lain kali.</a:t>
            </a:r>
          </a:p>
          <a:p>
            <a:r>
              <a:rPr lang="id-ID" dirty="0"/>
              <a:t>- Tekankan langkah 6 (action plan) adalah yang paling sering dilewati mahasiswa, padahal paling penting — tanpa rencana tindakan, refleksi berhenti di "altered action" yang kosong.</a:t>
            </a:r>
          </a:p>
          <a:p>
            <a:endParaRPr lang="id-ID" dirty="0"/>
          </a:p>
          <a:p>
            <a:r>
              <a:rPr lang="id-ID" dirty="0"/>
              <a:t>Ajak mahasiswa mencoba: ambil satu kejadian klinik minggu ini dan lewati keenam langkah ini bersama-sama.</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aksi praktis — ini inti dari tujuan "terapkan setiap hari".</a:t>
            </a:r>
          </a:p>
          <a:p>
            <a:endParaRPr lang="id-ID" dirty="0"/>
          </a:p>
          <a:p>
            <a:r>
              <a:rPr lang="id-ID" dirty="0"/>
              <a:t>Poin yang disampaikan:</a:t>
            </a:r>
          </a:p>
          <a:p>
            <a:r>
              <a:rPr lang="id-ID" dirty="0"/>
              <a:t>- Tekankan: refleksi TIDAK butuh waktu lama. Cukup 2 menit yang konsisten.</a:t>
            </a:r>
          </a:p>
          <a:p>
            <a:r>
              <a:rPr lang="id-ID" dirty="0"/>
              <a:t>- Pandu mahasiswa melewati 4 langkah: (1) Pause - berhenti sejenak di akhir hari, (2) Pick one moment - pilih SATU kasus yang berkesan, (3) Ask why - apa yang diajarkan tentang diri kalian, (4) Commit - tetapkan satu hal yang akan diubah.</a:t>
            </a:r>
          </a:p>
          <a:p>
            <a:r>
              <a:rPr lang="id-ID" dirty="0"/>
              <a:t>- Pesan kunci di pita bawah: konsistensi mengalahkan durasi. Dua menit jujur tiap hari lebih baik daripada satu entri panjang sebulan sekali.</a:t>
            </a:r>
          </a:p>
          <a:p>
            <a:endParaRPr lang="id-ID" dirty="0"/>
          </a:p>
          <a:p>
            <a:r>
              <a:rPr lang="id-ID" dirty="0"/>
              <a:t>Ajakan: minta mahasiswa mencoba rutinitas ini malam ini juga, dan tawarkan untuk membahas hasilnya di sesi berikutnya. Ini menghubungkan teori ke kebiasaan nyata.</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aksi praktis — ini inti dari tujuan "terapkan setiap hari".</a:t>
            </a:r>
          </a:p>
          <a:p>
            <a:endParaRPr lang="id-ID" dirty="0"/>
          </a:p>
          <a:p>
            <a:r>
              <a:rPr lang="id-ID" dirty="0"/>
              <a:t>Poin yang disampaikan:</a:t>
            </a:r>
          </a:p>
          <a:p>
            <a:r>
              <a:rPr lang="id-ID" dirty="0"/>
              <a:t>- Tekankan: refleksi TIDAK butuh waktu lama. Cukup 2 menit yang konsisten.</a:t>
            </a:r>
          </a:p>
          <a:p>
            <a:r>
              <a:rPr lang="id-ID" dirty="0"/>
              <a:t>- Pandu mahasiswa melewati 4 langkah: (1) Pause - berhenti sejenak di akhir hari, (2) Pick one moment - pilih SATU kasus yang berkesan, (3) Ask why - apa yang diajarkan tentang diri kalian, (4) Commit - tetapkan satu hal yang akan diubah.</a:t>
            </a:r>
          </a:p>
          <a:p>
            <a:r>
              <a:rPr lang="id-ID" dirty="0"/>
              <a:t>- Pesan kunci di pita bawah: konsistensi mengalahkan durasi. Dua menit jujur tiap hari lebih baik daripada satu entri panjang sebulan sekali.</a:t>
            </a:r>
          </a:p>
          <a:p>
            <a:endParaRPr lang="id-ID" dirty="0"/>
          </a:p>
          <a:p>
            <a:r>
              <a:rPr lang="id-ID" dirty="0"/>
              <a:t>Ajakan: minta mahasiswa mencoba rutinitas ini malam ini juga, dan tawarkan untuk membahas hasilnya di sesi berikutnya. Ini menghubungkan teori ke kebiasaan nyata.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rangkuman. Tutup sesi dengan menegaskan 4 pesan inti.</a:t>
            </a:r>
          </a:p>
          <a:p>
            <a:endParaRPr lang="id-ID" dirty="0"/>
          </a:p>
          <a:p>
            <a:r>
              <a:rPr lang="id-ID" dirty="0"/>
              <a:t>Poin yang disampaikan:</a:t>
            </a:r>
          </a:p>
          <a:p>
            <a:r>
              <a:rPr lang="id-ID" dirty="0"/>
              <a:t>- (1) Refleksi adalah KETERAMPILAN, bukan suasana hati — bisa dilatih seperti keterampilan klinis lainnya.</a:t>
            </a:r>
          </a:p>
          <a:p>
            <a:r>
              <a:rPr lang="id-ID" dirty="0"/>
              <a:t>- (2) Kedalaman adalah tujuan — jangan berhenti di deskripsi, tantang asumsi diri.</a:t>
            </a:r>
          </a:p>
          <a:p>
            <a:r>
              <a:rPr lang="id-ID" dirty="0"/>
              <a:t>- (3) Gunakan struktur — model seperti Kolb dan Gibbs memberi bentuk yang bisa diulang.</a:t>
            </a:r>
          </a:p>
          <a:p>
            <a:r>
              <a:rPr lang="id-ID" dirty="0"/>
              <a:t>- (4) Jangan berefleksi sendirian — mentor dan umpan balik mengubah pikiran pribadi menjadi pertumbuhan nyata.</a:t>
            </a:r>
          </a:p>
          <a:p>
            <a:endParaRPr lang="id-ID" dirty="0"/>
          </a:p>
          <a:p>
            <a:r>
              <a:rPr lang="id-ID" dirty="0"/>
              <a:t>Ajak mahasiswa memilih SATU takeaway yang paling relevan bagi mereka dan menerapkannya minggu ini. Buka sesi tanya jawab singkat sebelum slide referensi.</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id-ID" dirty="0"/>
              <a:t>Slide referensi. Slide penutup.</a:t>
            </a:r>
          </a:p>
          <a:p>
            <a:endParaRPr lang="id-ID" dirty="0"/>
          </a:p>
          <a:p>
            <a:r>
              <a:rPr lang="id-ID" dirty="0"/>
              <a:t>Poin yang disampaikan:</a:t>
            </a:r>
          </a:p>
          <a:p>
            <a:r>
              <a:rPr lang="id-ID" dirty="0"/>
              <a:t>- Tegaskan bahwa seluruh materi bersumber utama dari AMEE Guide No. 44 (Sandars, 2009) — panduan resmi yang kredibel.</a:t>
            </a:r>
          </a:p>
          <a:p>
            <a:r>
              <a:rPr lang="id-ID" dirty="0"/>
              <a:t>- Sebutkan bahwa model dan teori pendukung (Kolb, Schön, Mezirow, Boud, Moon, Epstein, Gibbs, Eraut) adalah rujukan klasik yang banyak dipakai dalam pendidikan kedokteran.</a:t>
            </a:r>
          </a:p>
          <a:p>
            <a:r>
              <a:rPr lang="id-ID" dirty="0"/>
              <a:t>- Persilakan mahasiswa memfoto slide ini atau mencatat AMEE Guide 44 untuk bacaan lanjutan.</a:t>
            </a:r>
          </a:p>
          <a:p>
            <a:endParaRPr lang="id-ID" dirty="0"/>
          </a:p>
          <a:p>
            <a:r>
              <a:rPr lang="id-ID" dirty="0"/>
              <a:t>Ucapkan terima kasih dan buka ruang diskusi akhir. Ingatkan kembali ajakan praktik: coba rutinitas refleksi 2 menit malam ini.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FFFBF-4551-B9E0-518E-6D77C4E2146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4E8F7FC-A361-5E98-62AB-29F2647878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2D87C0D-BBCE-EDAD-C4DE-B07662225FC7}"/>
              </a:ext>
            </a:extLst>
          </p:cNvPr>
          <p:cNvSpPr>
            <a:spLocks noGrp="1"/>
          </p:cNvSpPr>
          <p:nvPr>
            <p:ph type="dt" sz="half" idx="10"/>
          </p:nvPr>
        </p:nvSpPr>
        <p:spPr/>
        <p:txBody>
          <a:bodyPr/>
          <a:lstStyle/>
          <a:p>
            <a:fld id="{4F12721C-8FA1-9F48-B6E2-13CC87B436C7}" type="datetimeFigureOut">
              <a:rPr lang="en-US" smtClean="0"/>
              <a:t>5/30/26</a:t>
            </a:fld>
            <a:endParaRPr lang="en-US"/>
          </a:p>
        </p:txBody>
      </p:sp>
      <p:sp>
        <p:nvSpPr>
          <p:cNvPr id="5" name="Footer Placeholder 4">
            <a:extLst>
              <a:ext uri="{FF2B5EF4-FFF2-40B4-BE49-F238E27FC236}">
                <a16:creationId xmlns:a16="http://schemas.microsoft.com/office/drawing/2014/main" id="{3AF224F7-37E8-AC88-E942-CFCED84EB9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65345C-6735-5FF3-F9B5-9626E258A892}"/>
              </a:ext>
            </a:extLst>
          </p:cNvPr>
          <p:cNvSpPr>
            <a:spLocks noGrp="1"/>
          </p:cNvSpPr>
          <p:nvPr>
            <p:ph type="sldNum" sz="quarter" idx="12"/>
          </p:nvPr>
        </p:nvSpPr>
        <p:spPr/>
        <p:txBody>
          <a:bodyPr/>
          <a:lstStyle/>
          <a:p>
            <a:fld id="{15C897E3-44C7-074E-9551-0B081A5C6220}" type="slidenum">
              <a:rPr lang="en-US" smtClean="0"/>
              <a:t>‹#›</a:t>
            </a:fld>
            <a:endParaRPr lang="en-US"/>
          </a:p>
        </p:txBody>
      </p:sp>
    </p:spTree>
    <p:extLst>
      <p:ext uri="{BB962C8B-B14F-4D97-AF65-F5344CB8AC3E}">
        <p14:creationId xmlns:p14="http://schemas.microsoft.com/office/powerpoint/2010/main" val="1107423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29446-8AA6-58FD-299A-7EC5FD2FDEF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133FE10-30E5-4FEA-611F-4EB56A5B20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772CB00-A78C-1118-C610-D0C2892437BF}"/>
              </a:ext>
            </a:extLst>
          </p:cNvPr>
          <p:cNvSpPr>
            <a:spLocks noGrp="1"/>
          </p:cNvSpPr>
          <p:nvPr>
            <p:ph type="dt" sz="half" idx="10"/>
          </p:nvPr>
        </p:nvSpPr>
        <p:spPr/>
        <p:txBody>
          <a:bodyPr/>
          <a:lstStyle/>
          <a:p>
            <a:fld id="{4F12721C-8FA1-9F48-B6E2-13CC87B436C7}" type="datetimeFigureOut">
              <a:rPr lang="en-US" smtClean="0"/>
              <a:t>5/30/26</a:t>
            </a:fld>
            <a:endParaRPr lang="en-US"/>
          </a:p>
        </p:txBody>
      </p:sp>
      <p:sp>
        <p:nvSpPr>
          <p:cNvPr id="5" name="Footer Placeholder 4">
            <a:extLst>
              <a:ext uri="{FF2B5EF4-FFF2-40B4-BE49-F238E27FC236}">
                <a16:creationId xmlns:a16="http://schemas.microsoft.com/office/drawing/2014/main" id="{249668ED-67CF-925A-39D4-2970FDC69B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B0FAA6-6C0F-ADD5-45F4-B38AB3E62543}"/>
              </a:ext>
            </a:extLst>
          </p:cNvPr>
          <p:cNvSpPr>
            <a:spLocks noGrp="1"/>
          </p:cNvSpPr>
          <p:nvPr>
            <p:ph type="sldNum" sz="quarter" idx="12"/>
          </p:nvPr>
        </p:nvSpPr>
        <p:spPr/>
        <p:txBody>
          <a:bodyPr/>
          <a:lstStyle/>
          <a:p>
            <a:fld id="{15C897E3-44C7-074E-9551-0B081A5C6220}" type="slidenum">
              <a:rPr lang="en-US" smtClean="0"/>
              <a:t>‹#›</a:t>
            </a:fld>
            <a:endParaRPr lang="en-US"/>
          </a:p>
        </p:txBody>
      </p:sp>
    </p:spTree>
    <p:extLst>
      <p:ext uri="{BB962C8B-B14F-4D97-AF65-F5344CB8AC3E}">
        <p14:creationId xmlns:p14="http://schemas.microsoft.com/office/powerpoint/2010/main" val="3737291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063C8-8602-0A55-9628-7D556FD6725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A4BF35B-BF7A-E229-85CA-56DBA7C99A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CC19683-B40F-A0EE-6517-688A5CF54CFA}"/>
              </a:ext>
            </a:extLst>
          </p:cNvPr>
          <p:cNvSpPr>
            <a:spLocks noGrp="1"/>
          </p:cNvSpPr>
          <p:nvPr>
            <p:ph type="dt" sz="half" idx="10"/>
          </p:nvPr>
        </p:nvSpPr>
        <p:spPr/>
        <p:txBody>
          <a:bodyPr/>
          <a:lstStyle/>
          <a:p>
            <a:fld id="{4F12721C-8FA1-9F48-B6E2-13CC87B436C7}" type="datetimeFigureOut">
              <a:rPr lang="en-US" smtClean="0"/>
              <a:t>5/30/26</a:t>
            </a:fld>
            <a:endParaRPr lang="en-US"/>
          </a:p>
        </p:txBody>
      </p:sp>
      <p:sp>
        <p:nvSpPr>
          <p:cNvPr id="5" name="Footer Placeholder 4">
            <a:extLst>
              <a:ext uri="{FF2B5EF4-FFF2-40B4-BE49-F238E27FC236}">
                <a16:creationId xmlns:a16="http://schemas.microsoft.com/office/drawing/2014/main" id="{4375F1FF-AF1D-7E46-B180-9F4B0FC2AE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B735A7-3A28-C1FF-73F8-32462C7A9DBF}"/>
              </a:ext>
            </a:extLst>
          </p:cNvPr>
          <p:cNvSpPr>
            <a:spLocks noGrp="1"/>
          </p:cNvSpPr>
          <p:nvPr>
            <p:ph type="sldNum" sz="quarter" idx="12"/>
          </p:nvPr>
        </p:nvSpPr>
        <p:spPr/>
        <p:txBody>
          <a:bodyPr/>
          <a:lstStyle/>
          <a:p>
            <a:fld id="{15C897E3-44C7-074E-9551-0B081A5C6220}" type="slidenum">
              <a:rPr lang="en-US" smtClean="0"/>
              <a:t>‹#›</a:t>
            </a:fld>
            <a:endParaRPr lang="en-US"/>
          </a:p>
        </p:txBody>
      </p:sp>
    </p:spTree>
    <p:extLst>
      <p:ext uri="{BB962C8B-B14F-4D97-AF65-F5344CB8AC3E}">
        <p14:creationId xmlns:p14="http://schemas.microsoft.com/office/powerpoint/2010/main" val="2628391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347FD-6CCF-05AC-00B2-679328A12E3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98C063A-F921-90F2-9FD8-2D45C8F709F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F02A92A-07E1-96D4-1628-DD5E7862619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ED7F562-D2C4-71C3-24EA-1C6805432FC6}"/>
              </a:ext>
            </a:extLst>
          </p:cNvPr>
          <p:cNvSpPr>
            <a:spLocks noGrp="1"/>
          </p:cNvSpPr>
          <p:nvPr>
            <p:ph type="dt" sz="half" idx="10"/>
          </p:nvPr>
        </p:nvSpPr>
        <p:spPr/>
        <p:txBody>
          <a:bodyPr/>
          <a:lstStyle/>
          <a:p>
            <a:fld id="{4F12721C-8FA1-9F48-B6E2-13CC87B436C7}" type="datetimeFigureOut">
              <a:rPr lang="en-US" smtClean="0"/>
              <a:t>5/30/26</a:t>
            </a:fld>
            <a:endParaRPr lang="en-US"/>
          </a:p>
        </p:txBody>
      </p:sp>
      <p:sp>
        <p:nvSpPr>
          <p:cNvPr id="6" name="Footer Placeholder 5">
            <a:extLst>
              <a:ext uri="{FF2B5EF4-FFF2-40B4-BE49-F238E27FC236}">
                <a16:creationId xmlns:a16="http://schemas.microsoft.com/office/drawing/2014/main" id="{461AD0DF-225D-9518-1CCB-CCAE098E8D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D4CDC5-2336-25A5-8E56-5A8DF7DE2FEB}"/>
              </a:ext>
            </a:extLst>
          </p:cNvPr>
          <p:cNvSpPr>
            <a:spLocks noGrp="1"/>
          </p:cNvSpPr>
          <p:nvPr>
            <p:ph type="sldNum" sz="quarter" idx="12"/>
          </p:nvPr>
        </p:nvSpPr>
        <p:spPr/>
        <p:txBody>
          <a:bodyPr/>
          <a:lstStyle/>
          <a:p>
            <a:fld id="{15C897E3-44C7-074E-9551-0B081A5C6220}" type="slidenum">
              <a:rPr lang="en-US" smtClean="0"/>
              <a:t>‹#›</a:t>
            </a:fld>
            <a:endParaRPr lang="en-US"/>
          </a:p>
        </p:txBody>
      </p:sp>
    </p:spTree>
    <p:extLst>
      <p:ext uri="{BB962C8B-B14F-4D97-AF65-F5344CB8AC3E}">
        <p14:creationId xmlns:p14="http://schemas.microsoft.com/office/powerpoint/2010/main" val="432373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E7434-C0BE-1A32-5257-4737C15ED82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F1399D5-17EC-2842-AE1D-C7F089318A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561F2A0-4234-CD73-48D2-AC361EAAB21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C3A766A-2E16-DE8E-7A57-8195C5DF2F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5C29068-C0F8-3CB9-06F6-36779E37AF7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C33E851-4E34-68AE-A808-E90A1D620EAD}"/>
              </a:ext>
            </a:extLst>
          </p:cNvPr>
          <p:cNvSpPr>
            <a:spLocks noGrp="1"/>
          </p:cNvSpPr>
          <p:nvPr>
            <p:ph type="dt" sz="half" idx="10"/>
          </p:nvPr>
        </p:nvSpPr>
        <p:spPr/>
        <p:txBody>
          <a:bodyPr/>
          <a:lstStyle/>
          <a:p>
            <a:fld id="{4F12721C-8FA1-9F48-B6E2-13CC87B436C7}" type="datetimeFigureOut">
              <a:rPr lang="en-US" smtClean="0"/>
              <a:t>5/30/26</a:t>
            </a:fld>
            <a:endParaRPr lang="en-US"/>
          </a:p>
        </p:txBody>
      </p:sp>
      <p:sp>
        <p:nvSpPr>
          <p:cNvPr id="8" name="Footer Placeholder 7">
            <a:extLst>
              <a:ext uri="{FF2B5EF4-FFF2-40B4-BE49-F238E27FC236}">
                <a16:creationId xmlns:a16="http://schemas.microsoft.com/office/drawing/2014/main" id="{3381176E-73B0-3431-B2E7-A61FEC2C5D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AC8569-4DC6-B728-263E-161223017FAB}"/>
              </a:ext>
            </a:extLst>
          </p:cNvPr>
          <p:cNvSpPr>
            <a:spLocks noGrp="1"/>
          </p:cNvSpPr>
          <p:nvPr>
            <p:ph type="sldNum" sz="quarter" idx="12"/>
          </p:nvPr>
        </p:nvSpPr>
        <p:spPr/>
        <p:txBody>
          <a:bodyPr/>
          <a:lstStyle/>
          <a:p>
            <a:fld id="{15C897E3-44C7-074E-9551-0B081A5C6220}" type="slidenum">
              <a:rPr lang="en-US" smtClean="0"/>
              <a:t>‹#›</a:t>
            </a:fld>
            <a:endParaRPr lang="en-US"/>
          </a:p>
        </p:txBody>
      </p:sp>
    </p:spTree>
    <p:extLst>
      <p:ext uri="{BB962C8B-B14F-4D97-AF65-F5344CB8AC3E}">
        <p14:creationId xmlns:p14="http://schemas.microsoft.com/office/powerpoint/2010/main" val="259436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464FE-17B3-16FE-9725-41F21F7CEC1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2FFC7B1-B7CF-C188-8CDB-E09DE1E716B1}"/>
              </a:ext>
            </a:extLst>
          </p:cNvPr>
          <p:cNvSpPr>
            <a:spLocks noGrp="1"/>
          </p:cNvSpPr>
          <p:nvPr>
            <p:ph type="dt" sz="half" idx="10"/>
          </p:nvPr>
        </p:nvSpPr>
        <p:spPr/>
        <p:txBody>
          <a:bodyPr/>
          <a:lstStyle/>
          <a:p>
            <a:fld id="{4F12721C-8FA1-9F48-B6E2-13CC87B436C7}" type="datetimeFigureOut">
              <a:rPr lang="en-US" smtClean="0"/>
              <a:t>5/30/26</a:t>
            </a:fld>
            <a:endParaRPr lang="en-US"/>
          </a:p>
        </p:txBody>
      </p:sp>
      <p:sp>
        <p:nvSpPr>
          <p:cNvPr id="4" name="Footer Placeholder 3">
            <a:extLst>
              <a:ext uri="{FF2B5EF4-FFF2-40B4-BE49-F238E27FC236}">
                <a16:creationId xmlns:a16="http://schemas.microsoft.com/office/drawing/2014/main" id="{38D47EAC-1DBA-48DE-BE04-01BA9867E0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4C5C75-540B-72F7-4AA8-C2FE6393C49C}"/>
              </a:ext>
            </a:extLst>
          </p:cNvPr>
          <p:cNvSpPr>
            <a:spLocks noGrp="1"/>
          </p:cNvSpPr>
          <p:nvPr>
            <p:ph type="sldNum" sz="quarter" idx="12"/>
          </p:nvPr>
        </p:nvSpPr>
        <p:spPr/>
        <p:txBody>
          <a:bodyPr/>
          <a:lstStyle/>
          <a:p>
            <a:fld id="{15C897E3-44C7-074E-9551-0B081A5C6220}" type="slidenum">
              <a:rPr lang="en-US" smtClean="0"/>
              <a:t>‹#›</a:t>
            </a:fld>
            <a:endParaRPr lang="en-US"/>
          </a:p>
        </p:txBody>
      </p:sp>
    </p:spTree>
    <p:extLst>
      <p:ext uri="{BB962C8B-B14F-4D97-AF65-F5344CB8AC3E}">
        <p14:creationId xmlns:p14="http://schemas.microsoft.com/office/powerpoint/2010/main" val="482283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0C549C-5E1B-7F80-7219-78D371A49E04}"/>
              </a:ext>
            </a:extLst>
          </p:cNvPr>
          <p:cNvSpPr>
            <a:spLocks noGrp="1"/>
          </p:cNvSpPr>
          <p:nvPr>
            <p:ph type="dt" sz="half" idx="10"/>
          </p:nvPr>
        </p:nvSpPr>
        <p:spPr/>
        <p:txBody>
          <a:bodyPr/>
          <a:lstStyle/>
          <a:p>
            <a:fld id="{4F12721C-8FA1-9F48-B6E2-13CC87B436C7}" type="datetimeFigureOut">
              <a:rPr lang="en-US" smtClean="0"/>
              <a:t>5/30/26</a:t>
            </a:fld>
            <a:endParaRPr lang="en-US"/>
          </a:p>
        </p:txBody>
      </p:sp>
      <p:sp>
        <p:nvSpPr>
          <p:cNvPr id="3" name="Footer Placeholder 2">
            <a:extLst>
              <a:ext uri="{FF2B5EF4-FFF2-40B4-BE49-F238E27FC236}">
                <a16:creationId xmlns:a16="http://schemas.microsoft.com/office/drawing/2014/main" id="{9CB385B1-0BF8-2E33-0A9B-8F5528AFFF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9D9C55-04D0-B338-137B-7824DE1A3001}"/>
              </a:ext>
            </a:extLst>
          </p:cNvPr>
          <p:cNvSpPr>
            <a:spLocks noGrp="1"/>
          </p:cNvSpPr>
          <p:nvPr>
            <p:ph type="sldNum" sz="quarter" idx="12"/>
          </p:nvPr>
        </p:nvSpPr>
        <p:spPr/>
        <p:txBody>
          <a:bodyPr/>
          <a:lstStyle/>
          <a:p>
            <a:fld id="{15C897E3-44C7-074E-9551-0B081A5C6220}" type="slidenum">
              <a:rPr lang="en-US" smtClean="0"/>
              <a:t>‹#›</a:t>
            </a:fld>
            <a:endParaRPr lang="en-US"/>
          </a:p>
        </p:txBody>
      </p:sp>
    </p:spTree>
    <p:extLst>
      <p:ext uri="{BB962C8B-B14F-4D97-AF65-F5344CB8AC3E}">
        <p14:creationId xmlns:p14="http://schemas.microsoft.com/office/powerpoint/2010/main" val="202852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55B6C-2E16-779D-BA8F-4A3229FB0C7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7305696-96E3-AA88-344C-83EECDD418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03D07CA-1C0C-CEA2-0B0B-B983D82EE1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449E90F-4096-29D9-2DA5-F1676F4168D6}"/>
              </a:ext>
            </a:extLst>
          </p:cNvPr>
          <p:cNvSpPr>
            <a:spLocks noGrp="1"/>
          </p:cNvSpPr>
          <p:nvPr>
            <p:ph type="dt" sz="half" idx="10"/>
          </p:nvPr>
        </p:nvSpPr>
        <p:spPr/>
        <p:txBody>
          <a:bodyPr/>
          <a:lstStyle/>
          <a:p>
            <a:fld id="{4F12721C-8FA1-9F48-B6E2-13CC87B436C7}" type="datetimeFigureOut">
              <a:rPr lang="en-US" smtClean="0"/>
              <a:t>5/30/26</a:t>
            </a:fld>
            <a:endParaRPr lang="en-US"/>
          </a:p>
        </p:txBody>
      </p:sp>
      <p:sp>
        <p:nvSpPr>
          <p:cNvPr id="6" name="Footer Placeholder 5">
            <a:extLst>
              <a:ext uri="{FF2B5EF4-FFF2-40B4-BE49-F238E27FC236}">
                <a16:creationId xmlns:a16="http://schemas.microsoft.com/office/drawing/2014/main" id="{B12BDC29-B7C6-376F-4040-F77866BDBF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9A316C-946F-E839-71A0-B3151FD385D9}"/>
              </a:ext>
            </a:extLst>
          </p:cNvPr>
          <p:cNvSpPr>
            <a:spLocks noGrp="1"/>
          </p:cNvSpPr>
          <p:nvPr>
            <p:ph type="sldNum" sz="quarter" idx="12"/>
          </p:nvPr>
        </p:nvSpPr>
        <p:spPr/>
        <p:txBody>
          <a:bodyPr/>
          <a:lstStyle/>
          <a:p>
            <a:fld id="{15C897E3-44C7-074E-9551-0B081A5C6220}" type="slidenum">
              <a:rPr lang="en-US" smtClean="0"/>
              <a:t>‹#›</a:t>
            </a:fld>
            <a:endParaRPr lang="en-US"/>
          </a:p>
        </p:txBody>
      </p:sp>
    </p:spTree>
    <p:extLst>
      <p:ext uri="{BB962C8B-B14F-4D97-AF65-F5344CB8AC3E}">
        <p14:creationId xmlns:p14="http://schemas.microsoft.com/office/powerpoint/2010/main" val="2144540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147DB-4DC4-6D9D-97E6-45C64B429C2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FFDC754-78C2-8829-FCD9-FDFAD60A91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FF6116-87B5-5CBE-11FD-AAD457EC3D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B5ACFEE-BABB-0B69-7C6A-E5ADCED4BB46}"/>
              </a:ext>
            </a:extLst>
          </p:cNvPr>
          <p:cNvSpPr>
            <a:spLocks noGrp="1"/>
          </p:cNvSpPr>
          <p:nvPr>
            <p:ph type="dt" sz="half" idx="10"/>
          </p:nvPr>
        </p:nvSpPr>
        <p:spPr/>
        <p:txBody>
          <a:bodyPr/>
          <a:lstStyle/>
          <a:p>
            <a:fld id="{4F12721C-8FA1-9F48-B6E2-13CC87B436C7}" type="datetimeFigureOut">
              <a:rPr lang="en-US" smtClean="0"/>
              <a:t>5/30/26</a:t>
            </a:fld>
            <a:endParaRPr lang="en-US"/>
          </a:p>
        </p:txBody>
      </p:sp>
      <p:sp>
        <p:nvSpPr>
          <p:cNvPr id="6" name="Footer Placeholder 5">
            <a:extLst>
              <a:ext uri="{FF2B5EF4-FFF2-40B4-BE49-F238E27FC236}">
                <a16:creationId xmlns:a16="http://schemas.microsoft.com/office/drawing/2014/main" id="{49189B99-A1C5-99F5-F7C0-4A17D9921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C721A-09F1-CC28-AC84-EEF68C615D80}"/>
              </a:ext>
            </a:extLst>
          </p:cNvPr>
          <p:cNvSpPr>
            <a:spLocks noGrp="1"/>
          </p:cNvSpPr>
          <p:nvPr>
            <p:ph type="sldNum" sz="quarter" idx="12"/>
          </p:nvPr>
        </p:nvSpPr>
        <p:spPr/>
        <p:txBody>
          <a:bodyPr/>
          <a:lstStyle/>
          <a:p>
            <a:fld id="{15C897E3-44C7-074E-9551-0B081A5C6220}" type="slidenum">
              <a:rPr lang="en-US" smtClean="0"/>
              <a:t>‹#›</a:t>
            </a:fld>
            <a:endParaRPr lang="en-US"/>
          </a:p>
        </p:txBody>
      </p:sp>
    </p:spTree>
    <p:extLst>
      <p:ext uri="{BB962C8B-B14F-4D97-AF65-F5344CB8AC3E}">
        <p14:creationId xmlns:p14="http://schemas.microsoft.com/office/powerpoint/2010/main" val="744348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03F6B-4C8A-AC8E-72D8-5C9D3545AFC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259B86D-14D3-19CC-8B1B-2770B5CB532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9434961-15B2-40D0-7B78-E44FA402BB9E}"/>
              </a:ext>
            </a:extLst>
          </p:cNvPr>
          <p:cNvSpPr>
            <a:spLocks noGrp="1"/>
          </p:cNvSpPr>
          <p:nvPr>
            <p:ph type="dt" sz="half" idx="10"/>
          </p:nvPr>
        </p:nvSpPr>
        <p:spPr/>
        <p:txBody>
          <a:bodyPr/>
          <a:lstStyle/>
          <a:p>
            <a:fld id="{4F12721C-8FA1-9F48-B6E2-13CC87B436C7}" type="datetimeFigureOut">
              <a:rPr lang="en-US" smtClean="0"/>
              <a:t>5/30/26</a:t>
            </a:fld>
            <a:endParaRPr lang="en-US"/>
          </a:p>
        </p:txBody>
      </p:sp>
      <p:sp>
        <p:nvSpPr>
          <p:cNvPr id="5" name="Footer Placeholder 4">
            <a:extLst>
              <a:ext uri="{FF2B5EF4-FFF2-40B4-BE49-F238E27FC236}">
                <a16:creationId xmlns:a16="http://schemas.microsoft.com/office/drawing/2014/main" id="{D1AF1D9A-68BD-0F87-B031-D458277BE5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3A8540-2420-518D-736A-4C60BCC622D8}"/>
              </a:ext>
            </a:extLst>
          </p:cNvPr>
          <p:cNvSpPr>
            <a:spLocks noGrp="1"/>
          </p:cNvSpPr>
          <p:nvPr>
            <p:ph type="sldNum" sz="quarter" idx="12"/>
          </p:nvPr>
        </p:nvSpPr>
        <p:spPr/>
        <p:txBody>
          <a:bodyPr/>
          <a:lstStyle/>
          <a:p>
            <a:fld id="{15C897E3-44C7-074E-9551-0B081A5C6220}" type="slidenum">
              <a:rPr lang="en-US" smtClean="0"/>
              <a:t>‹#›</a:t>
            </a:fld>
            <a:endParaRPr lang="en-US"/>
          </a:p>
        </p:txBody>
      </p:sp>
    </p:spTree>
    <p:extLst>
      <p:ext uri="{BB962C8B-B14F-4D97-AF65-F5344CB8AC3E}">
        <p14:creationId xmlns:p14="http://schemas.microsoft.com/office/powerpoint/2010/main" val="4191907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633503-A622-0A0F-33B3-CA7E858A783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D51D932-2C35-337F-0736-8386849498E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00B05C4-B47B-8437-E9E6-A1DE9251FD17}"/>
              </a:ext>
            </a:extLst>
          </p:cNvPr>
          <p:cNvSpPr>
            <a:spLocks noGrp="1"/>
          </p:cNvSpPr>
          <p:nvPr>
            <p:ph type="dt" sz="half" idx="10"/>
          </p:nvPr>
        </p:nvSpPr>
        <p:spPr/>
        <p:txBody>
          <a:bodyPr/>
          <a:lstStyle/>
          <a:p>
            <a:fld id="{4F12721C-8FA1-9F48-B6E2-13CC87B436C7}" type="datetimeFigureOut">
              <a:rPr lang="en-US" smtClean="0"/>
              <a:t>5/30/26</a:t>
            </a:fld>
            <a:endParaRPr lang="en-US"/>
          </a:p>
        </p:txBody>
      </p:sp>
      <p:sp>
        <p:nvSpPr>
          <p:cNvPr id="5" name="Footer Placeholder 4">
            <a:extLst>
              <a:ext uri="{FF2B5EF4-FFF2-40B4-BE49-F238E27FC236}">
                <a16:creationId xmlns:a16="http://schemas.microsoft.com/office/drawing/2014/main" id="{CF02FEF0-8CC8-D948-42C6-5E5341DE25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4DF11A-B101-440D-E7DB-AAFEBB6C374C}"/>
              </a:ext>
            </a:extLst>
          </p:cNvPr>
          <p:cNvSpPr>
            <a:spLocks noGrp="1"/>
          </p:cNvSpPr>
          <p:nvPr>
            <p:ph type="sldNum" sz="quarter" idx="12"/>
          </p:nvPr>
        </p:nvSpPr>
        <p:spPr/>
        <p:txBody>
          <a:bodyPr/>
          <a:lstStyle/>
          <a:p>
            <a:fld id="{15C897E3-44C7-074E-9551-0B081A5C6220}" type="slidenum">
              <a:rPr lang="en-US" smtClean="0"/>
              <a:t>‹#›</a:t>
            </a:fld>
            <a:endParaRPr lang="en-US"/>
          </a:p>
        </p:txBody>
      </p:sp>
    </p:spTree>
    <p:extLst>
      <p:ext uri="{BB962C8B-B14F-4D97-AF65-F5344CB8AC3E}">
        <p14:creationId xmlns:p14="http://schemas.microsoft.com/office/powerpoint/2010/main" val="2220277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0FDC2C-9CB4-ED07-787E-2F68B55B82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1C23661-8609-918D-80FC-D86DDBA34D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B4C6866-4913-AB91-7DEE-E8B7668FCB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12721C-8FA1-9F48-B6E2-13CC87B436C7}" type="datetimeFigureOut">
              <a:rPr lang="en-US" smtClean="0"/>
              <a:t>5/30/26</a:t>
            </a:fld>
            <a:endParaRPr lang="en-US"/>
          </a:p>
        </p:txBody>
      </p:sp>
      <p:sp>
        <p:nvSpPr>
          <p:cNvPr id="5" name="Footer Placeholder 4">
            <a:extLst>
              <a:ext uri="{FF2B5EF4-FFF2-40B4-BE49-F238E27FC236}">
                <a16:creationId xmlns:a16="http://schemas.microsoft.com/office/drawing/2014/main" id="{3E55B65E-22CD-3D9C-6F43-25532B36C8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CD3703-C699-1739-F205-81A4BF0791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C897E3-44C7-074E-9551-0B081A5C6220}" type="slidenum">
              <a:rPr lang="en-US" smtClean="0"/>
              <a:t>‹#›</a:t>
            </a:fld>
            <a:endParaRPr lang="en-US"/>
          </a:p>
        </p:txBody>
      </p:sp>
      <p:sp>
        <p:nvSpPr>
          <p:cNvPr id="900" name="AccentBar"/>
          <p:cNvSpPr/>
          <p:nvPr/>
        </p:nvSpPr>
        <p:spPr>
          <a:xfrm>
            <a:off x="457200" y="6172200"/>
            <a:ext cx="1097280" cy="54864"/>
          </a:xfrm>
          <a:prstGeom prst="rect">
            <a:avLst/>
          </a:prstGeom>
          <a:solidFill>
            <a:srgbClr val="12B5A5"/>
          </a:solidFill>
          <a:ln>
            <a:noFill/>
          </a:ln>
        </p:spPr>
        <p:txBody>
          <a:bodyPr/>
          <a:lstStyle/>
          <a:p>
            <a:endParaRPr/>
          </a:p>
        </p:txBody>
      </p:sp>
      <p:sp>
        <p:nvSpPr>
          <p:cNvPr id="901" name="CornerAccent"/>
          <p:cNvSpPr/>
          <p:nvPr/>
        </p:nvSpPr>
        <p:spPr>
          <a:xfrm flipH="1">
            <a:off x="8686800" y="0"/>
            <a:ext cx="457200" cy="457200"/>
          </a:xfrm>
          <a:prstGeom prst="rtTriangle">
            <a:avLst/>
          </a:prstGeom>
          <a:solidFill>
            <a:srgbClr val="F2F6F7"/>
          </a:solidFill>
          <a:ln>
            <a:noFill/>
          </a:ln>
        </p:spPr>
        <p:txBody>
          <a:bodyPr/>
          <a:lstStyle/>
          <a:p>
            <a:endParaRPr/>
          </a:p>
        </p:txBody>
      </p:sp>
    </p:spTree>
    <p:extLst>
      <p:ext uri="{BB962C8B-B14F-4D97-AF65-F5344CB8AC3E}">
        <p14:creationId xmlns:p14="http://schemas.microsoft.com/office/powerpoint/2010/main" val="33069563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0E2A3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33474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G">
            <a:extLst>
              <a:ext uri="{FF2B5EF4-FFF2-40B4-BE49-F238E27FC236}">
                <a16:creationId xmlns:a16="http://schemas.microsoft.com/office/drawing/2014/main" id="{8ACDC927-FA68-F042-BD3C-44DF621315AF}"/>
              </a:ext>
            </a:extLst>
          </p:cNvPr>
          <p:cNvSpPr/>
          <p:nvPr/>
        </p:nvSpPr>
        <p:spPr>
          <a:xfrm>
            <a:off x="0" y="0"/>
            <a:ext cx="12192000" cy="6858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flectionOrb">
            <a:extLst>
              <a:ext uri="{FF2B5EF4-FFF2-40B4-BE49-F238E27FC236}">
                <a16:creationId xmlns:a16="http://schemas.microsoft.com/office/drawing/2014/main" id="{331B4B19-54E1-DD4E-9F09-967AC2D9E6AE}"/>
              </a:ext>
            </a:extLst>
          </p:cNvPr>
          <p:cNvSpPr/>
          <p:nvPr/>
        </p:nvSpPr>
        <p:spPr>
          <a:xfrm>
            <a:off x="7429500" y="1524000"/>
            <a:ext cx="3810000" cy="3810000"/>
          </a:xfrm>
          <a:prstGeom prst="ellipse">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flectionOrbInner">
            <a:extLst>
              <a:ext uri="{FF2B5EF4-FFF2-40B4-BE49-F238E27FC236}">
                <a16:creationId xmlns:a16="http://schemas.microsoft.com/office/drawing/2014/main" id="{8217E840-E61F-A543-A0ED-C85CEA863A39}"/>
              </a:ext>
            </a:extLst>
          </p:cNvPr>
          <p:cNvSpPr/>
          <p:nvPr/>
        </p:nvSpPr>
        <p:spPr>
          <a:xfrm>
            <a:off x="8128000" y="2222500"/>
            <a:ext cx="2413000" cy="2413000"/>
          </a:xfrm>
          <a:prstGeom prst="ellipse">
            <a:avLst/>
          </a:prstGeom>
          <a:solidFill>
            <a:srgbClr val="12B5A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6968CA8B-472E-D64C-B763-C629CD5C21CE}"/>
              </a:ext>
            </a:extLst>
          </p:cNvPr>
          <p:cNvSpPr txBox="1"/>
          <p:nvPr/>
        </p:nvSpPr>
        <p:spPr>
          <a:xfrm>
            <a:off x="1041400" y="1905000"/>
            <a:ext cx="6096000" cy="381000"/>
          </a:xfrm>
          <a:prstGeom prst="rect">
            <a:avLst/>
          </a:prstGeom>
          <a:noFill/>
        </p:spPr>
        <p:txBody>
          <a:bodyPr vertOverflow="overflow" vert="horz" wrap="square" rtlCol="0" anchor="t">
            <a:spAutoFit/>
          </a:bodyPr>
          <a:lstStyle/>
          <a:p>
            <a:pPr algn="l"/>
            <a:r>
              <a:rPr lang="en-US" sz="1600" b="1">
                <a:solidFill>
                  <a:srgbClr val="0E8A8A"/>
                </a:solidFill>
                <a:latin typeface="Source Sans Pro"/>
                <a:ea typeface="Source Sans Pro"/>
              </a:rPr>
              <a:t>MEDICAL EDUCATION · LECTURE</a:t>
            </a:r>
          </a:p>
        </p:txBody>
      </p:sp>
      <p:sp>
        <p:nvSpPr>
          <p:cNvPr id="8" name="HeroWord">
            <a:extLst>
              <a:ext uri="{FF2B5EF4-FFF2-40B4-BE49-F238E27FC236}">
                <a16:creationId xmlns:a16="http://schemas.microsoft.com/office/drawing/2014/main" id="{BC9926F1-3186-3E42-BCDF-0549C1F695FD}"/>
              </a:ext>
            </a:extLst>
          </p:cNvPr>
          <p:cNvSpPr txBox="1"/>
          <p:nvPr/>
        </p:nvSpPr>
        <p:spPr>
          <a:xfrm>
            <a:off x="990600" y="2286000"/>
            <a:ext cx="6604000" cy="1524000"/>
          </a:xfrm>
          <a:prstGeom prst="rect">
            <a:avLst/>
          </a:prstGeom>
          <a:noFill/>
        </p:spPr>
        <p:txBody>
          <a:bodyPr vertOverflow="overflow" vert="horz" wrap="square" rtlCol="0" anchor="t">
            <a:spAutoFit/>
          </a:bodyPr>
          <a:lstStyle/>
          <a:p>
            <a:pPr algn="l"/>
            <a:r>
              <a:rPr lang="en-US" sz="8800" b="1">
                <a:solidFill>
                  <a:srgbClr val="0E2A3B"/>
                </a:solidFill>
                <a:latin typeface="Poppins"/>
                <a:cs typeface="Poppins"/>
              </a:rPr>
              <a:t>Reflection</a:t>
            </a:r>
          </a:p>
        </p:txBody>
      </p:sp>
      <p:sp>
        <p:nvSpPr>
          <p:cNvPr id="9" name="TextBox 8">
            <a:extLst>
              <a:ext uri="{FF2B5EF4-FFF2-40B4-BE49-F238E27FC236}">
                <a16:creationId xmlns:a16="http://schemas.microsoft.com/office/drawing/2014/main" id="{F929AC6D-B7D9-BC43-B624-EF53C2B91834}"/>
              </a:ext>
            </a:extLst>
          </p:cNvPr>
          <p:cNvSpPr txBox="1"/>
          <p:nvPr/>
        </p:nvSpPr>
        <p:spPr>
          <a:xfrm>
            <a:off x="1016000" y="3810000"/>
            <a:ext cx="6604000" cy="635000"/>
          </a:xfrm>
          <a:prstGeom prst="rect">
            <a:avLst/>
          </a:prstGeom>
          <a:noFill/>
        </p:spPr>
        <p:txBody>
          <a:bodyPr vertOverflow="overflow" vert="horz" wrap="square" rtlCol="0" anchor="t">
            <a:spAutoFit/>
          </a:bodyPr>
          <a:lstStyle/>
          <a:p>
            <a:pPr algn="l"/>
            <a:r>
              <a:rPr lang="en-US" sz="3200">
                <a:solidFill>
                  <a:srgbClr val="1F4E6B"/>
                </a:solidFill>
                <a:latin typeface="Poppins"/>
                <a:cs typeface="Poppins"/>
              </a:rPr>
              <a:t>in Medical Education</a:t>
            </a:r>
          </a:p>
        </p:txBody>
      </p:sp>
      <p:sp>
        <p:nvSpPr>
          <p:cNvPr id="10" name="TextBox 9">
            <a:extLst>
              <a:ext uri="{FF2B5EF4-FFF2-40B4-BE49-F238E27FC236}">
                <a16:creationId xmlns:a16="http://schemas.microsoft.com/office/drawing/2014/main" id="{37E218A4-6AF5-6A45-A0EC-1B47E539F34D}"/>
              </a:ext>
            </a:extLst>
          </p:cNvPr>
          <p:cNvSpPr txBox="1"/>
          <p:nvPr/>
        </p:nvSpPr>
        <p:spPr>
          <a:xfrm>
            <a:off x="1016000" y="4572000"/>
            <a:ext cx="6350000" cy="762000"/>
          </a:xfrm>
          <a:prstGeom prst="rect">
            <a:avLst/>
          </a:prstGeom>
          <a:noFill/>
        </p:spPr>
        <p:txBody>
          <a:bodyPr vertOverflow="overflow" vert="horz" wrap="square" rtlCol="0" anchor="t">
            <a:spAutoFit/>
          </a:bodyPr>
          <a:lstStyle/>
          <a:p>
            <a:pPr algn="l"/>
            <a:r>
              <a:rPr lang="en-US">
                <a:solidFill>
                  <a:srgbClr val="33474F"/>
                </a:solidFill>
                <a:latin typeface="Source Sans Pro"/>
                <a:ea typeface="Source Sans Pro"/>
              </a:rPr>
              <a:t>Turning everyday clinical experience into deeper learning</a:t>
            </a:r>
          </a:p>
        </p:txBody>
      </p:sp>
      <p:sp>
        <p:nvSpPr>
          <p:cNvPr id="11" name="Citation">
            <a:extLst>
              <a:ext uri="{FF2B5EF4-FFF2-40B4-BE49-F238E27FC236}">
                <a16:creationId xmlns:a16="http://schemas.microsoft.com/office/drawing/2014/main" id="{317062B2-3318-344D-BC6A-36FBAA005AFF}"/>
              </a:ext>
            </a:extLst>
          </p:cNvPr>
          <p:cNvSpPr txBox="1"/>
          <p:nvPr/>
        </p:nvSpPr>
        <p:spPr>
          <a:xfrm>
            <a:off x="1016000" y="6350000"/>
            <a:ext cx="10160000" cy="3556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Adapted from Sandars J. The use of reflection in medical education: AMEE Guide No. 44. Medical Teacher. 2009;31:685–695.</a:t>
            </a:r>
          </a:p>
        </p:txBody>
      </p:sp>
      <p:pic>
        <p:nvPicPr>
          <p:cNvPr id="12" name="Graphic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24900" y="2819400"/>
            <a:ext cx="1219200" cy="1219200"/>
          </a:xfrm>
          <a:prstGeom prst="rect">
            <a:avLst/>
          </a:prstGeom>
        </p:spPr>
      </p:pic>
      <p:sp>
        <p:nvSpPr>
          <p:cNvPr id="2" name="Presenter">
            <a:extLst>
              <a:ext uri="{FF2B5EF4-FFF2-40B4-BE49-F238E27FC236}">
                <a16:creationId xmlns:a16="http://schemas.microsoft.com/office/drawing/2014/main" id="{B672F70D-4579-7346-88A8-5310082876EF}"/>
              </a:ext>
            </a:extLst>
          </p:cNvPr>
          <p:cNvSpPr txBox="1"/>
          <p:nvPr/>
        </p:nvSpPr>
        <p:spPr>
          <a:xfrm>
            <a:off x="1016000" y="5461000"/>
            <a:ext cx="5842000" cy="330200"/>
          </a:xfrm>
          <a:prstGeom prst="rect">
            <a:avLst/>
          </a:prstGeom>
          <a:noFill/>
        </p:spPr>
        <p:txBody>
          <a:bodyPr vertOverflow="overflow" vert="horz" wrap="square" rtlCol="0" anchor="t">
            <a:spAutoFit/>
          </a:bodyPr>
          <a:lstStyle/>
          <a:p>
            <a:pPr algn="l"/>
            <a:r>
              <a:rPr lang="en-US" sz="1700" b="1">
                <a:solidFill>
                  <a:srgbClr val="0E2A3B"/>
                </a:solidFill>
                <a:latin typeface="Poppins"/>
                <a:cs typeface="Poppins"/>
              </a:rPr>
              <a:t>Riyan Sopiyan, MD., M.Med.Ed</a:t>
            </a:r>
          </a:p>
        </p:txBody>
      </p:sp>
      <p:sp>
        <p:nvSpPr>
          <p:cNvPr id="3" name="TextBox 2">
            <a:extLst>
              <a:ext uri="{FF2B5EF4-FFF2-40B4-BE49-F238E27FC236}">
                <a16:creationId xmlns:a16="http://schemas.microsoft.com/office/drawing/2014/main" id="{FE68A90A-19A0-0C47-BD2D-CC2FF2422A8C}"/>
              </a:ext>
            </a:extLst>
          </p:cNvPr>
          <p:cNvSpPr txBox="1"/>
          <p:nvPr/>
        </p:nvSpPr>
        <p:spPr>
          <a:xfrm>
            <a:off x="1016000" y="5791200"/>
            <a:ext cx="5842000" cy="279400"/>
          </a:xfrm>
          <a:prstGeom prst="rect">
            <a:avLst/>
          </a:prstGeom>
          <a:noFill/>
        </p:spPr>
        <p:txBody>
          <a:bodyPr vertOverflow="overflow" vert="horz" wrap="square" rtlCol="0" anchor="t">
            <a:spAutoFit/>
          </a:bodyPr>
          <a:lstStyle/>
          <a:p>
            <a:pPr algn="l"/>
            <a:r>
              <a:rPr lang="en-US" sz="1300">
                <a:solidFill>
                  <a:srgbClr val="0E8A8A"/>
                </a:solidFill>
                <a:latin typeface="Source Sans Pro"/>
                <a:ea typeface="Source Sans Pro"/>
              </a:rPr>
              <a:t>Lecturer · Medical Education</a:t>
            </a:r>
          </a:p>
        </p:txBody>
      </p:sp>
      <p:sp>
        <p:nvSpPr>
          <p:cNvPr id="13" name="AccentDot">
            <a:extLst>
              <a:ext uri="{FF2B5EF4-FFF2-40B4-BE49-F238E27FC236}">
                <a16:creationId xmlns:a16="http://schemas.microsoft.com/office/drawing/2014/main" id="{157B273C-51D5-4D48-B25A-2ED56FD0E702}"/>
              </a:ext>
            </a:extLst>
          </p:cNvPr>
          <p:cNvSpPr/>
          <p:nvPr/>
        </p:nvSpPr>
        <p:spPr>
          <a:xfrm>
            <a:off x="787400" y="2006600"/>
            <a:ext cx="152400" cy="1524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OrbitRing">
            <a:extLst>
              <a:ext uri="{FF2B5EF4-FFF2-40B4-BE49-F238E27FC236}">
                <a16:creationId xmlns:a16="http://schemas.microsoft.com/office/drawing/2014/main" id="{CB6B0F88-4747-124F-A61F-501F1A2C735A}"/>
              </a:ext>
            </a:extLst>
          </p:cNvPr>
          <p:cNvSpPr/>
          <p:nvPr/>
        </p:nvSpPr>
        <p:spPr>
          <a:xfrm>
            <a:off x="6921500" y="1016000"/>
            <a:ext cx="4826000" cy="4826000"/>
          </a:xfrm>
          <a:prstGeom prst="ellipse">
            <a:avLst/>
          </a:prstGeom>
          <a:noFill/>
          <a:ln w="19050" cap="flat" cmpd="sng" algn="ctr">
            <a:solidFill>
              <a:srgbClr val="5BC0B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AccentLine">
            <a:extLst>
              <a:ext uri="{FF2B5EF4-FFF2-40B4-BE49-F238E27FC236}">
                <a16:creationId xmlns:a16="http://schemas.microsoft.com/office/drawing/2014/main" id="{32466D02-959C-8A40-BEDA-5B3F0BAECC24}"/>
              </a:ext>
            </a:extLst>
          </p:cNvPr>
          <p:cNvSpPr/>
          <p:nvPr/>
        </p:nvSpPr>
        <p:spPr>
          <a:xfrm>
            <a:off x="1041400" y="36830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22" name="Picture 21">
            <a:extLst>
              <a:ext uri="{FF2B5EF4-FFF2-40B4-BE49-F238E27FC236}">
                <a16:creationId xmlns:a16="http://schemas.microsoft.com/office/drawing/2014/main" id="{C778D7C1-D139-EA6E-9CFC-A60058F43076}"/>
              </a:ext>
            </a:extLst>
          </p:cNvPr>
          <p:cNvPicPr/>
          <p:nvPr/>
        </p:nvPicPr>
        <p:blipFill>
          <a:blip r:embed="rId4"/>
          <a:stretch>
            <a:fillRect/>
          </a:stretch>
        </p:blipFill>
        <p:spPr>
          <a:xfrm>
            <a:off x="508000" y="355600"/>
            <a:ext cx="1213686" cy="1231265"/>
          </a:xfrm>
          <a:prstGeom prst="rect">
            <a:avLst/>
          </a:prstGeom>
        </p:spPr>
      </p:pic>
    </p:spTree>
    <p:extLst>
      <p:ext uri="{BB962C8B-B14F-4D97-AF65-F5344CB8AC3E}">
        <p14:creationId xmlns:p14="http://schemas.microsoft.com/office/powerpoint/2010/main" val="22684146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1B1A6CBB-C692-BB44-AC3C-476EA026DD72}"/>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4A77A831-058B-4047-860D-2C95B5DDD61B}"/>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WHY IT MATTERS</a:t>
            </a:r>
          </a:p>
        </p:txBody>
      </p:sp>
      <p:sp>
        <p:nvSpPr>
          <p:cNvPr id="4" name="SlideTitle">
            <a:extLst>
              <a:ext uri="{FF2B5EF4-FFF2-40B4-BE49-F238E27FC236}">
                <a16:creationId xmlns:a16="http://schemas.microsoft.com/office/drawing/2014/main" id="{E3C51274-418C-F848-A150-897EF530D033}"/>
              </a:ext>
            </a:extLst>
          </p:cNvPr>
          <p:cNvSpPr txBox="1"/>
          <p:nvPr/>
        </p:nvSpPr>
        <p:spPr>
          <a:xfrm>
            <a:off x="990600" y="1219200"/>
            <a:ext cx="8890000" cy="889000"/>
          </a:xfrm>
          <a:prstGeom prst="rect">
            <a:avLst/>
          </a:prstGeom>
          <a:noFill/>
        </p:spPr>
        <p:txBody>
          <a:bodyPr vertOverflow="overflow" vert="horz" wrap="square" rtlCol="0" anchor="t">
            <a:spAutoFit/>
          </a:bodyPr>
          <a:lstStyle/>
          <a:p>
            <a:pPr algn="l"/>
            <a:r>
              <a:rPr lang="en-US" sz="4400" b="1">
                <a:solidFill>
                  <a:srgbClr val="0E2A3B"/>
                </a:solidFill>
                <a:latin typeface="Poppins"/>
                <a:cs typeface="Poppins"/>
              </a:rPr>
              <a:t>From experience to wisdom</a:t>
            </a:r>
          </a:p>
        </p:txBody>
      </p:sp>
      <p:sp>
        <p:nvSpPr>
          <p:cNvPr id="5" name="Rectangle 4">
            <a:extLst>
              <a:ext uri="{FF2B5EF4-FFF2-40B4-BE49-F238E27FC236}">
                <a16:creationId xmlns:a16="http://schemas.microsoft.com/office/drawing/2014/main" id="{CFF3D076-1DF7-B547-896F-4AAC96345B51}"/>
              </a:ext>
            </a:extLst>
          </p:cNvPr>
          <p:cNvSpPr/>
          <p:nvPr/>
        </p:nvSpPr>
        <p:spPr>
          <a:xfrm>
            <a:off x="1041400" y="21844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4FEA206C-45E0-BE4A-BA1D-1547FB4FCC58}"/>
              </a:ext>
            </a:extLst>
          </p:cNvPr>
          <p:cNvSpPr txBox="1"/>
          <p:nvPr/>
        </p:nvSpPr>
        <p:spPr>
          <a:xfrm>
            <a:off x="1016000" y="2489200"/>
            <a:ext cx="10160000" cy="677108"/>
          </a:xfrm>
          <a:prstGeom prst="rect">
            <a:avLst/>
          </a:prstGeom>
          <a:noFill/>
        </p:spPr>
        <p:txBody>
          <a:bodyPr vertOverflow="overflow" vert="horz" wrap="square" rtlCol="0" anchor="t">
            <a:spAutoFit/>
          </a:bodyPr>
          <a:lstStyle/>
          <a:p>
            <a:r>
              <a:rPr lang="en-US" sz="1800" dirty="0">
                <a:solidFill>
                  <a:srgbClr val="33474F"/>
                </a:solidFill>
              </a:rPr>
              <a:t>Experience alone does not guarantee learning. </a:t>
            </a:r>
            <a:r>
              <a:rPr lang="en-US" sz="1900" b="1" dirty="0">
                <a:solidFill>
                  <a:srgbClr val="0E8A8A"/>
                </a:solidFill>
              </a:rPr>
              <a:t>Reflection is the bridge</a:t>
            </a:r>
            <a:r>
              <a:rPr lang="en-US" sz="1800" dirty="0">
                <a:solidFill>
                  <a:srgbClr val="33474F"/>
                </a:solidFill>
              </a:rPr>
              <a:t> that turns what we do into what we understand, and it is essential for </a:t>
            </a:r>
            <a:r>
              <a:rPr lang="en-US" sz="1900" b="1" dirty="0">
                <a:solidFill>
                  <a:srgbClr val="E08A3C"/>
                </a:solidFill>
              </a:rPr>
              <a:t>self-regulated, lifelong learning</a:t>
            </a:r>
            <a:r>
              <a:rPr lang="en-US" sz="1800" dirty="0">
                <a:solidFill>
                  <a:srgbClr val="33474F"/>
                </a:solidFill>
              </a:rPr>
              <a:t>.</a:t>
            </a:r>
          </a:p>
        </p:txBody>
      </p:sp>
      <p:sp>
        <p:nvSpPr>
          <p:cNvPr id="7" name="Rounded Rectangle 6">
            <a:extLst>
              <a:ext uri="{FF2B5EF4-FFF2-40B4-BE49-F238E27FC236}">
                <a16:creationId xmlns:a16="http://schemas.microsoft.com/office/drawing/2014/main" id="{D5D32D51-32C6-444E-9F22-28B658024E80}"/>
              </a:ext>
            </a:extLst>
          </p:cNvPr>
          <p:cNvSpPr/>
          <p:nvPr/>
        </p:nvSpPr>
        <p:spPr>
          <a:xfrm>
            <a:off x="1016000" y="3683000"/>
            <a:ext cx="3175000" cy="21590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ounded Rectangle 7">
            <a:extLst>
              <a:ext uri="{FF2B5EF4-FFF2-40B4-BE49-F238E27FC236}">
                <a16:creationId xmlns:a16="http://schemas.microsoft.com/office/drawing/2014/main" id="{7F1A6C46-9466-FE43-A736-9BB03A70B097}"/>
              </a:ext>
            </a:extLst>
          </p:cNvPr>
          <p:cNvSpPr/>
          <p:nvPr/>
        </p:nvSpPr>
        <p:spPr>
          <a:xfrm>
            <a:off x="1016000" y="3683000"/>
            <a:ext cx="3175000" cy="127000"/>
          </a:xfrm>
          <a:prstGeom prst="roundRect">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DAE314D5-82DC-3D4F-B0E7-9683BB12279E}"/>
              </a:ext>
            </a:extLst>
          </p:cNvPr>
          <p:cNvSpPr txBox="1"/>
          <p:nvPr/>
        </p:nvSpPr>
        <p:spPr>
          <a:xfrm>
            <a:off x="1270000" y="4038600"/>
            <a:ext cx="2667000" cy="457200"/>
          </a:xfrm>
          <a:prstGeom prst="rect">
            <a:avLst/>
          </a:prstGeom>
          <a:noFill/>
        </p:spPr>
        <p:txBody>
          <a:bodyPr vertOverflow="overflow" vert="horz" wrap="square" rtlCol="0" anchor="t">
            <a:spAutoFit/>
          </a:bodyPr>
          <a:lstStyle/>
          <a:p>
            <a:pPr algn="l"/>
            <a:r>
              <a:rPr lang="en-US" sz="2400" b="1">
                <a:solidFill>
                  <a:srgbClr val="0E8A8A"/>
                </a:solidFill>
                <a:latin typeface="Poppins"/>
                <a:cs typeface="Poppins"/>
              </a:rPr>
              <a:t>Understand</a:t>
            </a:r>
          </a:p>
        </p:txBody>
      </p:sp>
      <p:sp>
        <p:nvSpPr>
          <p:cNvPr id="10" name="TextBox 9">
            <a:extLst>
              <a:ext uri="{FF2B5EF4-FFF2-40B4-BE49-F238E27FC236}">
                <a16:creationId xmlns:a16="http://schemas.microsoft.com/office/drawing/2014/main" id="{CC32066E-CE75-7C4F-94A2-DD9619B09BFF}"/>
              </a:ext>
            </a:extLst>
          </p:cNvPr>
          <p:cNvSpPr txBox="1"/>
          <p:nvPr/>
        </p:nvSpPr>
        <p:spPr>
          <a:xfrm>
            <a:off x="1270000" y="4572000"/>
            <a:ext cx="2667000" cy="1143000"/>
          </a:xfrm>
          <a:prstGeom prst="rect">
            <a:avLst/>
          </a:prstGeom>
          <a:noFill/>
        </p:spPr>
        <p:txBody>
          <a:bodyPr vertOverflow="overflow" vert="horz" wrap="square" rtlCol="0" anchor="t">
            <a:spAutoFit/>
          </a:bodyPr>
          <a:lstStyle/>
          <a:p>
            <a:pPr algn="l"/>
            <a:r>
              <a:rPr lang="en-US" sz="1500">
                <a:solidFill>
                  <a:srgbClr val="33474F"/>
                </a:solidFill>
                <a:latin typeface="Source Sans Pro"/>
                <a:ea typeface="Source Sans Pro"/>
              </a:rPr>
              <a:t>Grasp the theory of reflection and the key models behind it.</a:t>
            </a:r>
          </a:p>
        </p:txBody>
      </p:sp>
      <p:sp>
        <p:nvSpPr>
          <p:cNvPr id="11" name="Rounded Rectangle 10">
            <a:extLst>
              <a:ext uri="{FF2B5EF4-FFF2-40B4-BE49-F238E27FC236}">
                <a16:creationId xmlns:a16="http://schemas.microsoft.com/office/drawing/2014/main" id="{14042523-1C6F-BE46-9335-10FDE0B0E1C9}"/>
              </a:ext>
            </a:extLst>
          </p:cNvPr>
          <p:cNvSpPr/>
          <p:nvPr/>
        </p:nvSpPr>
        <p:spPr>
          <a:xfrm>
            <a:off x="4445000" y="3683000"/>
            <a:ext cx="3175000" cy="21590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C9D7E62E-1092-7947-8456-B475AEF6890B}"/>
              </a:ext>
            </a:extLst>
          </p:cNvPr>
          <p:cNvSpPr/>
          <p:nvPr/>
        </p:nvSpPr>
        <p:spPr>
          <a:xfrm>
            <a:off x="4445000" y="3683000"/>
            <a:ext cx="3175000" cy="127000"/>
          </a:xfrm>
          <a:prstGeom prst="roundRect">
            <a:avLst/>
          </a:prstGeom>
          <a:solidFill>
            <a:srgbClr val="1F4E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7BDB97DD-176C-4C45-9910-B8108322DE23}"/>
              </a:ext>
            </a:extLst>
          </p:cNvPr>
          <p:cNvSpPr txBox="1"/>
          <p:nvPr/>
        </p:nvSpPr>
        <p:spPr>
          <a:xfrm>
            <a:off x="4699000" y="4038600"/>
            <a:ext cx="2667000" cy="457200"/>
          </a:xfrm>
          <a:prstGeom prst="rect">
            <a:avLst/>
          </a:prstGeom>
          <a:noFill/>
        </p:spPr>
        <p:txBody>
          <a:bodyPr vertOverflow="overflow" vert="horz" wrap="square" rtlCol="0" anchor="t">
            <a:spAutoFit/>
          </a:bodyPr>
          <a:lstStyle/>
          <a:p>
            <a:pPr algn="l"/>
            <a:r>
              <a:rPr lang="en-US" sz="2400" b="1">
                <a:solidFill>
                  <a:srgbClr val="1F4E6B"/>
                </a:solidFill>
                <a:latin typeface="Poppins"/>
                <a:cs typeface="Poppins"/>
              </a:rPr>
              <a:t>Apply</a:t>
            </a:r>
          </a:p>
        </p:txBody>
      </p:sp>
      <p:sp>
        <p:nvSpPr>
          <p:cNvPr id="14" name="TextBox 13">
            <a:extLst>
              <a:ext uri="{FF2B5EF4-FFF2-40B4-BE49-F238E27FC236}">
                <a16:creationId xmlns:a16="http://schemas.microsoft.com/office/drawing/2014/main" id="{B5D185A7-8696-D743-9956-2B2944399E65}"/>
              </a:ext>
            </a:extLst>
          </p:cNvPr>
          <p:cNvSpPr txBox="1"/>
          <p:nvPr/>
        </p:nvSpPr>
        <p:spPr>
          <a:xfrm>
            <a:off x="4699000" y="4572000"/>
            <a:ext cx="2667000" cy="1143000"/>
          </a:xfrm>
          <a:prstGeom prst="rect">
            <a:avLst/>
          </a:prstGeom>
          <a:noFill/>
        </p:spPr>
        <p:txBody>
          <a:bodyPr vertOverflow="overflow" vert="horz" wrap="square" rtlCol="0" anchor="t">
            <a:spAutoFit/>
          </a:bodyPr>
          <a:lstStyle/>
          <a:p>
            <a:pPr algn="l"/>
            <a:r>
              <a:rPr lang="en-US" sz="1500">
                <a:solidFill>
                  <a:srgbClr val="33474F"/>
                </a:solidFill>
                <a:latin typeface="Source Sans Pro"/>
                <a:ea typeface="Source Sans Pro"/>
              </a:rPr>
              <a:t>Use practical techniques to reflect on daily clinical experience.</a:t>
            </a:r>
          </a:p>
        </p:txBody>
      </p:sp>
      <p:sp>
        <p:nvSpPr>
          <p:cNvPr id="15" name="Rounded Rectangle 14">
            <a:extLst>
              <a:ext uri="{FF2B5EF4-FFF2-40B4-BE49-F238E27FC236}">
                <a16:creationId xmlns:a16="http://schemas.microsoft.com/office/drawing/2014/main" id="{7BBECB7A-B2EC-C240-A2A9-DD30A0043FC1}"/>
              </a:ext>
            </a:extLst>
          </p:cNvPr>
          <p:cNvSpPr/>
          <p:nvPr/>
        </p:nvSpPr>
        <p:spPr>
          <a:xfrm>
            <a:off x="7874000" y="3683000"/>
            <a:ext cx="3175000" cy="21590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ounded Rectangle 15">
            <a:extLst>
              <a:ext uri="{FF2B5EF4-FFF2-40B4-BE49-F238E27FC236}">
                <a16:creationId xmlns:a16="http://schemas.microsoft.com/office/drawing/2014/main" id="{5D5BC01C-B445-B747-AADB-6310F8519399}"/>
              </a:ext>
            </a:extLst>
          </p:cNvPr>
          <p:cNvSpPr/>
          <p:nvPr/>
        </p:nvSpPr>
        <p:spPr>
          <a:xfrm>
            <a:off x="7874000" y="3683000"/>
            <a:ext cx="3175000" cy="127000"/>
          </a:xfrm>
          <a:prstGeom prst="round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546573EB-F1A9-454C-AF5D-794505AFB54F}"/>
              </a:ext>
            </a:extLst>
          </p:cNvPr>
          <p:cNvSpPr txBox="1"/>
          <p:nvPr/>
        </p:nvSpPr>
        <p:spPr>
          <a:xfrm>
            <a:off x="8128000" y="4038600"/>
            <a:ext cx="2667000" cy="457200"/>
          </a:xfrm>
          <a:prstGeom prst="rect">
            <a:avLst/>
          </a:prstGeom>
          <a:noFill/>
        </p:spPr>
        <p:txBody>
          <a:bodyPr vertOverflow="overflow" vert="horz" wrap="square" rtlCol="0" anchor="t">
            <a:spAutoFit/>
          </a:bodyPr>
          <a:lstStyle/>
          <a:p>
            <a:pPr algn="l"/>
            <a:r>
              <a:rPr lang="en-US" sz="2400" b="1">
                <a:solidFill>
                  <a:srgbClr val="E08A3C"/>
                </a:solidFill>
                <a:latin typeface="Poppins"/>
                <a:cs typeface="Poppins"/>
              </a:rPr>
              <a:t>Grow</a:t>
            </a:r>
          </a:p>
        </p:txBody>
      </p:sp>
      <p:sp>
        <p:nvSpPr>
          <p:cNvPr id="18" name="TextBox 17">
            <a:extLst>
              <a:ext uri="{FF2B5EF4-FFF2-40B4-BE49-F238E27FC236}">
                <a16:creationId xmlns:a16="http://schemas.microsoft.com/office/drawing/2014/main" id="{75770087-9251-FE49-96B3-FBAC54224A58}"/>
              </a:ext>
            </a:extLst>
          </p:cNvPr>
          <p:cNvSpPr txBox="1"/>
          <p:nvPr/>
        </p:nvSpPr>
        <p:spPr>
          <a:xfrm>
            <a:off x="8128000" y="4572000"/>
            <a:ext cx="2667000" cy="1143000"/>
          </a:xfrm>
          <a:prstGeom prst="rect">
            <a:avLst/>
          </a:prstGeom>
          <a:noFill/>
        </p:spPr>
        <p:txBody>
          <a:bodyPr vertOverflow="overflow" vert="horz" wrap="square" rtlCol="0" anchor="t">
            <a:spAutoFit/>
          </a:bodyPr>
          <a:lstStyle/>
          <a:p>
            <a:pPr algn="l"/>
            <a:r>
              <a:rPr lang="en-US" sz="1500">
                <a:solidFill>
                  <a:srgbClr val="33474F"/>
                </a:solidFill>
                <a:latin typeface="Source Sans Pro"/>
                <a:ea typeface="Source Sans Pro"/>
              </a:rPr>
              <a:t>Build a habit that supports lifelong learning and professionalism.</a:t>
            </a:r>
          </a:p>
        </p:txBody>
      </p:sp>
      <p:sp>
        <p:nvSpPr>
          <p:cNvPr id="19" name="Citation">
            <a:extLst>
              <a:ext uri="{FF2B5EF4-FFF2-40B4-BE49-F238E27FC236}">
                <a16:creationId xmlns:a16="http://schemas.microsoft.com/office/drawing/2014/main" id="{8202E61A-5C12-7E40-860C-EAE59ECD20CA}"/>
              </a:ext>
            </a:extLst>
          </p:cNvPr>
          <p:cNvSpPr txBox="1"/>
          <p:nvPr/>
        </p:nvSpPr>
        <p:spPr>
          <a:xfrm>
            <a:off x="1016000" y="6350000"/>
            <a:ext cx="10160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Sandars J. AMEE Guide No. 44. Medical Teacher. 2009;31:685–695.</a:t>
            </a:r>
          </a:p>
        </p:txBody>
      </p:sp>
      <p:pic>
        <p:nvPicPr>
          <p:cNvPr id="20" name="Graphic 2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76600" y="4013200"/>
            <a:ext cx="508000" cy="508000"/>
          </a:xfrm>
          <a:prstGeom prst="rect">
            <a:avLst/>
          </a:prstGeom>
        </p:spPr>
      </p:pic>
      <p:pic>
        <p:nvPicPr>
          <p:cNvPr id="21" name="Graphic 2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05600" y="4013200"/>
            <a:ext cx="508000" cy="508000"/>
          </a:xfrm>
          <a:prstGeom prst="rect">
            <a:avLst/>
          </a:prstGeom>
        </p:spPr>
      </p:pic>
      <p:pic>
        <p:nvPicPr>
          <p:cNvPr id="22" name="Graphic 2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34600" y="4013200"/>
            <a:ext cx="508000" cy="508000"/>
          </a:xfrm>
          <a:prstGeom prst="rect">
            <a:avLst/>
          </a:prstGeom>
        </p:spPr>
      </p:pic>
    </p:spTree>
    <p:extLst>
      <p:ext uri="{BB962C8B-B14F-4D97-AF65-F5344CB8AC3E}">
        <p14:creationId xmlns:p14="http://schemas.microsoft.com/office/powerpoint/2010/main" val="4602223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efPanel">
            <a:extLst>
              <a:ext uri="{FF2B5EF4-FFF2-40B4-BE49-F238E27FC236}">
                <a16:creationId xmlns:a16="http://schemas.microsoft.com/office/drawing/2014/main" id="{8EA5316A-332E-0948-96FA-1D98D1645307}"/>
              </a:ext>
            </a:extLst>
          </p:cNvPr>
          <p:cNvSpPr/>
          <p:nvPr/>
        </p:nvSpPr>
        <p:spPr>
          <a:xfrm>
            <a:off x="1016000" y="2540000"/>
            <a:ext cx="5969000" cy="29210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D896EE02-4D95-4F4E-891D-0FA9735F0C71}"/>
              </a:ext>
            </a:extLst>
          </p:cNvPr>
          <p:cNvSpPr txBox="1"/>
          <p:nvPr/>
        </p:nvSpPr>
        <p:spPr>
          <a:xfrm>
            <a:off x="1016000" y="889000"/>
            <a:ext cx="3810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CONCEPT</a:t>
            </a:r>
          </a:p>
        </p:txBody>
      </p:sp>
      <p:sp>
        <p:nvSpPr>
          <p:cNvPr id="3" name="SlideTitle">
            <a:extLst>
              <a:ext uri="{FF2B5EF4-FFF2-40B4-BE49-F238E27FC236}">
                <a16:creationId xmlns:a16="http://schemas.microsoft.com/office/drawing/2014/main" id="{D13B020A-520A-0E49-94E4-56236281ABFF}"/>
              </a:ext>
            </a:extLst>
          </p:cNvPr>
          <p:cNvSpPr txBox="1"/>
          <p:nvPr/>
        </p:nvSpPr>
        <p:spPr>
          <a:xfrm>
            <a:off x="990600" y="1219200"/>
            <a:ext cx="7112000" cy="889000"/>
          </a:xfrm>
          <a:prstGeom prst="rect">
            <a:avLst/>
          </a:prstGeom>
          <a:noFill/>
        </p:spPr>
        <p:txBody>
          <a:bodyPr vertOverflow="overflow" vert="horz" wrap="square" rtlCol="0" anchor="t">
            <a:spAutoFit/>
          </a:bodyPr>
          <a:lstStyle/>
          <a:p>
            <a:pPr algn="l"/>
            <a:r>
              <a:rPr lang="en-US" sz="4400" b="1">
                <a:solidFill>
                  <a:srgbClr val="0E2A3B"/>
                </a:solidFill>
                <a:latin typeface="Poppins"/>
                <a:cs typeface="Poppins"/>
              </a:rPr>
              <a:t>What is reflection?</a:t>
            </a:r>
          </a:p>
        </p:txBody>
      </p:sp>
      <p:sp>
        <p:nvSpPr>
          <p:cNvPr id="5" name="TextBox 4">
            <a:extLst>
              <a:ext uri="{FF2B5EF4-FFF2-40B4-BE49-F238E27FC236}">
                <a16:creationId xmlns:a16="http://schemas.microsoft.com/office/drawing/2014/main" id="{469200FA-C6EE-4245-8C6E-340205286432}"/>
              </a:ext>
            </a:extLst>
          </p:cNvPr>
          <p:cNvSpPr txBox="1"/>
          <p:nvPr/>
        </p:nvSpPr>
        <p:spPr>
          <a:xfrm>
            <a:off x="1320800" y="2844800"/>
            <a:ext cx="5359400" cy="1308050"/>
          </a:xfrm>
          <a:prstGeom prst="rect">
            <a:avLst/>
          </a:prstGeom>
          <a:noFill/>
        </p:spPr>
        <p:txBody>
          <a:bodyPr vertOverflow="overflow" vert="horz" wrap="square" rtlCol="0" anchor="t">
            <a:spAutoFit/>
          </a:bodyPr>
          <a:lstStyle/>
          <a:p>
            <a:pPr>
              <a:buNone/>
            </a:pPr>
            <a:r>
              <a:rPr lang="en-US" sz="1900" dirty="0">
                <a:solidFill>
                  <a:srgbClr val="0E2A3B"/>
                </a:solidFill>
              </a:rPr>
              <a:t>“A </a:t>
            </a:r>
            <a:r>
              <a:rPr lang="en-US" sz="2000" b="1" dirty="0">
                <a:solidFill>
                  <a:srgbClr val="0E8A8A"/>
                </a:solidFill>
              </a:rPr>
              <a:t>metacognitive process</a:t>
            </a:r>
            <a:r>
              <a:rPr lang="en-US" sz="1900" dirty="0">
                <a:solidFill>
                  <a:srgbClr val="0E2A3B"/>
                </a:solidFill>
              </a:rPr>
              <a:t> that creates a </a:t>
            </a:r>
            <a:r>
              <a:rPr lang="en-US" sz="2000" b="1" dirty="0">
                <a:solidFill>
                  <a:srgbClr val="0E8A8A"/>
                </a:solidFill>
              </a:rPr>
              <a:t>greater understanding</a:t>
            </a:r>
            <a:r>
              <a:rPr lang="en-US" sz="1900" dirty="0">
                <a:solidFill>
                  <a:srgbClr val="0E2A3B"/>
                </a:solidFill>
              </a:rPr>
              <a:t> of both the self and the situation, so that </a:t>
            </a:r>
            <a:r>
              <a:rPr lang="en-US" sz="2000" b="1" dirty="0">
                <a:solidFill>
                  <a:srgbClr val="E08A3C"/>
                </a:solidFill>
              </a:rPr>
              <a:t>future actions</a:t>
            </a:r>
            <a:r>
              <a:rPr lang="en-US" sz="1900" dirty="0">
                <a:solidFill>
                  <a:srgbClr val="0E2A3B"/>
                </a:solidFill>
              </a:rPr>
              <a:t> can be informed by this understanding.”</a:t>
            </a:r>
          </a:p>
        </p:txBody>
      </p:sp>
      <p:sp>
        <p:nvSpPr>
          <p:cNvPr id="6" name="TextBox 5">
            <a:extLst>
              <a:ext uri="{FF2B5EF4-FFF2-40B4-BE49-F238E27FC236}">
                <a16:creationId xmlns:a16="http://schemas.microsoft.com/office/drawing/2014/main" id="{9C05D329-C563-9B49-80E3-EBF030F0B6DB}"/>
              </a:ext>
            </a:extLst>
          </p:cNvPr>
          <p:cNvSpPr txBox="1"/>
          <p:nvPr/>
        </p:nvSpPr>
        <p:spPr>
          <a:xfrm>
            <a:off x="1320800" y="4927600"/>
            <a:ext cx="5359400" cy="304800"/>
          </a:xfrm>
          <a:prstGeom prst="rect">
            <a:avLst/>
          </a:prstGeom>
          <a:noFill/>
        </p:spPr>
        <p:txBody>
          <a:bodyPr vertOverflow="overflow" vert="horz" wrap="square" rtlCol="0" anchor="t">
            <a:spAutoFit/>
          </a:bodyPr>
          <a:lstStyle/>
          <a:p>
            <a:pPr algn="l"/>
            <a:r>
              <a:rPr lang="en-US" sz="1300" b="1">
                <a:solidFill>
                  <a:srgbClr val="0E8A8A"/>
                </a:solidFill>
                <a:latin typeface="Source Sans Pro"/>
                <a:ea typeface="Source Sans Pro"/>
              </a:rPr>
              <a:t>Sandars, AMEE Guide No. 44 (2009)</a:t>
            </a:r>
          </a:p>
        </p:txBody>
      </p:sp>
      <p:sp>
        <p:nvSpPr>
          <p:cNvPr id="7" name="ReflectionOrb">
            <a:extLst>
              <a:ext uri="{FF2B5EF4-FFF2-40B4-BE49-F238E27FC236}">
                <a16:creationId xmlns:a16="http://schemas.microsoft.com/office/drawing/2014/main" id="{0B8FF312-3413-F045-8C4F-930A42A7F8E7}"/>
              </a:ext>
            </a:extLst>
          </p:cNvPr>
          <p:cNvSpPr/>
          <p:nvPr/>
        </p:nvSpPr>
        <p:spPr>
          <a:xfrm>
            <a:off x="8128000" y="2222500"/>
            <a:ext cx="3302000" cy="3302000"/>
          </a:xfrm>
          <a:prstGeom prst="ellipse">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flectionOrbInner">
            <a:extLst>
              <a:ext uri="{FF2B5EF4-FFF2-40B4-BE49-F238E27FC236}">
                <a16:creationId xmlns:a16="http://schemas.microsoft.com/office/drawing/2014/main" id="{93BD836B-3ED9-A943-A903-C6650D4BDCF3}"/>
              </a:ext>
            </a:extLst>
          </p:cNvPr>
          <p:cNvSpPr/>
          <p:nvPr/>
        </p:nvSpPr>
        <p:spPr>
          <a:xfrm>
            <a:off x="8763000" y="2857500"/>
            <a:ext cx="2032000" cy="2032000"/>
          </a:xfrm>
          <a:prstGeom prst="ellipse">
            <a:avLst/>
          </a:prstGeom>
          <a:solidFill>
            <a:srgbClr val="12B5A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Citation">
            <a:extLst>
              <a:ext uri="{FF2B5EF4-FFF2-40B4-BE49-F238E27FC236}">
                <a16:creationId xmlns:a16="http://schemas.microsoft.com/office/drawing/2014/main" id="{4A070115-52D4-7C45-AE1D-02445E8C6D81}"/>
              </a:ext>
            </a:extLst>
          </p:cNvPr>
          <p:cNvSpPr txBox="1"/>
          <p:nvPr/>
        </p:nvSpPr>
        <p:spPr>
          <a:xfrm>
            <a:off x="1016000" y="6350000"/>
            <a:ext cx="10160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Sandars J. The use of reflection in medical education: AMEE Guide No. 44. Medical Teacher. 2009;31:685–695.</a:t>
            </a:r>
          </a:p>
        </p:txBody>
      </p:sp>
      <p:pic>
        <p:nvPicPr>
          <p:cNvPr id="10" name="Graphic 1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9400" y="3263900"/>
            <a:ext cx="1219200" cy="1219200"/>
          </a:xfrm>
          <a:prstGeom prst="rect">
            <a:avLst/>
          </a:prstGeom>
        </p:spPr>
      </p:pic>
    </p:spTree>
    <p:extLst>
      <p:ext uri="{BB962C8B-B14F-4D97-AF65-F5344CB8AC3E}">
        <p14:creationId xmlns:p14="http://schemas.microsoft.com/office/powerpoint/2010/main" val="26693305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261B0E12-2E7F-6C4F-835E-23CDB2A8ED93}"/>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77DCAC21-91AA-3944-A868-41D61B6DB5CE}"/>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CLARIFY</a:t>
            </a:r>
          </a:p>
        </p:txBody>
      </p:sp>
      <p:sp>
        <p:nvSpPr>
          <p:cNvPr id="4" name="SlideTitle">
            <a:extLst>
              <a:ext uri="{FF2B5EF4-FFF2-40B4-BE49-F238E27FC236}">
                <a16:creationId xmlns:a16="http://schemas.microsoft.com/office/drawing/2014/main" id="{CCD73EFF-58E8-7D47-B5B6-A68999D6CEA4}"/>
              </a:ext>
            </a:extLst>
          </p:cNvPr>
          <p:cNvSpPr txBox="1"/>
          <p:nvPr/>
        </p:nvSpPr>
        <p:spPr>
          <a:xfrm>
            <a:off x="990600" y="1219200"/>
            <a:ext cx="10414000" cy="889000"/>
          </a:xfrm>
          <a:prstGeom prst="rect">
            <a:avLst/>
          </a:prstGeom>
          <a:noFill/>
        </p:spPr>
        <p:txBody>
          <a:bodyPr vertOverflow="overflow" vert="horz" wrap="square" rtlCol="0" anchor="t">
            <a:spAutoFit/>
          </a:bodyPr>
          <a:lstStyle/>
          <a:p>
            <a:pPr algn="l"/>
            <a:r>
              <a:rPr lang="en-US" sz="4400" b="1">
                <a:solidFill>
                  <a:srgbClr val="0E2A3B"/>
                </a:solidFill>
                <a:latin typeface="Poppins"/>
                <a:cs typeface="Poppins"/>
              </a:rPr>
              <a:t>Reflection is more than thinking</a:t>
            </a:r>
          </a:p>
        </p:txBody>
      </p:sp>
      <p:sp>
        <p:nvSpPr>
          <p:cNvPr id="5" name="Rectangle 4">
            <a:extLst>
              <a:ext uri="{FF2B5EF4-FFF2-40B4-BE49-F238E27FC236}">
                <a16:creationId xmlns:a16="http://schemas.microsoft.com/office/drawing/2014/main" id="{FCB39CD2-8107-0B4D-BAA3-D5A9FCCFE6AE}"/>
              </a:ext>
            </a:extLst>
          </p:cNvPr>
          <p:cNvSpPr/>
          <p:nvPr/>
        </p:nvSpPr>
        <p:spPr>
          <a:xfrm>
            <a:off x="1041400" y="21844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FCFD14CD-0AEB-8341-AC30-C07D236272A3}"/>
              </a:ext>
            </a:extLst>
          </p:cNvPr>
          <p:cNvSpPr txBox="1"/>
          <p:nvPr/>
        </p:nvSpPr>
        <p:spPr>
          <a:xfrm>
            <a:off x="1016000" y="2489200"/>
            <a:ext cx="10160000" cy="677108"/>
          </a:xfrm>
          <a:prstGeom prst="rect">
            <a:avLst/>
          </a:prstGeom>
          <a:noFill/>
        </p:spPr>
        <p:txBody>
          <a:bodyPr vertOverflow="overflow" vert="horz" wrap="square" rtlCol="0" anchor="t">
            <a:spAutoFit/>
          </a:bodyPr>
          <a:lstStyle/>
          <a:p>
            <a:pPr algn="l">
              <a:buNone/>
            </a:pPr>
            <a:r>
              <a:rPr lang="en-US" sz="1800" dirty="0">
                <a:solidFill>
                  <a:srgbClr val="33474F"/>
                </a:solidFill>
              </a:rPr>
              <a:t>Simply recalling an event is surface-level. </a:t>
            </a:r>
            <a:r>
              <a:rPr lang="en-US" sz="1900" b="1" dirty="0">
                <a:solidFill>
                  <a:srgbClr val="0E8A8A"/>
                </a:solidFill>
              </a:rPr>
              <a:t>True reflection steps back</a:t>
            </a:r>
            <a:r>
              <a:rPr lang="en-US" sz="1800" dirty="0">
                <a:solidFill>
                  <a:srgbClr val="33474F"/>
                </a:solidFill>
              </a:rPr>
              <a:t>, </a:t>
            </a:r>
            <a:r>
              <a:rPr lang="en-US" sz="1900" b="1" dirty="0">
                <a:solidFill>
                  <a:srgbClr val="0E8A8A"/>
                </a:solidFill>
              </a:rPr>
              <a:t>questions assumptions</a:t>
            </a:r>
            <a:r>
              <a:rPr lang="en-US" sz="1800" dirty="0">
                <a:solidFill>
                  <a:srgbClr val="33474F"/>
                </a:solidFill>
              </a:rPr>
              <a:t>, and </a:t>
            </a:r>
            <a:r>
              <a:rPr lang="en-US" sz="1900" b="1" dirty="0">
                <a:solidFill>
                  <a:srgbClr val="E08A3C"/>
                </a:solidFill>
              </a:rPr>
              <a:t>changes how we will act</a:t>
            </a:r>
            <a:r>
              <a:rPr lang="en-US" sz="1800" dirty="0">
                <a:solidFill>
                  <a:srgbClr val="33474F"/>
                </a:solidFill>
              </a:rPr>
              <a:t> next time.</a:t>
            </a:r>
          </a:p>
        </p:txBody>
      </p:sp>
      <p:sp>
        <p:nvSpPr>
          <p:cNvPr id="7" name="Rounded Rectangle 6">
            <a:extLst>
              <a:ext uri="{FF2B5EF4-FFF2-40B4-BE49-F238E27FC236}">
                <a16:creationId xmlns:a16="http://schemas.microsoft.com/office/drawing/2014/main" id="{AE8481B7-23C4-9645-9508-94F7BE2707E2}"/>
              </a:ext>
            </a:extLst>
          </p:cNvPr>
          <p:cNvSpPr/>
          <p:nvPr/>
        </p:nvSpPr>
        <p:spPr>
          <a:xfrm>
            <a:off x="1016000" y="3429000"/>
            <a:ext cx="4826000" cy="24130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507867F0-375B-324C-988F-712C4E1487F1}"/>
              </a:ext>
            </a:extLst>
          </p:cNvPr>
          <p:cNvSpPr txBox="1"/>
          <p:nvPr/>
        </p:nvSpPr>
        <p:spPr>
          <a:xfrm>
            <a:off x="1320800" y="3708400"/>
            <a:ext cx="3810000" cy="381000"/>
          </a:xfrm>
          <a:prstGeom prst="rect">
            <a:avLst/>
          </a:prstGeom>
          <a:noFill/>
        </p:spPr>
        <p:txBody>
          <a:bodyPr vertOverflow="overflow" vert="horz" wrap="square" rtlCol="0" anchor="t">
            <a:spAutoFit/>
          </a:bodyPr>
          <a:lstStyle/>
          <a:p>
            <a:pPr algn="l"/>
            <a:r>
              <a:rPr lang="en-US" sz="2000" b="1">
                <a:solidFill>
                  <a:srgbClr val="7A8A90"/>
                </a:solidFill>
                <a:latin typeface="Poppins"/>
                <a:cs typeface="Poppins"/>
              </a:rPr>
              <a:t>Just thinking / describing</a:t>
            </a:r>
          </a:p>
        </p:txBody>
      </p:sp>
      <p:sp>
        <p:nvSpPr>
          <p:cNvPr id="9" name="TextBox 8">
            <a:extLst>
              <a:ext uri="{FF2B5EF4-FFF2-40B4-BE49-F238E27FC236}">
                <a16:creationId xmlns:a16="http://schemas.microsoft.com/office/drawing/2014/main" id="{14B7B6E3-A8C0-B940-ADEE-711A745564BC}"/>
              </a:ext>
            </a:extLst>
          </p:cNvPr>
          <p:cNvSpPr txBox="1"/>
          <p:nvPr/>
        </p:nvSpPr>
        <p:spPr>
          <a:xfrm>
            <a:off x="1320800" y="4191000"/>
            <a:ext cx="4216400" cy="1524000"/>
          </a:xfrm>
          <a:prstGeom prst="rect">
            <a:avLst/>
          </a:prstGeom>
          <a:noFill/>
        </p:spPr>
        <p:txBody>
          <a:bodyPr vertOverflow="overflow" vert="horz" wrap="square" rtlCol="0" anchor="t">
            <a:spAutoFit/>
          </a:bodyPr>
          <a:lstStyle/>
          <a:p>
            <a:pPr algn="l"/>
            <a:r>
              <a:rPr lang="en-US" sz="1500">
                <a:solidFill>
                  <a:srgbClr val="5A6A70"/>
                </a:solidFill>
                <a:latin typeface="Source Sans Pro"/>
                <a:ea typeface="Source Sans Pro"/>
              </a:rPr>
              <a:t>“I clerked a patient with chest pain today.”
Describes what happened. Stops at the surface. No new insight or change.</a:t>
            </a:r>
          </a:p>
        </p:txBody>
      </p:sp>
      <p:sp>
        <p:nvSpPr>
          <p:cNvPr id="10" name="Rounded Rectangle 9">
            <a:extLst>
              <a:ext uri="{FF2B5EF4-FFF2-40B4-BE49-F238E27FC236}">
                <a16:creationId xmlns:a16="http://schemas.microsoft.com/office/drawing/2014/main" id="{A372A517-5587-E548-97A5-15778C5EDEFD}"/>
              </a:ext>
            </a:extLst>
          </p:cNvPr>
          <p:cNvSpPr/>
          <p:nvPr/>
        </p:nvSpPr>
        <p:spPr>
          <a:xfrm>
            <a:off x="6350000" y="3429000"/>
            <a:ext cx="4826000" cy="2413000"/>
          </a:xfrm>
          <a:prstGeom prst="roundRect">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04744DDA-58FE-4E4D-AC0B-5BD5575416BF}"/>
              </a:ext>
            </a:extLst>
          </p:cNvPr>
          <p:cNvSpPr txBox="1"/>
          <p:nvPr/>
        </p:nvSpPr>
        <p:spPr>
          <a:xfrm>
            <a:off x="6654800" y="3708400"/>
            <a:ext cx="3810000" cy="381000"/>
          </a:xfrm>
          <a:prstGeom prst="rect">
            <a:avLst/>
          </a:prstGeom>
          <a:noFill/>
        </p:spPr>
        <p:txBody>
          <a:bodyPr vertOverflow="overflow" vert="horz" wrap="square" rtlCol="0" anchor="t">
            <a:spAutoFit/>
          </a:bodyPr>
          <a:lstStyle/>
          <a:p>
            <a:pPr algn="l"/>
            <a:r>
              <a:rPr lang="en-US" sz="2000" b="1">
                <a:solidFill>
                  <a:srgbClr val="FFFFFF"/>
                </a:solidFill>
                <a:latin typeface="Poppins"/>
                <a:cs typeface="Poppins"/>
              </a:rPr>
              <a:t>True reflection</a:t>
            </a:r>
          </a:p>
        </p:txBody>
      </p:sp>
      <p:sp>
        <p:nvSpPr>
          <p:cNvPr id="12" name="TextBox 11">
            <a:extLst>
              <a:ext uri="{FF2B5EF4-FFF2-40B4-BE49-F238E27FC236}">
                <a16:creationId xmlns:a16="http://schemas.microsoft.com/office/drawing/2014/main" id="{C37484B5-CC10-024F-90BE-748C8BFF7D9C}"/>
              </a:ext>
            </a:extLst>
          </p:cNvPr>
          <p:cNvSpPr txBox="1"/>
          <p:nvPr/>
        </p:nvSpPr>
        <p:spPr>
          <a:xfrm>
            <a:off x="6654800" y="4191000"/>
            <a:ext cx="4216400" cy="1524000"/>
          </a:xfrm>
          <a:prstGeom prst="rect">
            <a:avLst/>
          </a:prstGeom>
          <a:noFill/>
        </p:spPr>
        <p:txBody>
          <a:bodyPr vertOverflow="overflow" vert="horz" wrap="square" rtlCol="0" anchor="t">
            <a:spAutoFit/>
          </a:bodyPr>
          <a:lstStyle/>
          <a:p>
            <a:pPr algn="l"/>
            <a:r>
              <a:rPr lang="en-US" sz="1500">
                <a:solidFill>
                  <a:srgbClr val="EAF6F6"/>
                </a:solidFill>
                <a:latin typeface="Source Sans Pro"/>
                <a:ea typeface="Source Sans Pro"/>
              </a:rPr>
              <a:t>“Why did I miss the red flag? What assumption led me there, and what will I do differently next time?”</a:t>
            </a:r>
          </a:p>
        </p:txBody>
      </p:sp>
      <p:sp>
        <p:nvSpPr>
          <p:cNvPr id="13" name="Right Arrow 12">
            <a:extLst>
              <a:ext uri="{FF2B5EF4-FFF2-40B4-BE49-F238E27FC236}">
                <a16:creationId xmlns:a16="http://schemas.microsoft.com/office/drawing/2014/main" id="{1C3CA692-16FF-1D46-95BC-3C820558DD8A}"/>
              </a:ext>
            </a:extLst>
          </p:cNvPr>
          <p:cNvSpPr/>
          <p:nvPr/>
        </p:nvSpPr>
        <p:spPr>
          <a:xfrm>
            <a:off x="5867400" y="4445000"/>
            <a:ext cx="457200" cy="381000"/>
          </a:xfrm>
          <a:prstGeom prst="rightArrow">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Citation">
            <a:extLst>
              <a:ext uri="{FF2B5EF4-FFF2-40B4-BE49-F238E27FC236}">
                <a16:creationId xmlns:a16="http://schemas.microsoft.com/office/drawing/2014/main" id="{FF99EFB7-F4C4-764D-AA72-087A2120525A}"/>
              </a:ext>
            </a:extLst>
          </p:cNvPr>
          <p:cNvSpPr txBox="1"/>
          <p:nvPr/>
        </p:nvSpPr>
        <p:spPr>
          <a:xfrm>
            <a:off x="1016000" y="6350000"/>
            <a:ext cx="10160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Sandars J. AMEE Guide No. 44. Medical Teacher. 2009;31:685–695.</a:t>
            </a:r>
          </a:p>
        </p:txBody>
      </p:sp>
    </p:spTree>
    <p:extLst>
      <p:ext uri="{BB962C8B-B14F-4D97-AF65-F5344CB8AC3E}">
        <p14:creationId xmlns:p14="http://schemas.microsoft.com/office/powerpoint/2010/main" val="18563928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28A29693-86BD-B541-A778-1B83DF6FF8DC}"/>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47E1385C-96C4-C641-B64E-F4A39C5AEA21}"/>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CORE MODEL</a:t>
            </a:r>
          </a:p>
        </p:txBody>
      </p:sp>
      <p:sp>
        <p:nvSpPr>
          <p:cNvPr id="4" name="SlideTitle">
            <a:extLst>
              <a:ext uri="{FF2B5EF4-FFF2-40B4-BE49-F238E27FC236}">
                <a16:creationId xmlns:a16="http://schemas.microsoft.com/office/drawing/2014/main" id="{2E3C3189-F979-C641-919B-D047EC55DA53}"/>
              </a:ext>
            </a:extLst>
          </p:cNvPr>
          <p:cNvSpPr txBox="1"/>
          <p:nvPr/>
        </p:nvSpPr>
        <p:spPr>
          <a:xfrm>
            <a:off x="990600" y="1219200"/>
            <a:ext cx="10414000" cy="889000"/>
          </a:xfrm>
          <a:prstGeom prst="rect">
            <a:avLst/>
          </a:prstGeom>
          <a:noFill/>
        </p:spPr>
        <p:txBody>
          <a:bodyPr vertOverflow="overflow" vert="horz" wrap="square" rtlCol="0" anchor="t">
            <a:spAutoFit/>
          </a:bodyPr>
          <a:lstStyle/>
          <a:p>
            <a:pPr algn="l"/>
            <a:r>
              <a:rPr lang="en-US" sz="4400" b="1">
                <a:solidFill>
                  <a:srgbClr val="0E2A3B"/>
                </a:solidFill>
                <a:latin typeface="Poppins"/>
                <a:cs typeface="Poppins"/>
              </a:rPr>
              <a:t>The three-stage model</a:t>
            </a:r>
          </a:p>
        </p:txBody>
      </p:sp>
      <p:sp>
        <p:nvSpPr>
          <p:cNvPr id="5" name="Rectangle 4">
            <a:extLst>
              <a:ext uri="{FF2B5EF4-FFF2-40B4-BE49-F238E27FC236}">
                <a16:creationId xmlns:a16="http://schemas.microsoft.com/office/drawing/2014/main" id="{9CC15C08-79C9-8D49-B82D-9B2D54A7A81E}"/>
              </a:ext>
            </a:extLst>
          </p:cNvPr>
          <p:cNvSpPr/>
          <p:nvPr/>
        </p:nvSpPr>
        <p:spPr>
          <a:xfrm>
            <a:off x="1041400" y="21844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A0AF0126-8BBF-AA48-806B-7C943841B760}"/>
              </a:ext>
            </a:extLst>
          </p:cNvPr>
          <p:cNvSpPr txBox="1"/>
          <p:nvPr/>
        </p:nvSpPr>
        <p:spPr>
          <a:xfrm>
            <a:off x="1016000" y="2489200"/>
            <a:ext cx="10160000" cy="384721"/>
          </a:xfrm>
          <a:prstGeom prst="rect">
            <a:avLst/>
          </a:prstGeom>
          <a:noFill/>
        </p:spPr>
        <p:txBody>
          <a:bodyPr vertOverflow="overflow" vert="horz" wrap="square" rtlCol="0" anchor="t">
            <a:spAutoFit/>
          </a:bodyPr>
          <a:lstStyle/>
          <a:p>
            <a:pPr algn="l">
              <a:buNone/>
            </a:pPr>
            <a:r>
              <a:rPr lang="en-US" sz="1800" dirty="0">
                <a:solidFill>
                  <a:srgbClr val="33474F"/>
                </a:solidFill>
              </a:rPr>
              <a:t>At its simplest, reflection is a </a:t>
            </a:r>
            <a:r>
              <a:rPr lang="en-US" sz="1900" b="1" dirty="0">
                <a:solidFill>
                  <a:srgbClr val="0E8A8A"/>
                </a:solidFill>
              </a:rPr>
              <a:t>cycle of three components</a:t>
            </a:r>
            <a:r>
              <a:rPr lang="en-US" sz="1800" dirty="0">
                <a:solidFill>
                  <a:srgbClr val="33474F"/>
                </a:solidFill>
              </a:rPr>
              <a:t> that feed each other.</a:t>
            </a:r>
          </a:p>
        </p:txBody>
      </p:sp>
      <p:sp>
        <p:nvSpPr>
          <p:cNvPr id="7" name="NodePlan">
            <a:extLst>
              <a:ext uri="{FF2B5EF4-FFF2-40B4-BE49-F238E27FC236}">
                <a16:creationId xmlns:a16="http://schemas.microsoft.com/office/drawing/2014/main" id="{C5CBA068-87DF-FA45-ADFF-EF492EDD41F5}"/>
              </a:ext>
            </a:extLst>
          </p:cNvPr>
          <p:cNvSpPr/>
          <p:nvPr/>
        </p:nvSpPr>
        <p:spPr>
          <a:xfrm>
            <a:off x="1397000" y="3429000"/>
            <a:ext cx="1778000" cy="1778000"/>
          </a:xfrm>
          <a:prstGeom prst="ellipse">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b="1" dirty="0">
                <a:solidFill>
                  <a:srgbClr val="FFFFFF"/>
                </a:solidFill>
                <a:latin typeface="Poppins"/>
                <a:cs typeface="Poppins"/>
              </a:rPr>
              <a:t>PLANNING</a:t>
            </a:r>
          </a:p>
        </p:txBody>
      </p:sp>
      <p:sp>
        <p:nvSpPr>
          <p:cNvPr id="8" name="TextBox 7">
            <a:extLst>
              <a:ext uri="{FF2B5EF4-FFF2-40B4-BE49-F238E27FC236}">
                <a16:creationId xmlns:a16="http://schemas.microsoft.com/office/drawing/2014/main" id="{84A3410C-D140-E146-8442-2126EF8CD4DD}"/>
              </a:ext>
            </a:extLst>
          </p:cNvPr>
          <p:cNvSpPr txBox="1"/>
          <p:nvPr/>
        </p:nvSpPr>
        <p:spPr>
          <a:xfrm>
            <a:off x="889000" y="5334000"/>
            <a:ext cx="2794000" cy="889000"/>
          </a:xfrm>
          <a:prstGeom prst="rect">
            <a:avLst/>
          </a:prstGeom>
          <a:noFill/>
        </p:spPr>
        <p:txBody>
          <a:bodyPr vertOverflow="overflow" vert="horz" wrap="square" rtlCol="0" anchor="t">
            <a:spAutoFit/>
          </a:bodyPr>
          <a:lstStyle/>
          <a:p>
            <a:pPr algn="l"/>
            <a:r>
              <a:rPr lang="en-US" sz="1500">
                <a:solidFill>
                  <a:srgbClr val="33474F"/>
                </a:solidFill>
                <a:latin typeface="Source Sans Pro"/>
                <a:ea typeface="Source Sans Pro"/>
              </a:rPr>
              <a:t>Anticipate. What do I want to achieve and why?</a:t>
            </a:r>
          </a:p>
        </p:txBody>
      </p:sp>
      <p:sp>
        <p:nvSpPr>
          <p:cNvPr id="9" name="Right Arrow 8">
            <a:extLst>
              <a:ext uri="{FF2B5EF4-FFF2-40B4-BE49-F238E27FC236}">
                <a16:creationId xmlns:a16="http://schemas.microsoft.com/office/drawing/2014/main" id="{3CCEA2B2-3248-0D47-AF9C-3B2AEBF5BBCA}"/>
              </a:ext>
            </a:extLst>
          </p:cNvPr>
          <p:cNvSpPr/>
          <p:nvPr/>
        </p:nvSpPr>
        <p:spPr>
          <a:xfrm>
            <a:off x="3302000" y="4127500"/>
            <a:ext cx="1016000" cy="381000"/>
          </a:xfrm>
          <a:prstGeom prst="rightArrow">
            <a:avLst/>
          </a:prstGeom>
          <a:solidFill>
            <a:srgbClr val="5BC0B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NodeDo">
            <a:extLst>
              <a:ext uri="{FF2B5EF4-FFF2-40B4-BE49-F238E27FC236}">
                <a16:creationId xmlns:a16="http://schemas.microsoft.com/office/drawing/2014/main" id="{CEF7044D-EA45-D440-B54D-7258BAA641A2}"/>
              </a:ext>
            </a:extLst>
          </p:cNvPr>
          <p:cNvSpPr/>
          <p:nvPr/>
        </p:nvSpPr>
        <p:spPr>
          <a:xfrm>
            <a:off x="4572000" y="3429000"/>
            <a:ext cx="1778000" cy="1778000"/>
          </a:xfrm>
          <a:prstGeom prst="ellipse">
            <a:avLst/>
          </a:prstGeom>
          <a:solidFill>
            <a:srgbClr val="1F4E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b="1" dirty="0">
                <a:solidFill>
                  <a:srgbClr val="FFFFFF"/>
                </a:solidFill>
                <a:latin typeface="Poppins"/>
                <a:cs typeface="Poppins"/>
              </a:rPr>
              <a:t>DOING</a:t>
            </a:r>
          </a:p>
        </p:txBody>
      </p:sp>
      <p:sp>
        <p:nvSpPr>
          <p:cNvPr id="11" name="TextBox 10">
            <a:extLst>
              <a:ext uri="{FF2B5EF4-FFF2-40B4-BE49-F238E27FC236}">
                <a16:creationId xmlns:a16="http://schemas.microsoft.com/office/drawing/2014/main" id="{8CB1AC1D-2C09-F245-B7E2-E2CB86EC7DF8}"/>
              </a:ext>
            </a:extLst>
          </p:cNvPr>
          <p:cNvSpPr txBox="1"/>
          <p:nvPr/>
        </p:nvSpPr>
        <p:spPr>
          <a:xfrm>
            <a:off x="4064000" y="5334000"/>
            <a:ext cx="2794000" cy="889000"/>
          </a:xfrm>
          <a:prstGeom prst="rect">
            <a:avLst/>
          </a:prstGeom>
          <a:noFill/>
        </p:spPr>
        <p:txBody>
          <a:bodyPr vertOverflow="overflow" vert="horz" wrap="square" rtlCol="0" anchor="t">
            <a:spAutoFit/>
          </a:bodyPr>
          <a:lstStyle/>
          <a:p>
            <a:pPr algn="l"/>
            <a:r>
              <a:rPr lang="en-US" sz="1500">
                <a:solidFill>
                  <a:srgbClr val="33474F"/>
                </a:solidFill>
                <a:latin typeface="Source Sans Pro"/>
                <a:ea typeface="Source Sans Pro"/>
              </a:rPr>
              <a:t>Act and notice. What is actually happening?</a:t>
            </a:r>
          </a:p>
        </p:txBody>
      </p:sp>
      <p:sp>
        <p:nvSpPr>
          <p:cNvPr id="12" name="Right Arrow 11">
            <a:extLst>
              <a:ext uri="{FF2B5EF4-FFF2-40B4-BE49-F238E27FC236}">
                <a16:creationId xmlns:a16="http://schemas.microsoft.com/office/drawing/2014/main" id="{5362137C-860F-EC4A-BF02-0D9D3ADA8F82}"/>
              </a:ext>
            </a:extLst>
          </p:cNvPr>
          <p:cNvSpPr/>
          <p:nvPr/>
        </p:nvSpPr>
        <p:spPr>
          <a:xfrm>
            <a:off x="6477000" y="4127500"/>
            <a:ext cx="1016000" cy="381000"/>
          </a:xfrm>
          <a:prstGeom prst="rightArrow">
            <a:avLst/>
          </a:prstGeom>
          <a:solidFill>
            <a:srgbClr val="5BC0B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NodeReview">
            <a:extLst>
              <a:ext uri="{FF2B5EF4-FFF2-40B4-BE49-F238E27FC236}">
                <a16:creationId xmlns:a16="http://schemas.microsoft.com/office/drawing/2014/main" id="{BE0CBD57-DA99-1345-B95E-3C81EC6E38D6}"/>
              </a:ext>
            </a:extLst>
          </p:cNvPr>
          <p:cNvSpPr/>
          <p:nvPr/>
        </p:nvSpPr>
        <p:spPr>
          <a:xfrm>
            <a:off x="7747000" y="3429000"/>
            <a:ext cx="1778000" cy="17780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b="1" dirty="0">
                <a:solidFill>
                  <a:srgbClr val="FFFFFF"/>
                </a:solidFill>
                <a:latin typeface="Poppins"/>
                <a:cs typeface="Poppins"/>
              </a:rPr>
              <a:t>REVIEW</a:t>
            </a:r>
          </a:p>
        </p:txBody>
      </p:sp>
      <p:sp>
        <p:nvSpPr>
          <p:cNvPr id="14" name="TextBox 13">
            <a:extLst>
              <a:ext uri="{FF2B5EF4-FFF2-40B4-BE49-F238E27FC236}">
                <a16:creationId xmlns:a16="http://schemas.microsoft.com/office/drawing/2014/main" id="{7DB39B38-2012-AA49-9051-9206A633AADE}"/>
              </a:ext>
            </a:extLst>
          </p:cNvPr>
          <p:cNvSpPr txBox="1"/>
          <p:nvPr/>
        </p:nvSpPr>
        <p:spPr>
          <a:xfrm>
            <a:off x="7239000" y="5334000"/>
            <a:ext cx="2794000" cy="889000"/>
          </a:xfrm>
          <a:prstGeom prst="rect">
            <a:avLst/>
          </a:prstGeom>
          <a:noFill/>
        </p:spPr>
        <p:txBody>
          <a:bodyPr vertOverflow="overflow" vert="horz" wrap="square" rtlCol="0" anchor="t">
            <a:spAutoFit/>
          </a:bodyPr>
          <a:lstStyle/>
          <a:p>
            <a:pPr algn="l"/>
            <a:r>
              <a:rPr lang="en-US" sz="1500">
                <a:solidFill>
                  <a:srgbClr val="33474F"/>
                </a:solidFill>
                <a:latin typeface="Source Sans Pro"/>
                <a:ea typeface="Source Sans Pro"/>
              </a:rPr>
              <a:t>Make sense. What did I learn, what changes?</a:t>
            </a:r>
          </a:p>
        </p:txBody>
      </p:sp>
      <p:sp>
        <p:nvSpPr>
          <p:cNvPr id="15" name="Left Arrow 14">
            <a:extLst>
              <a:ext uri="{FF2B5EF4-FFF2-40B4-BE49-F238E27FC236}">
                <a16:creationId xmlns:a16="http://schemas.microsoft.com/office/drawing/2014/main" id="{E840191C-130B-A547-BA6A-5357804198A3}"/>
              </a:ext>
            </a:extLst>
          </p:cNvPr>
          <p:cNvSpPr/>
          <p:nvPr/>
        </p:nvSpPr>
        <p:spPr>
          <a:xfrm>
            <a:off x="3175000" y="3149600"/>
            <a:ext cx="4826000" cy="177800"/>
          </a:xfrm>
          <a:prstGeom prst="leftArrow">
            <a:avLst/>
          </a:prstGeom>
          <a:solidFill>
            <a:srgbClr val="D9E6E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Citation">
            <a:extLst>
              <a:ext uri="{FF2B5EF4-FFF2-40B4-BE49-F238E27FC236}">
                <a16:creationId xmlns:a16="http://schemas.microsoft.com/office/drawing/2014/main" id="{2C740256-785D-AD4E-82C6-6C3FDA087DF0}"/>
              </a:ext>
            </a:extLst>
          </p:cNvPr>
          <p:cNvSpPr txBox="1"/>
          <p:nvPr/>
        </p:nvSpPr>
        <p:spPr>
          <a:xfrm>
            <a:off x="1016000" y="6350000"/>
            <a:ext cx="10160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Sandars J. AMEE Guide No. 44 (Figure 1). Medical Teacher. 2009;31:685–695.</a:t>
            </a:r>
          </a:p>
        </p:txBody>
      </p:sp>
    </p:spTree>
    <p:extLst>
      <p:ext uri="{BB962C8B-B14F-4D97-AF65-F5344CB8AC3E}">
        <p14:creationId xmlns:p14="http://schemas.microsoft.com/office/powerpoint/2010/main" val="19762421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KolbRing">
            <a:extLst>
              <a:ext uri="{FF2B5EF4-FFF2-40B4-BE49-F238E27FC236}">
                <a16:creationId xmlns:a16="http://schemas.microsoft.com/office/drawing/2014/main" id="{2EA55C71-B75F-2A49-AAA5-A11E67DDD3B3}"/>
              </a:ext>
            </a:extLst>
          </p:cNvPr>
          <p:cNvSpPr/>
          <p:nvPr/>
        </p:nvSpPr>
        <p:spPr>
          <a:xfrm>
            <a:off x="2413000" y="2984500"/>
            <a:ext cx="2540000" cy="2540000"/>
          </a:xfrm>
          <a:prstGeom prst="ellipse">
            <a:avLst/>
          </a:prstGeom>
          <a:noFill/>
          <a:ln w="31750" cap="flat" cmpd="sng" algn="ctr">
            <a:solidFill>
              <a:srgbClr val="C7D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Oval 1">
            <a:extLst>
              <a:ext uri="{FF2B5EF4-FFF2-40B4-BE49-F238E27FC236}">
                <a16:creationId xmlns:a16="http://schemas.microsoft.com/office/drawing/2014/main" id="{CE90F9CE-A9D3-8647-A298-AFF805EC89E1}"/>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F4DA1A97-45CC-CA49-A347-1D0A9A30EB0A}"/>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THEORY · KOLB</a:t>
            </a:r>
          </a:p>
        </p:txBody>
      </p:sp>
      <p:sp>
        <p:nvSpPr>
          <p:cNvPr id="4" name="SlideTitle">
            <a:extLst>
              <a:ext uri="{FF2B5EF4-FFF2-40B4-BE49-F238E27FC236}">
                <a16:creationId xmlns:a16="http://schemas.microsoft.com/office/drawing/2014/main" id="{8D0DDFC3-49B1-D64F-A054-CB0DBF66E875}"/>
              </a:ext>
            </a:extLst>
          </p:cNvPr>
          <p:cNvSpPr txBox="1"/>
          <p:nvPr/>
        </p:nvSpPr>
        <p:spPr>
          <a:xfrm>
            <a:off x="990600" y="1219200"/>
            <a:ext cx="10414000" cy="889000"/>
          </a:xfrm>
          <a:prstGeom prst="rect">
            <a:avLst/>
          </a:prstGeom>
          <a:noFill/>
        </p:spPr>
        <p:txBody>
          <a:bodyPr vertOverflow="overflow" vert="horz" wrap="square" rtlCol="0" anchor="t">
            <a:spAutoFit/>
          </a:bodyPr>
          <a:lstStyle/>
          <a:p>
            <a:pPr algn="l"/>
            <a:r>
              <a:rPr lang="en-US" sz="4000" b="1">
                <a:solidFill>
                  <a:srgbClr val="0E2A3B"/>
                </a:solidFill>
                <a:latin typeface="Poppins"/>
                <a:cs typeface="Poppins"/>
              </a:rPr>
              <a:t>Kolb's experiential learning cycle</a:t>
            </a:r>
          </a:p>
        </p:txBody>
      </p:sp>
      <p:sp>
        <p:nvSpPr>
          <p:cNvPr id="5" name="Rectangle 4">
            <a:extLst>
              <a:ext uri="{FF2B5EF4-FFF2-40B4-BE49-F238E27FC236}">
                <a16:creationId xmlns:a16="http://schemas.microsoft.com/office/drawing/2014/main" id="{87E7CD49-3110-CC4F-B74B-567F2229AEC3}"/>
              </a:ext>
            </a:extLst>
          </p:cNvPr>
          <p:cNvSpPr/>
          <p:nvPr/>
        </p:nvSpPr>
        <p:spPr>
          <a:xfrm>
            <a:off x="1041400" y="21082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Kolb0">
            <a:extLst>
              <a:ext uri="{FF2B5EF4-FFF2-40B4-BE49-F238E27FC236}">
                <a16:creationId xmlns:a16="http://schemas.microsoft.com/office/drawing/2014/main" id="{5E4B6E1C-CA59-C940-ADB0-AF4E9C238FDC}"/>
              </a:ext>
            </a:extLst>
          </p:cNvPr>
          <p:cNvSpPr/>
          <p:nvPr/>
        </p:nvSpPr>
        <p:spPr>
          <a:xfrm>
            <a:off x="3048000" y="2349500"/>
            <a:ext cx="1270000" cy="1270000"/>
          </a:xfrm>
          <a:prstGeom prst="ellipse">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4000" b="1" dirty="0">
                <a:solidFill>
                  <a:srgbClr val="FFFFFF"/>
                </a:solidFill>
                <a:latin typeface="Poppins"/>
                <a:cs typeface="Poppins"/>
              </a:rPr>
              <a:t>1</a:t>
            </a:r>
          </a:p>
        </p:txBody>
      </p:sp>
      <p:sp>
        <p:nvSpPr>
          <p:cNvPr id="8" name="Kolb1">
            <a:extLst>
              <a:ext uri="{FF2B5EF4-FFF2-40B4-BE49-F238E27FC236}">
                <a16:creationId xmlns:a16="http://schemas.microsoft.com/office/drawing/2014/main" id="{2548E5C1-81D1-7048-8058-36CEA29C7174}"/>
              </a:ext>
            </a:extLst>
          </p:cNvPr>
          <p:cNvSpPr/>
          <p:nvPr/>
        </p:nvSpPr>
        <p:spPr>
          <a:xfrm>
            <a:off x="4318000" y="3619500"/>
            <a:ext cx="1270000" cy="1270000"/>
          </a:xfrm>
          <a:prstGeom prst="ellipse">
            <a:avLst/>
          </a:prstGeom>
          <a:solidFill>
            <a:srgbClr val="1F4E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4000" b="1" dirty="0">
                <a:solidFill>
                  <a:srgbClr val="FFFFFF"/>
                </a:solidFill>
                <a:latin typeface="Poppins"/>
                <a:cs typeface="Poppins"/>
              </a:rPr>
              <a:t>2</a:t>
            </a:r>
          </a:p>
        </p:txBody>
      </p:sp>
      <p:sp>
        <p:nvSpPr>
          <p:cNvPr id="9" name="Kolb2">
            <a:extLst>
              <a:ext uri="{FF2B5EF4-FFF2-40B4-BE49-F238E27FC236}">
                <a16:creationId xmlns:a16="http://schemas.microsoft.com/office/drawing/2014/main" id="{19E85EC0-6976-7D4C-960E-5730944CBA13}"/>
              </a:ext>
            </a:extLst>
          </p:cNvPr>
          <p:cNvSpPr/>
          <p:nvPr/>
        </p:nvSpPr>
        <p:spPr>
          <a:xfrm>
            <a:off x="3048000" y="4889500"/>
            <a:ext cx="1270000" cy="12700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4000" b="1" dirty="0">
                <a:solidFill>
                  <a:srgbClr val="FFFFFF"/>
                </a:solidFill>
                <a:latin typeface="Poppins"/>
                <a:cs typeface="Poppins"/>
              </a:rPr>
              <a:t>3</a:t>
            </a:r>
          </a:p>
        </p:txBody>
      </p:sp>
      <p:sp>
        <p:nvSpPr>
          <p:cNvPr id="10" name="Kolb3">
            <a:extLst>
              <a:ext uri="{FF2B5EF4-FFF2-40B4-BE49-F238E27FC236}">
                <a16:creationId xmlns:a16="http://schemas.microsoft.com/office/drawing/2014/main" id="{17C1BB77-430B-9F48-9F01-A55354CE05D7}"/>
              </a:ext>
            </a:extLst>
          </p:cNvPr>
          <p:cNvSpPr/>
          <p:nvPr/>
        </p:nvSpPr>
        <p:spPr>
          <a:xfrm>
            <a:off x="1778000" y="3619500"/>
            <a:ext cx="1270000" cy="1270000"/>
          </a:xfrm>
          <a:prstGeom prst="ellipse">
            <a:avLst/>
          </a:prstGeom>
          <a:solidFill>
            <a:srgbClr val="5BC0B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4000" b="1" dirty="0">
                <a:solidFill>
                  <a:srgbClr val="FFFFFF"/>
                </a:solidFill>
                <a:latin typeface="Poppins"/>
                <a:cs typeface="Poppins"/>
              </a:rPr>
              <a:t>4</a:t>
            </a:r>
          </a:p>
        </p:txBody>
      </p:sp>
      <p:sp>
        <p:nvSpPr>
          <p:cNvPr id="11" name="Oval 10">
            <a:extLst>
              <a:ext uri="{FF2B5EF4-FFF2-40B4-BE49-F238E27FC236}">
                <a16:creationId xmlns:a16="http://schemas.microsoft.com/office/drawing/2014/main" id="{211EC7F5-2DFB-F043-96C0-CDA989C6078B}"/>
              </a:ext>
            </a:extLst>
          </p:cNvPr>
          <p:cNvSpPr/>
          <p:nvPr/>
        </p:nvSpPr>
        <p:spPr>
          <a:xfrm>
            <a:off x="6858000" y="2667000"/>
            <a:ext cx="381000" cy="381000"/>
          </a:xfrm>
          <a:prstGeom prst="ellipse">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Poppins"/>
                <a:cs typeface="Poppins"/>
              </a:rPr>
              <a:t>1</a:t>
            </a:r>
          </a:p>
        </p:txBody>
      </p:sp>
      <p:sp>
        <p:nvSpPr>
          <p:cNvPr id="12" name="TextBox 11">
            <a:extLst>
              <a:ext uri="{FF2B5EF4-FFF2-40B4-BE49-F238E27FC236}">
                <a16:creationId xmlns:a16="http://schemas.microsoft.com/office/drawing/2014/main" id="{9706920F-620B-4946-9A91-158A9DED697E}"/>
              </a:ext>
            </a:extLst>
          </p:cNvPr>
          <p:cNvSpPr txBox="1"/>
          <p:nvPr/>
        </p:nvSpPr>
        <p:spPr>
          <a:xfrm>
            <a:off x="7416800" y="2641600"/>
            <a:ext cx="4064000" cy="304800"/>
          </a:xfrm>
          <a:prstGeom prst="rect">
            <a:avLst/>
          </a:prstGeom>
          <a:noFill/>
        </p:spPr>
        <p:txBody>
          <a:bodyPr vertOverflow="overflow" vert="horz" wrap="square" rtlCol="0" anchor="t">
            <a:spAutoFit/>
          </a:bodyPr>
          <a:lstStyle/>
          <a:p>
            <a:pPr algn="l"/>
            <a:r>
              <a:rPr lang="en-US" sz="1600" b="1">
                <a:solidFill>
                  <a:srgbClr val="0E2A3B"/>
                </a:solidFill>
                <a:latin typeface="Poppins"/>
                <a:cs typeface="Poppins"/>
              </a:rPr>
              <a:t>Concrete experience</a:t>
            </a:r>
          </a:p>
        </p:txBody>
      </p:sp>
      <p:sp>
        <p:nvSpPr>
          <p:cNvPr id="13" name="TextBox 12">
            <a:extLst>
              <a:ext uri="{FF2B5EF4-FFF2-40B4-BE49-F238E27FC236}">
                <a16:creationId xmlns:a16="http://schemas.microsoft.com/office/drawing/2014/main" id="{F3BBAED0-D753-D142-AA60-D026C91EFAC7}"/>
              </a:ext>
            </a:extLst>
          </p:cNvPr>
          <p:cNvSpPr txBox="1"/>
          <p:nvPr/>
        </p:nvSpPr>
        <p:spPr>
          <a:xfrm>
            <a:off x="7416800" y="2946400"/>
            <a:ext cx="4064000" cy="508000"/>
          </a:xfrm>
          <a:prstGeom prst="rect">
            <a:avLst/>
          </a:prstGeom>
          <a:noFill/>
        </p:spPr>
        <p:txBody>
          <a:bodyPr vertOverflow="overflow" vert="horz" wrap="square" rtlCol="0" anchor="t">
            <a:spAutoFit/>
          </a:bodyPr>
          <a:lstStyle/>
          <a:p>
            <a:pPr algn="l"/>
            <a:r>
              <a:rPr lang="en-US" sz="1300">
                <a:solidFill>
                  <a:srgbClr val="5A6A70"/>
                </a:solidFill>
                <a:latin typeface="Source Sans Pro"/>
                <a:ea typeface="Source Sans Pro"/>
              </a:rPr>
              <a:t>You live through a clinical situation.</a:t>
            </a:r>
          </a:p>
        </p:txBody>
      </p:sp>
      <p:sp>
        <p:nvSpPr>
          <p:cNvPr id="14" name="Oval 13">
            <a:extLst>
              <a:ext uri="{FF2B5EF4-FFF2-40B4-BE49-F238E27FC236}">
                <a16:creationId xmlns:a16="http://schemas.microsoft.com/office/drawing/2014/main" id="{319A25C3-3C35-0249-A383-C9F87A2ED226}"/>
              </a:ext>
            </a:extLst>
          </p:cNvPr>
          <p:cNvSpPr/>
          <p:nvPr/>
        </p:nvSpPr>
        <p:spPr>
          <a:xfrm>
            <a:off x="6858000" y="3556000"/>
            <a:ext cx="381000" cy="381000"/>
          </a:xfrm>
          <a:prstGeom prst="ellipse">
            <a:avLst/>
          </a:prstGeom>
          <a:solidFill>
            <a:srgbClr val="1F4E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Poppins"/>
                <a:cs typeface="Poppins"/>
              </a:rPr>
              <a:t>2</a:t>
            </a:r>
          </a:p>
        </p:txBody>
      </p:sp>
      <p:sp>
        <p:nvSpPr>
          <p:cNvPr id="15" name="TextBox 14">
            <a:extLst>
              <a:ext uri="{FF2B5EF4-FFF2-40B4-BE49-F238E27FC236}">
                <a16:creationId xmlns:a16="http://schemas.microsoft.com/office/drawing/2014/main" id="{4C610A70-FAB0-5B4D-B567-217FFAC3EF28}"/>
              </a:ext>
            </a:extLst>
          </p:cNvPr>
          <p:cNvSpPr txBox="1"/>
          <p:nvPr/>
        </p:nvSpPr>
        <p:spPr>
          <a:xfrm>
            <a:off x="7416800" y="3530600"/>
            <a:ext cx="4064000" cy="304800"/>
          </a:xfrm>
          <a:prstGeom prst="rect">
            <a:avLst/>
          </a:prstGeom>
          <a:noFill/>
        </p:spPr>
        <p:txBody>
          <a:bodyPr vertOverflow="overflow" vert="horz" wrap="square" rtlCol="0" anchor="t">
            <a:spAutoFit/>
          </a:bodyPr>
          <a:lstStyle/>
          <a:p>
            <a:pPr algn="l"/>
            <a:r>
              <a:rPr lang="en-US" sz="1600" b="1">
                <a:solidFill>
                  <a:srgbClr val="0E2A3B"/>
                </a:solidFill>
                <a:latin typeface="Poppins"/>
                <a:cs typeface="Poppins"/>
              </a:rPr>
              <a:t>Reflective observation</a:t>
            </a:r>
          </a:p>
        </p:txBody>
      </p:sp>
      <p:sp>
        <p:nvSpPr>
          <p:cNvPr id="16" name="TextBox 15">
            <a:extLst>
              <a:ext uri="{FF2B5EF4-FFF2-40B4-BE49-F238E27FC236}">
                <a16:creationId xmlns:a16="http://schemas.microsoft.com/office/drawing/2014/main" id="{396A9FC4-5576-BA4A-9ECF-BC472B9EDA6F}"/>
              </a:ext>
            </a:extLst>
          </p:cNvPr>
          <p:cNvSpPr txBox="1"/>
          <p:nvPr/>
        </p:nvSpPr>
        <p:spPr>
          <a:xfrm>
            <a:off x="7416800" y="3835400"/>
            <a:ext cx="4064000" cy="508000"/>
          </a:xfrm>
          <a:prstGeom prst="rect">
            <a:avLst/>
          </a:prstGeom>
          <a:noFill/>
        </p:spPr>
        <p:txBody>
          <a:bodyPr vertOverflow="overflow" vert="horz" wrap="square" rtlCol="0" anchor="t">
            <a:spAutoFit/>
          </a:bodyPr>
          <a:lstStyle/>
          <a:p>
            <a:pPr algn="l"/>
            <a:r>
              <a:rPr lang="en-US" sz="1300">
                <a:solidFill>
                  <a:srgbClr val="5A6A70"/>
                </a:solidFill>
                <a:latin typeface="Source Sans Pro"/>
                <a:ea typeface="Source Sans Pro"/>
              </a:rPr>
              <a:t>You review what happened and how you reacted.</a:t>
            </a:r>
          </a:p>
        </p:txBody>
      </p:sp>
      <p:sp>
        <p:nvSpPr>
          <p:cNvPr id="17" name="Oval 16">
            <a:extLst>
              <a:ext uri="{FF2B5EF4-FFF2-40B4-BE49-F238E27FC236}">
                <a16:creationId xmlns:a16="http://schemas.microsoft.com/office/drawing/2014/main" id="{1E2E5FBD-925F-E341-BB89-59790DA8DB83}"/>
              </a:ext>
            </a:extLst>
          </p:cNvPr>
          <p:cNvSpPr/>
          <p:nvPr/>
        </p:nvSpPr>
        <p:spPr>
          <a:xfrm>
            <a:off x="6858000" y="4445000"/>
            <a:ext cx="381000" cy="3810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Poppins"/>
                <a:cs typeface="Poppins"/>
              </a:rPr>
              <a:t>3</a:t>
            </a:r>
          </a:p>
        </p:txBody>
      </p:sp>
      <p:sp>
        <p:nvSpPr>
          <p:cNvPr id="18" name="TextBox 17">
            <a:extLst>
              <a:ext uri="{FF2B5EF4-FFF2-40B4-BE49-F238E27FC236}">
                <a16:creationId xmlns:a16="http://schemas.microsoft.com/office/drawing/2014/main" id="{A52B39E2-8811-4D4A-9659-1C22C79BBFEA}"/>
              </a:ext>
            </a:extLst>
          </p:cNvPr>
          <p:cNvSpPr txBox="1"/>
          <p:nvPr/>
        </p:nvSpPr>
        <p:spPr>
          <a:xfrm>
            <a:off x="7416800" y="4419600"/>
            <a:ext cx="4064000" cy="304800"/>
          </a:xfrm>
          <a:prstGeom prst="rect">
            <a:avLst/>
          </a:prstGeom>
          <a:noFill/>
        </p:spPr>
        <p:txBody>
          <a:bodyPr vertOverflow="overflow" vert="horz" wrap="square" rtlCol="0" anchor="t">
            <a:spAutoFit/>
          </a:bodyPr>
          <a:lstStyle/>
          <a:p>
            <a:pPr algn="l"/>
            <a:r>
              <a:rPr lang="en-US" sz="1600" b="1">
                <a:solidFill>
                  <a:srgbClr val="0E2A3B"/>
                </a:solidFill>
                <a:latin typeface="Poppins"/>
                <a:cs typeface="Poppins"/>
              </a:rPr>
              <a:t>Abstract conceptualisation</a:t>
            </a:r>
          </a:p>
        </p:txBody>
      </p:sp>
      <p:sp>
        <p:nvSpPr>
          <p:cNvPr id="19" name="TextBox 18">
            <a:extLst>
              <a:ext uri="{FF2B5EF4-FFF2-40B4-BE49-F238E27FC236}">
                <a16:creationId xmlns:a16="http://schemas.microsoft.com/office/drawing/2014/main" id="{564CF2A0-0F8D-FA4F-B1A7-2C74A85BE1A6}"/>
              </a:ext>
            </a:extLst>
          </p:cNvPr>
          <p:cNvSpPr txBox="1"/>
          <p:nvPr/>
        </p:nvSpPr>
        <p:spPr>
          <a:xfrm>
            <a:off x="7416800" y="4724400"/>
            <a:ext cx="4064000" cy="508000"/>
          </a:xfrm>
          <a:prstGeom prst="rect">
            <a:avLst/>
          </a:prstGeom>
          <a:noFill/>
        </p:spPr>
        <p:txBody>
          <a:bodyPr vertOverflow="overflow" vert="horz" wrap="square" rtlCol="0" anchor="t">
            <a:spAutoFit/>
          </a:bodyPr>
          <a:lstStyle/>
          <a:p>
            <a:pPr algn="l"/>
            <a:r>
              <a:rPr lang="en-US" sz="1300">
                <a:solidFill>
                  <a:srgbClr val="5A6A70"/>
                </a:solidFill>
                <a:latin typeface="Source Sans Pro"/>
                <a:ea typeface="Source Sans Pro"/>
              </a:rPr>
              <a:t>You make sense of it and identify learning needs.</a:t>
            </a:r>
          </a:p>
        </p:txBody>
      </p:sp>
      <p:sp>
        <p:nvSpPr>
          <p:cNvPr id="20" name="Oval 19">
            <a:extLst>
              <a:ext uri="{FF2B5EF4-FFF2-40B4-BE49-F238E27FC236}">
                <a16:creationId xmlns:a16="http://schemas.microsoft.com/office/drawing/2014/main" id="{1A9B1A31-8C44-FD43-A0AD-4C7102D3EBBB}"/>
              </a:ext>
            </a:extLst>
          </p:cNvPr>
          <p:cNvSpPr/>
          <p:nvPr/>
        </p:nvSpPr>
        <p:spPr>
          <a:xfrm>
            <a:off x="6858000" y="5334000"/>
            <a:ext cx="381000" cy="381000"/>
          </a:xfrm>
          <a:prstGeom prst="ellipse">
            <a:avLst/>
          </a:prstGeom>
          <a:solidFill>
            <a:srgbClr val="5BC0B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Poppins"/>
                <a:cs typeface="Poppins"/>
              </a:rPr>
              <a:t>4</a:t>
            </a:r>
          </a:p>
        </p:txBody>
      </p:sp>
      <p:sp>
        <p:nvSpPr>
          <p:cNvPr id="21" name="TextBox 20">
            <a:extLst>
              <a:ext uri="{FF2B5EF4-FFF2-40B4-BE49-F238E27FC236}">
                <a16:creationId xmlns:a16="http://schemas.microsoft.com/office/drawing/2014/main" id="{38644AF7-D0EF-B949-A7F0-05C410AFCB6C}"/>
              </a:ext>
            </a:extLst>
          </p:cNvPr>
          <p:cNvSpPr txBox="1"/>
          <p:nvPr/>
        </p:nvSpPr>
        <p:spPr>
          <a:xfrm>
            <a:off x="7416800" y="5308600"/>
            <a:ext cx="4064000" cy="304800"/>
          </a:xfrm>
          <a:prstGeom prst="rect">
            <a:avLst/>
          </a:prstGeom>
          <a:noFill/>
        </p:spPr>
        <p:txBody>
          <a:bodyPr vertOverflow="overflow" vert="horz" wrap="square" rtlCol="0" anchor="t">
            <a:spAutoFit/>
          </a:bodyPr>
          <a:lstStyle/>
          <a:p>
            <a:pPr algn="l"/>
            <a:r>
              <a:rPr lang="en-US" sz="1600" b="1">
                <a:solidFill>
                  <a:srgbClr val="0E2A3B"/>
                </a:solidFill>
                <a:latin typeface="Poppins"/>
                <a:cs typeface="Poppins"/>
              </a:rPr>
              <a:t>Active experimentation</a:t>
            </a:r>
          </a:p>
        </p:txBody>
      </p:sp>
      <p:sp>
        <p:nvSpPr>
          <p:cNvPr id="22" name="TextBox 21">
            <a:extLst>
              <a:ext uri="{FF2B5EF4-FFF2-40B4-BE49-F238E27FC236}">
                <a16:creationId xmlns:a16="http://schemas.microsoft.com/office/drawing/2014/main" id="{81A416CC-1715-8D41-B468-E2C09D459F2F}"/>
              </a:ext>
            </a:extLst>
          </p:cNvPr>
          <p:cNvSpPr txBox="1"/>
          <p:nvPr/>
        </p:nvSpPr>
        <p:spPr>
          <a:xfrm>
            <a:off x="7416800" y="5613400"/>
            <a:ext cx="4064000" cy="508000"/>
          </a:xfrm>
          <a:prstGeom prst="rect">
            <a:avLst/>
          </a:prstGeom>
          <a:noFill/>
        </p:spPr>
        <p:txBody>
          <a:bodyPr vertOverflow="overflow" vert="horz" wrap="square" rtlCol="0" anchor="t">
            <a:spAutoFit/>
          </a:bodyPr>
          <a:lstStyle/>
          <a:p>
            <a:pPr algn="l"/>
            <a:r>
              <a:rPr lang="en-US" sz="1300">
                <a:solidFill>
                  <a:srgbClr val="5A6A70"/>
                </a:solidFill>
                <a:latin typeface="Source Sans Pro"/>
                <a:ea typeface="Source Sans Pro"/>
              </a:rPr>
              <a:t>You try the new approach in the next encounter.</a:t>
            </a:r>
          </a:p>
        </p:txBody>
      </p:sp>
      <p:sp>
        <p:nvSpPr>
          <p:cNvPr id="23" name="Citation">
            <a:extLst>
              <a:ext uri="{FF2B5EF4-FFF2-40B4-BE49-F238E27FC236}">
                <a16:creationId xmlns:a16="http://schemas.microsoft.com/office/drawing/2014/main" id="{01B2B83F-B6FC-D543-80EA-662E49B359E2}"/>
              </a:ext>
            </a:extLst>
          </p:cNvPr>
          <p:cNvSpPr txBox="1"/>
          <p:nvPr/>
        </p:nvSpPr>
        <p:spPr>
          <a:xfrm>
            <a:off x="1016000" y="6350000"/>
            <a:ext cx="10414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Kolb DA. Experiential Learning. 1984. In: Sandars J. AMEE Guide No. 44. Med Teach. 2009;31:685–695.</a:t>
            </a:r>
          </a:p>
        </p:txBody>
      </p:sp>
    </p:spTree>
    <p:extLst>
      <p:ext uri="{BB962C8B-B14F-4D97-AF65-F5344CB8AC3E}">
        <p14:creationId xmlns:p14="http://schemas.microsoft.com/office/powerpoint/2010/main" val="34674904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CEAC7E8-B6BE-1C40-949B-DE5ED422BA51}"/>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F31EE5FB-CC02-C443-8DDE-92D4F133D346}"/>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THEORY · SCHÖN</a:t>
            </a:r>
          </a:p>
        </p:txBody>
      </p:sp>
      <p:sp>
        <p:nvSpPr>
          <p:cNvPr id="4" name="SlideTitle">
            <a:extLst>
              <a:ext uri="{FF2B5EF4-FFF2-40B4-BE49-F238E27FC236}">
                <a16:creationId xmlns:a16="http://schemas.microsoft.com/office/drawing/2014/main" id="{905295AC-6669-1641-8169-83463517FBD9}"/>
              </a:ext>
            </a:extLst>
          </p:cNvPr>
          <p:cNvSpPr txBox="1"/>
          <p:nvPr/>
        </p:nvSpPr>
        <p:spPr>
          <a:xfrm>
            <a:off x="990600" y="1219200"/>
            <a:ext cx="10414000" cy="889000"/>
          </a:xfrm>
          <a:prstGeom prst="rect">
            <a:avLst/>
          </a:prstGeom>
          <a:noFill/>
        </p:spPr>
        <p:txBody>
          <a:bodyPr vertOverflow="overflow" vert="horz" wrap="square" rtlCol="0" anchor="t">
            <a:spAutoFit/>
          </a:bodyPr>
          <a:lstStyle/>
          <a:p>
            <a:pPr algn="l"/>
            <a:r>
              <a:rPr lang="en-US" sz="4000" b="1">
                <a:solidFill>
                  <a:srgbClr val="0E2A3B"/>
                </a:solidFill>
                <a:latin typeface="Poppins"/>
                <a:cs typeface="Poppins"/>
              </a:rPr>
              <a:t>Two modes of reflection</a:t>
            </a:r>
          </a:p>
        </p:txBody>
      </p:sp>
      <p:sp>
        <p:nvSpPr>
          <p:cNvPr id="5" name="Rectangle 4">
            <a:extLst>
              <a:ext uri="{FF2B5EF4-FFF2-40B4-BE49-F238E27FC236}">
                <a16:creationId xmlns:a16="http://schemas.microsoft.com/office/drawing/2014/main" id="{C27B3ED2-8612-454C-9963-7856ED5BF0F4}"/>
              </a:ext>
            </a:extLst>
          </p:cNvPr>
          <p:cNvSpPr/>
          <p:nvPr/>
        </p:nvSpPr>
        <p:spPr>
          <a:xfrm>
            <a:off x="1041400" y="21082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5192DACF-CE5B-BE48-A981-1FF8B35FC59D}"/>
              </a:ext>
            </a:extLst>
          </p:cNvPr>
          <p:cNvSpPr txBox="1"/>
          <p:nvPr/>
        </p:nvSpPr>
        <p:spPr>
          <a:xfrm>
            <a:off x="1016000" y="2438400"/>
            <a:ext cx="10414000" cy="381000"/>
          </a:xfrm>
          <a:prstGeom prst="rect">
            <a:avLst/>
          </a:prstGeom>
          <a:noFill/>
        </p:spPr>
        <p:txBody>
          <a:bodyPr vertOverflow="overflow" vert="horz" wrap="square" rtlCol="0" anchor="t">
            <a:spAutoFit/>
          </a:bodyPr>
          <a:lstStyle/>
          <a:p>
            <a:pPr algn="l"/>
            <a:r>
              <a:rPr lang="en-US" sz="1700">
                <a:solidFill>
                  <a:srgbClr val="33474F"/>
                </a:solidFill>
                <a:latin typeface="Source Sans Pro"/>
                <a:ea typeface="Source Sans Pro"/>
              </a:rPr>
              <a:t>Expert clinicians reflect in two distinct ways, during the moment, and afterwards.</a:t>
            </a:r>
          </a:p>
        </p:txBody>
      </p:sp>
      <p:sp>
        <p:nvSpPr>
          <p:cNvPr id="7" name="Rounded Rectangle 6">
            <a:extLst>
              <a:ext uri="{FF2B5EF4-FFF2-40B4-BE49-F238E27FC236}">
                <a16:creationId xmlns:a16="http://schemas.microsoft.com/office/drawing/2014/main" id="{2F843056-53D9-084E-B600-80FA604B1B3F}"/>
              </a:ext>
            </a:extLst>
          </p:cNvPr>
          <p:cNvSpPr/>
          <p:nvPr/>
        </p:nvSpPr>
        <p:spPr>
          <a:xfrm>
            <a:off x="1016000" y="3175000"/>
            <a:ext cx="4889500" cy="27305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ounded Rectangle 7">
            <a:extLst>
              <a:ext uri="{FF2B5EF4-FFF2-40B4-BE49-F238E27FC236}">
                <a16:creationId xmlns:a16="http://schemas.microsoft.com/office/drawing/2014/main" id="{553FA9D4-2586-974A-AAEF-597C0632D05C}"/>
              </a:ext>
            </a:extLst>
          </p:cNvPr>
          <p:cNvSpPr/>
          <p:nvPr/>
        </p:nvSpPr>
        <p:spPr>
          <a:xfrm>
            <a:off x="1320800" y="3454400"/>
            <a:ext cx="1905000" cy="381000"/>
          </a:xfrm>
          <a:prstGeom prst="roundRect">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FFFFF"/>
                </a:solidFill>
                <a:latin typeface="Source Sans Pro"/>
                <a:ea typeface="Source Sans Pro"/>
              </a:rPr>
              <a:t>REFLECTION-IN-ACTION</a:t>
            </a:r>
          </a:p>
        </p:txBody>
      </p:sp>
      <p:sp>
        <p:nvSpPr>
          <p:cNvPr id="9" name="TextBox 8">
            <a:extLst>
              <a:ext uri="{FF2B5EF4-FFF2-40B4-BE49-F238E27FC236}">
                <a16:creationId xmlns:a16="http://schemas.microsoft.com/office/drawing/2014/main" id="{62D0678F-B226-5C46-A4F4-9FEF23A9B03E}"/>
              </a:ext>
            </a:extLst>
          </p:cNvPr>
          <p:cNvSpPr txBox="1"/>
          <p:nvPr/>
        </p:nvSpPr>
        <p:spPr>
          <a:xfrm>
            <a:off x="1320800" y="3962400"/>
            <a:ext cx="4279900" cy="431800"/>
          </a:xfrm>
          <a:prstGeom prst="rect">
            <a:avLst/>
          </a:prstGeom>
          <a:noFill/>
        </p:spPr>
        <p:txBody>
          <a:bodyPr vertOverflow="overflow" vert="horz" wrap="square" rtlCol="0" anchor="t">
            <a:spAutoFit/>
          </a:bodyPr>
          <a:lstStyle/>
          <a:p>
            <a:pPr algn="l"/>
            <a:r>
              <a:rPr lang="en-US" sz="2200" b="1">
                <a:solidFill>
                  <a:srgbClr val="0E8A8A"/>
                </a:solidFill>
                <a:latin typeface="Poppins"/>
                <a:cs typeface="Poppins"/>
              </a:rPr>
              <a:t>Thinking on your feet</a:t>
            </a:r>
          </a:p>
        </p:txBody>
      </p:sp>
      <p:sp>
        <p:nvSpPr>
          <p:cNvPr id="10" name="TextBox 9">
            <a:extLst>
              <a:ext uri="{FF2B5EF4-FFF2-40B4-BE49-F238E27FC236}">
                <a16:creationId xmlns:a16="http://schemas.microsoft.com/office/drawing/2014/main" id="{00C68155-1999-7045-8B88-20E2ABB7A22A}"/>
              </a:ext>
            </a:extLst>
          </p:cNvPr>
          <p:cNvSpPr txBox="1"/>
          <p:nvPr/>
        </p:nvSpPr>
        <p:spPr>
          <a:xfrm>
            <a:off x="1320800" y="4470400"/>
            <a:ext cx="4318000" cy="1270000"/>
          </a:xfrm>
          <a:prstGeom prst="rect">
            <a:avLst/>
          </a:prstGeom>
          <a:noFill/>
        </p:spPr>
        <p:txBody>
          <a:bodyPr vertOverflow="overflow" vert="horz" wrap="square" rtlCol="0" anchor="t">
            <a:spAutoFit/>
          </a:bodyPr>
          <a:lstStyle/>
          <a:p>
            <a:pPr algn="l"/>
            <a:r>
              <a:rPr lang="en-US" sz="1450">
                <a:solidFill>
                  <a:srgbClr val="33474F"/>
                </a:solidFill>
                <a:latin typeface="Source Sans Pro"/>
                <a:ea typeface="Source Sans Pro"/>
              </a:rPr>
              <a:t>Reflecting while the situation is unfolding.
Mental models are mobilised instantly to adapt.
“What is happening, and what should I do now?”</a:t>
            </a:r>
          </a:p>
        </p:txBody>
      </p:sp>
      <p:sp>
        <p:nvSpPr>
          <p:cNvPr id="11" name="Rounded Rectangle 10">
            <a:extLst>
              <a:ext uri="{FF2B5EF4-FFF2-40B4-BE49-F238E27FC236}">
                <a16:creationId xmlns:a16="http://schemas.microsoft.com/office/drawing/2014/main" id="{007D9D29-824F-C944-B481-531976D7659D}"/>
              </a:ext>
            </a:extLst>
          </p:cNvPr>
          <p:cNvSpPr/>
          <p:nvPr/>
        </p:nvSpPr>
        <p:spPr>
          <a:xfrm>
            <a:off x="6286500" y="3175000"/>
            <a:ext cx="4889500" cy="2730500"/>
          </a:xfrm>
          <a:prstGeom prst="roundRect">
            <a:avLst/>
          </a:prstGeom>
          <a:solidFill>
            <a:srgbClr val="0E2A3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624CA872-48F3-1C4E-8065-1DA1890D0F1B}"/>
              </a:ext>
            </a:extLst>
          </p:cNvPr>
          <p:cNvSpPr/>
          <p:nvPr/>
        </p:nvSpPr>
        <p:spPr>
          <a:xfrm>
            <a:off x="6591300" y="3454400"/>
            <a:ext cx="1905000" cy="381000"/>
          </a:xfrm>
          <a:prstGeom prst="round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FFFFF"/>
                </a:solidFill>
                <a:latin typeface="Source Sans Pro"/>
                <a:ea typeface="Source Sans Pro"/>
              </a:rPr>
              <a:t>REFLECTION-ON-ACTION</a:t>
            </a:r>
          </a:p>
        </p:txBody>
      </p:sp>
      <p:sp>
        <p:nvSpPr>
          <p:cNvPr id="13" name="TextBox 12">
            <a:extLst>
              <a:ext uri="{FF2B5EF4-FFF2-40B4-BE49-F238E27FC236}">
                <a16:creationId xmlns:a16="http://schemas.microsoft.com/office/drawing/2014/main" id="{CD846335-2DCC-DE45-ACA7-02059B44FA21}"/>
              </a:ext>
            </a:extLst>
          </p:cNvPr>
          <p:cNvSpPr txBox="1"/>
          <p:nvPr/>
        </p:nvSpPr>
        <p:spPr>
          <a:xfrm>
            <a:off x="6591300" y="3962400"/>
            <a:ext cx="4279900" cy="431800"/>
          </a:xfrm>
          <a:prstGeom prst="rect">
            <a:avLst/>
          </a:prstGeom>
          <a:noFill/>
        </p:spPr>
        <p:txBody>
          <a:bodyPr vertOverflow="overflow" vert="horz" wrap="square" rtlCol="0" anchor="t">
            <a:spAutoFit/>
          </a:bodyPr>
          <a:lstStyle/>
          <a:p>
            <a:pPr algn="l"/>
            <a:r>
              <a:rPr lang="en-US" sz="2200" b="1">
                <a:solidFill>
                  <a:srgbClr val="5BC0BE"/>
                </a:solidFill>
                <a:latin typeface="Poppins"/>
                <a:cs typeface="Poppins"/>
              </a:rPr>
              <a:t>Looking back afterwards</a:t>
            </a:r>
          </a:p>
        </p:txBody>
      </p:sp>
      <p:sp>
        <p:nvSpPr>
          <p:cNvPr id="14" name="TextBox 13">
            <a:extLst>
              <a:ext uri="{FF2B5EF4-FFF2-40B4-BE49-F238E27FC236}">
                <a16:creationId xmlns:a16="http://schemas.microsoft.com/office/drawing/2014/main" id="{FFDE867B-718A-0B46-A9EA-EB242AD79128}"/>
              </a:ext>
            </a:extLst>
          </p:cNvPr>
          <p:cNvSpPr txBox="1"/>
          <p:nvPr/>
        </p:nvSpPr>
        <p:spPr>
          <a:xfrm>
            <a:off x="6591300" y="4470400"/>
            <a:ext cx="4318000" cy="1270000"/>
          </a:xfrm>
          <a:prstGeom prst="rect">
            <a:avLst/>
          </a:prstGeom>
          <a:noFill/>
        </p:spPr>
        <p:txBody>
          <a:bodyPr vertOverflow="overflow" vert="horz" wrap="square" rtlCol="0" anchor="t">
            <a:spAutoFit/>
          </a:bodyPr>
          <a:lstStyle/>
          <a:p>
            <a:pPr algn="l"/>
            <a:r>
              <a:rPr lang="en-US" sz="1450">
                <a:solidFill>
                  <a:srgbClr val="E6EEF0"/>
                </a:solidFill>
                <a:latin typeface="Source Sans Pro"/>
                <a:ea typeface="Source Sans Pro"/>
              </a:rPr>
              <a:t>Reflecting after the event has finished.
Reviewing decisions to build new understanding.
“What happened, and what will I do differently?”</a:t>
            </a:r>
          </a:p>
        </p:txBody>
      </p:sp>
      <p:sp>
        <p:nvSpPr>
          <p:cNvPr id="15" name="Citation">
            <a:extLst>
              <a:ext uri="{FF2B5EF4-FFF2-40B4-BE49-F238E27FC236}">
                <a16:creationId xmlns:a16="http://schemas.microsoft.com/office/drawing/2014/main" id="{8F106170-A4A5-7B4C-964E-BAD5999B25A7}"/>
              </a:ext>
            </a:extLst>
          </p:cNvPr>
          <p:cNvSpPr txBox="1"/>
          <p:nvPr/>
        </p:nvSpPr>
        <p:spPr>
          <a:xfrm>
            <a:off x="1016000" y="6350000"/>
            <a:ext cx="10414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Schön DA. The Reflective Practitioner. 1983. In: Sandars J. AMEE Guide No. 44. Med Teach. 2009;31:685–695.</a:t>
            </a:r>
          </a:p>
        </p:txBody>
      </p:sp>
    </p:spTree>
    <p:extLst>
      <p:ext uri="{BB962C8B-B14F-4D97-AF65-F5344CB8AC3E}">
        <p14:creationId xmlns:p14="http://schemas.microsoft.com/office/powerpoint/2010/main" val="29521375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9BC76354-2086-7A43-A3AD-4F970222A8C1}"/>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4A3DBCE6-C1B5-394E-A59E-149E5053D369}"/>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THEORY · MEZIROW</a:t>
            </a:r>
          </a:p>
        </p:txBody>
      </p:sp>
      <p:sp>
        <p:nvSpPr>
          <p:cNvPr id="4" name="SlideTitle">
            <a:extLst>
              <a:ext uri="{FF2B5EF4-FFF2-40B4-BE49-F238E27FC236}">
                <a16:creationId xmlns:a16="http://schemas.microsoft.com/office/drawing/2014/main" id="{A79269BB-6AB0-6A49-9AD8-D1F993C91148}"/>
              </a:ext>
            </a:extLst>
          </p:cNvPr>
          <p:cNvSpPr txBox="1"/>
          <p:nvPr/>
        </p:nvSpPr>
        <p:spPr>
          <a:xfrm>
            <a:off x="990600" y="1219200"/>
            <a:ext cx="10414000" cy="889000"/>
          </a:xfrm>
          <a:prstGeom prst="rect">
            <a:avLst/>
          </a:prstGeom>
          <a:noFill/>
        </p:spPr>
        <p:txBody>
          <a:bodyPr vertOverflow="overflow" vert="horz" wrap="square" rtlCol="0" anchor="t">
            <a:spAutoFit/>
          </a:bodyPr>
          <a:lstStyle/>
          <a:p>
            <a:pPr algn="l"/>
            <a:r>
              <a:rPr lang="en-US" sz="4000" b="1">
                <a:solidFill>
                  <a:srgbClr val="0E2A3B"/>
                </a:solidFill>
                <a:latin typeface="Poppins"/>
                <a:cs typeface="Poppins"/>
              </a:rPr>
              <a:t>Transformative learning</a:t>
            </a:r>
          </a:p>
        </p:txBody>
      </p:sp>
      <p:sp>
        <p:nvSpPr>
          <p:cNvPr id="5" name="Rectangle 4">
            <a:extLst>
              <a:ext uri="{FF2B5EF4-FFF2-40B4-BE49-F238E27FC236}">
                <a16:creationId xmlns:a16="http://schemas.microsoft.com/office/drawing/2014/main" id="{DD33ADC4-8DD1-D54D-B737-FB5FA774E240}"/>
              </a:ext>
            </a:extLst>
          </p:cNvPr>
          <p:cNvSpPr/>
          <p:nvPr/>
        </p:nvSpPr>
        <p:spPr>
          <a:xfrm>
            <a:off x="1041400" y="21082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63DC9D2D-A261-A141-B743-6CAFB7D8CEA5}"/>
              </a:ext>
            </a:extLst>
          </p:cNvPr>
          <p:cNvSpPr txBox="1"/>
          <p:nvPr/>
        </p:nvSpPr>
        <p:spPr>
          <a:xfrm>
            <a:off x="1016000" y="2438400"/>
            <a:ext cx="10541000" cy="677108"/>
          </a:xfrm>
          <a:prstGeom prst="rect">
            <a:avLst/>
          </a:prstGeom>
          <a:noFill/>
        </p:spPr>
        <p:txBody>
          <a:bodyPr vertOverflow="overflow" vert="horz" wrap="square" rtlCol="0" anchor="t">
            <a:spAutoFit/>
          </a:bodyPr>
          <a:lstStyle/>
          <a:p>
            <a:pPr>
              <a:buNone/>
            </a:pPr>
            <a:r>
              <a:rPr lang="en-US" sz="1800" dirty="0">
                <a:solidFill>
                  <a:srgbClr val="33474F"/>
                </a:solidFill>
              </a:rPr>
              <a:t>The </a:t>
            </a:r>
            <a:r>
              <a:rPr lang="en-US" sz="1900" b="1" dirty="0">
                <a:solidFill>
                  <a:srgbClr val="0E8A8A"/>
                </a:solidFill>
              </a:rPr>
              <a:t>deepest learning</a:t>
            </a:r>
            <a:r>
              <a:rPr lang="en-US" sz="1800" dirty="0">
                <a:solidFill>
                  <a:srgbClr val="33474F"/>
                </a:solidFill>
              </a:rPr>
              <a:t> happens when our </a:t>
            </a:r>
            <a:r>
              <a:rPr lang="en-US" sz="1900" b="1" dirty="0">
                <a:solidFill>
                  <a:srgbClr val="0E8A8A"/>
                </a:solidFill>
              </a:rPr>
              <a:t>fundamental beliefs are challenged</a:t>
            </a:r>
            <a:r>
              <a:rPr lang="en-US" sz="1800" dirty="0">
                <a:solidFill>
                  <a:srgbClr val="33474F"/>
                </a:solidFill>
              </a:rPr>
              <a:t>, Mezirow called the trigger a </a:t>
            </a:r>
            <a:r>
              <a:rPr lang="en-US" sz="1900" b="1" dirty="0">
                <a:solidFill>
                  <a:srgbClr val="E08A3C"/>
                </a:solidFill>
              </a:rPr>
              <a:t>“disorienting dilemma.”</a:t>
            </a:r>
          </a:p>
        </p:txBody>
      </p:sp>
      <p:sp>
        <p:nvSpPr>
          <p:cNvPr id="7" name="Rounded Rectangle 6">
            <a:extLst>
              <a:ext uri="{FF2B5EF4-FFF2-40B4-BE49-F238E27FC236}">
                <a16:creationId xmlns:a16="http://schemas.microsoft.com/office/drawing/2014/main" id="{2834F69E-E108-4F48-9AF9-309F5233E340}"/>
              </a:ext>
            </a:extLst>
          </p:cNvPr>
          <p:cNvSpPr/>
          <p:nvPr/>
        </p:nvSpPr>
        <p:spPr>
          <a:xfrm>
            <a:off x="1016000" y="3556000"/>
            <a:ext cx="3175000" cy="23495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Oval 7">
            <a:extLst>
              <a:ext uri="{FF2B5EF4-FFF2-40B4-BE49-F238E27FC236}">
                <a16:creationId xmlns:a16="http://schemas.microsoft.com/office/drawing/2014/main" id="{8D246B09-2572-F542-8989-14746BF97035}"/>
              </a:ext>
            </a:extLst>
          </p:cNvPr>
          <p:cNvSpPr/>
          <p:nvPr/>
        </p:nvSpPr>
        <p:spPr>
          <a:xfrm>
            <a:off x="1270000" y="3810000"/>
            <a:ext cx="584200" cy="5842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2200" b="1">
                <a:solidFill>
                  <a:srgbClr val="FFFFFF"/>
                </a:solidFill>
                <a:latin typeface="Poppins"/>
                <a:cs typeface="Poppins"/>
              </a:rPr>
              <a:t>1</a:t>
            </a:r>
          </a:p>
        </p:txBody>
      </p:sp>
      <p:sp>
        <p:nvSpPr>
          <p:cNvPr id="9" name="TextBox 8">
            <a:extLst>
              <a:ext uri="{FF2B5EF4-FFF2-40B4-BE49-F238E27FC236}">
                <a16:creationId xmlns:a16="http://schemas.microsoft.com/office/drawing/2014/main" id="{073C4CD6-2335-9F41-9C0E-F8B939F3F64E}"/>
              </a:ext>
            </a:extLst>
          </p:cNvPr>
          <p:cNvSpPr txBox="1"/>
          <p:nvPr/>
        </p:nvSpPr>
        <p:spPr>
          <a:xfrm>
            <a:off x="1270000" y="4402222"/>
            <a:ext cx="2667000" cy="381000"/>
          </a:xfrm>
          <a:prstGeom prst="rect">
            <a:avLst/>
          </a:prstGeom>
          <a:noFill/>
        </p:spPr>
        <p:txBody>
          <a:bodyPr vertOverflow="overflow" vert="horz" wrap="square" rtlCol="0" anchor="t">
            <a:spAutoFit/>
          </a:bodyPr>
          <a:lstStyle/>
          <a:p>
            <a:pPr algn="l"/>
            <a:r>
              <a:rPr lang="en-US" sz="1900" b="1" dirty="0">
                <a:solidFill>
                  <a:srgbClr val="E08A3C"/>
                </a:solidFill>
                <a:latin typeface="Poppins"/>
                <a:cs typeface="Poppins"/>
              </a:rPr>
              <a:t>Disorienting dilemma</a:t>
            </a:r>
          </a:p>
        </p:txBody>
      </p:sp>
      <p:sp>
        <p:nvSpPr>
          <p:cNvPr id="10" name="TextBox 9">
            <a:extLst>
              <a:ext uri="{FF2B5EF4-FFF2-40B4-BE49-F238E27FC236}">
                <a16:creationId xmlns:a16="http://schemas.microsoft.com/office/drawing/2014/main" id="{FD842F1E-FFE1-2C4E-9D10-E79AE72BD5F4}"/>
              </a:ext>
            </a:extLst>
          </p:cNvPr>
          <p:cNvSpPr txBox="1"/>
          <p:nvPr/>
        </p:nvSpPr>
        <p:spPr>
          <a:xfrm>
            <a:off x="1270000" y="4994442"/>
            <a:ext cx="2667000" cy="1016000"/>
          </a:xfrm>
          <a:prstGeom prst="rect">
            <a:avLst/>
          </a:prstGeom>
          <a:noFill/>
        </p:spPr>
        <p:txBody>
          <a:bodyPr vertOverflow="overflow" vert="horz" wrap="square" rtlCol="0" anchor="t">
            <a:spAutoFit/>
          </a:bodyPr>
          <a:lstStyle/>
          <a:p>
            <a:pPr algn="l"/>
            <a:r>
              <a:rPr lang="en-US" sz="1400" dirty="0">
                <a:solidFill>
                  <a:srgbClr val="33474F"/>
                </a:solidFill>
                <a:latin typeface="Source Sans Pro"/>
                <a:ea typeface="Source Sans Pro"/>
              </a:rPr>
              <a:t>You notice a gap between what you believed and what just happened.</a:t>
            </a:r>
          </a:p>
        </p:txBody>
      </p:sp>
      <p:sp>
        <p:nvSpPr>
          <p:cNvPr id="11" name="Right Arrow 10">
            <a:extLst>
              <a:ext uri="{FF2B5EF4-FFF2-40B4-BE49-F238E27FC236}">
                <a16:creationId xmlns:a16="http://schemas.microsoft.com/office/drawing/2014/main" id="{EA09DC00-4BC2-7842-BFC4-169D66C6E8CC}"/>
              </a:ext>
            </a:extLst>
          </p:cNvPr>
          <p:cNvSpPr/>
          <p:nvPr/>
        </p:nvSpPr>
        <p:spPr>
          <a:xfrm>
            <a:off x="4241800" y="4508500"/>
            <a:ext cx="342900" cy="304800"/>
          </a:xfrm>
          <a:prstGeom prst="rightArrow">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40454E44-B233-4B42-9916-226661BBAB18}"/>
              </a:ext>
            </a:extLst>
          </p:cNvPr>
          <p:cNvSpPr/>
          <p:nvPr/>
        </p:nvSpPr>
        <p:spPr>
          <a:xfrm>
            <a:off x="4635500" y="3556000"/>
            <a:ext cx="3175000" cy="23495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D7428E7C-98FC-6644-A8E0-A9E4C562C131}"/>
              </a:ext>
            </a:extLst>
          </p:cNvPr>
          <p:cNvSpPr/>
          <p:nvPr/>
        </p:nvSpPr>
        <p:spPr>
          <a:xfrm>
            <a:off x="4889500" y="3810000"/>
            <a:ext cx="584200" cy="584200"/>
          </a:xfrm>
          <a:prstGeom prst="ellipse">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2200" b="1">
                <a:solidFill>
                  <a:srgbClr val="FFFFFF"/>
                </a:solidFill>
                <a:latin typeface="Poppins"/>
                <a:cs typeface="Poppins"/>
              </a:rPr>
              <a:t>2</a:t>
            </a:r>
          </a:p>
        </p:txBody>
      </p:sp>
      <p:sp>
        <p:nvSpPr>
          <p:cNvPr id="14" name="TextBox 13">
            <a:extLst>
              <a:ext uri="{FF2B5EF4-FFF2-40B4-BE49-F238E27FC236}">
                <a16:creationId xmlns:a16="http://schemas.microsoft.com/office/drawing/2014/main" id="{04EF1ADC-514E-EF43-95FD-48CD294A5B25}"/>
              </a:ext>
            </a:extLst>
          </p:cNvPr>
          <p:cNvSpPr txBox="1"/>
          <p:nvPr/>
        </p:nvSpPr>
        <p:spPr>
          <a:xfrm>
            <a:off x="4889500" y="4546600"/>
            <a:ext cx="2667000" cy="381000"/>
          </a:xfrm>
          <a:prstGeom prst="rect">
            <a:avLst/>
          </a:prstGeom>
          <a:noFill/>
        </p:spPr>
        <p:txBody>
          <a:bodyPr vertOverflow="overflow" vert="horz" wrap="square" rtlCol="0" anchor="t">
            <a:spAutoFit/>
          </a:bodyPr>
          <a:lstStyle/>
          <a:p>
            <a:pPr algn="l"/>
            <a:r>
              <a:rPr lang="en-US" sz="1900" b="1">
                <a:solidFill>
                  <a:srgbClr val="0E8A8A"/>
                </a:solidFill>
                <a:latin typeface="Poppins"/>
                <a:cs typeface="Poppins"/>
              </a:rPr>
              <a:t>Critical reflection</a:t>
            </a:r>
          </a:p>
        </p:txBody>
      </p:sp>
      <p:sp>
        <p:nvSpPr>
          <p:cNvPr id="15" name="TextBox 14">
            <a:extLst>
              <a:ext uri="{FF2B5EF4-FFF2-40B4-BE49-F238E27FC236}">
                <a16:creationId xmlns:a16="http://schemas.microsoft.com/office/drawing/2014/main" id="{93FF55DF-4C62-A84D-A7B3-CCB7D409D23D}"/>
              </a:ext>
            </a:extLst>
          </p:cNvPr>
          <p:cNvSpPr txBox="1"/>
          <p:nvPr/>
        </p:nvSpPr>
        <p:spPr>
          <a:xfrm>
            <a:off x="4889500" y="4978400"/>
            <a:ext cx="2667000" cy="1016000"/>
          </a:xfrm>
          <a:prstGeom prst="rect">
            <a:avLst/>
          </a:prstGeom>
          <a:noFill/>
        </p:spPr>
        <p:txBody>
          <a:bodyPr vertOverflow="overflow" vert="horz" wrap="square" rtlCol="0" anchor="t">
            <a:spAutoFit/>
          </a:bodyPr>
          <a:lstStyle/>
          <a:p>
            <a:pPr algn="l"/>
            <a:r>
              <a:rPr lang="en-US" sz="1400">
                <a:solidFill>
                  <a:srgbClr val="33474F"/>
                </a:solidFill>
                <a:latin typeface="Source Sans Pro"/>
                <a:ea typeface="Source Sans Pro"/>
              </a:rPr>
              <a:t>You question your assumptions, often with strong emotion.</a:t>
            </a:r>
          </a:p>
        </p:txBody>
      </p:sp>
      <p:sp>
        <p:nvSpPr>
          <p:cNvPr id="16" name="Right Arrow 15">
            <a:extLst>
              <a:ext uri="{FF2B5EF4-FFF2-40B4-BE49-F238E27FC236}">
                <a16:creationId xmlns:a16="http://schemas.microsoft.com/office/drawing/2014/main" id="{F1F64691-1A8D-2347-B143-A366DA83B404}"/>
              </a:ext>
            </a:extLst>
          </p:cNvPr>
          <p:cNvSpPr/>
          <p:nvPr/>
        </p:nvSpPr>
        <p:spPr>
          <a:xfrm>
            <a:off x="7861300" y="4508500"/>
            <a:ext cx="342900" cy="304800"/>
          </a:xfrm>
          <a:prstGeom prst="rightArrow">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ounded Rectangle 16">
            <a:extLst>
              <a:ext uri="{FF2B5EF4-FFF2-40B4-BE49-F238E27FC236}">
                <a16:creationId xmlns:a16="http://schemas.microsoft.com/office/drawing/2014/main" id="{00D2B08A-1BB5-7A47-A746-05615CC94A27}"/>
              </a:ext>
            </a:extLst>
          </p:cNvPr>
          <p:cNvSpPr/>
          <p:nvPr/>
        </p:nvSpPr>
        <p:spPr>
          <a:xfrm>
            <a:off x="8255000" y="3556000"/>
            <a:ext cx="3175000" cy="23495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Oval 17">
            <a:extLst>
              <a:ext uri="{FF2B5EF4-FFF2-40B4-BE49-F238E27FC236}">
                <a16:creationId xmlns:a16="http://schemas.microsoft.com/office/drawing/2014/main" id="{5368F7A7-B589-744C-9CA0-C538448F650E}"/>
              </a:ext>
            </a:extLst>
          </p:cNvPr>
          <p:cNvSpPr/>
          <p:nvPr/>
        </p:nvSpPr>
        <p:spPr>
          <a:xfrm>
            <a:off x="8509000" y="3810000"/>
            <a:ext cx="584200" cy="584200"/>
          </a:xfrm>
          <a:prstGeom prst="ellipse">
            <a:avLst/>
          </a:prstGeom>
          <a:solidFill>
            <a:srgbClr val="1F4E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2200" b="1">
                <a:solidFill>
                  <a:srgbClr val="FFFFFF"/>
                </a:solidFill>
                <a:latin typeface="Poppins"/>
                <a:cs typeface="Poppins"/>
              </a:rPr>
              <a:t>3</a:t>
            </a:r>
          </a:p>
        </p:txBody>
      </p:sp>
      <p:sp>
        <p:nvSpPr>
          <p:cNvPr id="19" name="TextBox 18">
            <a:extLst>
              <a:ext uri="{FF2B5EF4-FFF2-40B4-BE49-F238E27FC236}">
                <a16:creationId xmlns:a16="http://schemas.microsoft.com/office/drawing/2014/main" id="{E0A5EB38-2FB3-DC4E-BB61-E586DA028A7C}"/>
              </a:ext>
            </a:extLst>
          </p:cNvPr>
          <p:cNvSpPr txBox="1"/>
          <p:nvPr/>
        </p:nvSpPr>
        <p:spPr>
          <a:xfrm>
            <a:off x="8509000" y="4546600"/>
            <a:ext cx="2667000" cy="381000"/>
          </a:xfrm>
          <a:prstGeom prst="rect">
            <a:avLst/>
          </a:prstGeom>
          <a:noFill/>
        </p:spPr>
        <p:txBody>
          <a:bodyPr vertOverflow="overflow" vert="horz" wrap="square" rtlCol="0" anchor="t">
            <a:spAutoFit/>
          </a:bodyPr>
          <a:lstStyle/>
          <a:p>
            <a:pPr algn="l"/>
            <a:r>
              <a:rPr lang="en-US" sz="1900" b="1">
                <a:solidFill>
                  <a:srgbClr val="1F4E6B"/>
                </a:solidFill>
                <a:latin typeface="Poppins"/>
                <a:cs typeface="Poppins"/>
              </a:rPr>
              <a:t>Perspective shift</a:t>
            </a:r>
          </a:p>
        </p:txBody>
      </p:sp>
      <p:sp>
        <p:nvSpPr>
          <p:cNvPr id="20" name="TextBox 19">
            <a:extLst>
              <a:ext uri="{FF2B5EF4-FFF2-40B4-BE49-F238E27FC236}">
                <a16:creationId xmlns:a16="http://schemas.microsoft.com/office/drawing/2014/main" id="{4209A36B-C1CA-334F-8215-D7072A129E0F}"/>
              </a:ext>
            </a:extLst>
          </p:cNvPr>
          <p:cNvSpPr txBox="1"/>
          <p:nvPr/>
        </p:nvSpPr>
        <p:spPr>
          <a:xfrm>
            <a:off x="8509000" y="4978400"/>
            <a:ext cx="2667000" cy="1016000"/>
          </a:xfrm>
          <a:prstGeom prst="rect">
            <a:avLst/>
          </a:prstGeom>
          <a:noFill/>
        </p:spPr>
        <p:txBody>
          <a:bodyPr vertOverflow="overflow" vert="horz" wrap="square" rtlCol="0" anchor="t">
            <a:spAutoFit/>
          </a:bodyPr>
          <a:lstStyle/>
          <a:p>
            <a:pPr algn="l"/>
            <a:r>
              <a:rPr lang="en-US" sz="1400">
                <a:solidFill>
                  <a:srgbClr val="33474F"/>
                </a:solidFill>
                <a:latin typeface="Source Sans Pro"/>
                <a:ea typeface="Source Sans Pro"/>
              </a:rPr>
              <a:t>You adopt a new, deeper view of yourself or the world.</a:t>
            </a:r>
          </a:p>
        </p:txBody>
      </p:sp>
      <p:sp>
        <p:nvSpPr>
          <p:cNvPr id="21" name="Citation">
            <a:extLst>
              <a:ext uri="{FF2B5EF4-FFF2-40B4-BE49-F238E27FC236}">
                <a16:creationId xmlns:a16="http://schemas.microsoft.com/office/drawing/2014/main" id="{F27BB81B-7D87-B148-AC79-6BCDEE084887}"/>
              </a:ext>
            </a:extLst>
          </p:cNvPr>
          <p:cNvSpPr txBox="1"/>
          <p:nvPr/>
        </p:nvSpPr>
        <p:spPr>
          <a:xfrm>
            <a:off x="1016000" y="6350000"/>
            <a:ext cx="10541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Mezirow J. Transformative Learning. 1981. In: Sandars J. AMEE Guide No. 44. Med Teach. 2009;31:685–695.</a:t>
            </a:r>
          </a:p>
        </p:txBody>
      </p:sp>
    </p:spTree>
    <p:extLst>
      <p:ext uri="{BB962C8B-B14F-4D97-AF65-F5344CB8AC3E}">
        <p14:creationId xmlns:p14="http://schemas.microsoft.com/office/powerpoint/2010/main" val="34866471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9115C261-F904-4C4B-91BC-107A8138A76E}"/>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333BE34D-FE23-5348-A4BE-8EAF3C3F0A6C}"/>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THEORY · DEPTH</a:t>
            </a:r>
          </a:p>
        </p:txBody>
      </p:sp>
      <p:sp>
        <p:nvSpPr>
          <p:cNvPr id="4" name="SlideTitle">
            <a:extLst>
              <a:ext uri="{FF2B5EF4-FFF2-40B4-BE49-F238E27FC236}">
                <a16:creationId xmlns:a16="http://schemas.microsoft.com/office/drawing/2014/main" id="{431AED3B-572F-6F48-BE8F-EE06C9D9CD09}"/>
              </a:ext>
            </a:extLst>
          </p:cNvPr>
          <p:cNvSpPr txBox="1"/>
          <p:nvPr/>
        </p:nvSpPr>
        <p:spPr>
          <a:xfrm>
            <a:off x="990600" y="1219200"/>
            <a:ext cx="10414000" cy="889000"/>
          </a:xfrm>
          <a:prstGeom prst="rect">
            <a:avLst/>
          </a:prstGeom>
          <a:noFill/>
        </p:spPr>
        <p:txBody>
          <a:bodyPr vertOverflow="overflow" vert="horz" wrap="square" rtlCol="0" anchor="t">
            <a:spAutoFit/>
          </a:bodyPr>
          <a:lstStyle/>
          <a:p>
            <a:pPr algn="l"/>
            <a:r>
              <a:rPr lang="en-US" sz="4000" b="1">
                <a:solidFill>
                  <a:srgbClr val="0E2A3B"/>
                </a:solidFill>
                <a:latin typeface="Poppins"/>
                <a:cs typeface="Poppins"/>
              </a:rPr>
              <a:t>Levels of reflection</a:t>
            </a:r>
          </a:p>
        </p:txBody>
      </p:sp>
      <p:sp>
        <p:nvSpPr>
          <p:cNvPr id="5" name="Rectangle 4">
            <a:extLst>
              <a:ext uri="{FF2B5EF4-FFF2-40B4-BE49-F238E27FC236}">
                <a16:creationId xmlns:a16="http://schemas.microsoft.com/office/drawing/2014/main" id="{A4FFC9BB-E5A2-104F-BF0A-9C5F807508A1}"/>
              </a:ext>
            </a:extLst>
          </p:cNvPr>
          <p:cNvSpPr/>
          <p:nvPr/>
        </p:nvSpPr>
        <p:spPr>
          <a:xfrm>
            <a:off x="1041400" y="21082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E33F4B2B-FD3E-6C47-9F73-4A0072731107}"/>
              </a:ext>
            </a:extLst>
          </p:cNvPr>
          <p:cNvSpPr txBox="1"/>
          <p:nvPr/>
        </p:nvSpPr>
        <p:spPr>
          <a:xfrm>
            <a:off x="1016000" y="2438400"/>
            <a:ext cx="10541000" cy="381000"/>
          </a:xfrm>
          <a:prstGeom prst="rect">
            <a:avLst/>
          </a:prstGeom>
          <a:noFill/>
        </p:spPr>
        <p:txBody>
          <a:bodyPr vertOverflow="overflow" vert="horz" wrap="square" rtlCol="0" anchor="t">
            <a:spAutoFit/>
          </a:bodyPr>
          <a:lstStyle/>
          <a:p>
            <a:pPr>
              <a:buNone/>
            </a:pPr>
            <a:r>
              <a:rPr lang="en-US" sz="1800" dirty="0">
                <a:solidFill>
                  <a:srgbClr val="33474F"/>
                </a:solidFill>
              </a:rPr>
              <a:t>Reflection has </a:t>
            </a:r>
            <a:r>
              <a:rPr lang="en-US" sz="1900" b="1" dirty="0">
                <a:solidFill>
                  <a:srgbClr val="0E8A8A"/>
                </a:solidFill>
              </a:rPr>
              <a:t>depth</a:t>
            </a:r>
            <a:r>
              <a:rPr lang="en-US" sz="1800" dirty="0">
                <a:solidFill>
                  <a:srgbClr val="33474F"/>
                </a:solidFill>
              </a:rPr>
              <a:t>. Moving from surface description to </a:t>
            </a:r>
            <a:r>
              <a:rPr lang="en-US" sz="1900" b="1" dirty="0">
                <a:solidFill>
                  <a:srgbClr val="E08A3C"/>
                </a:solidFill>
              </a:rPr>
              <a:t>deep, transformative reflection</a:t>
            </a:r>
            <a:r>
              <a:rPr lang="en-US" sz="1800" dirty="0">
                <a:solidFill>
                  <a:srgbClr val="33474F"/>
                </a:solidFill>
              </a:rPr>
              <a:t> is the goal.</a:t>
            </a:r>
          </a:p>
        </p:txBody>
      </p:sp>
      <p:sp>
        <p:nvSpPr>
          <p:cNvPr id="7" name="Rounded Rectangle 6">
            <a:extLst>
              <a:ext uri="{FF2B5EF4-FFF2-40B4-BE49-F238E27FC236}">
                <a16:creationId xmlns:a16="http://schemas.microsoft.com/office/drawing/2014/main" id="{76256800-058E-E448-B9B5-970D012ED4FC}"/>
              </a:ext>
            </a:extLst>
          </p:cNvPr>
          <p:cNvSpPr/>
          <p:nvPr/>
        </p:nvSpPr>
        <p:spPr>
          <a:xfrm>
            <a:off x="1397000" y="4445000"/>
            <a:ext cx="2667000" cy="1524000"/>
          </a:xfrm>
          <a:prstGeom prst="roundRect">
            <a:avLst/>
          </a:prstGeom>
          <a:solidFill>
            <a:srgbClr val="5BC0B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0685C49A-D91B-5E48-ABEE-330090D44D5A}"/>
              </a:ext>
            </a:extLst>
          </p:cNvPr>
          <p:cNvSpPr txBox="1"/>
          <p:nvPr/>
        </p:nvSpPr>
        <p:spPr>
          <a:xfrm>
            <a:off x="1549400" y="4622800"/>
            <a:ext cx="2362200" cy="685800"/>
          </a:xfrm>
          <a:prstGeom prst="rect">
            <a:avLst/>
          </a:prstGeom>
          <a:noFill/>
        </p:spPr>
        <p:txBody>
          <a:bodyPr vertOverflow="overflow" vert="horz" wrap="square" rtlCol="0" anchor="t">
            <a:spAutoFit/>
          </a:bodyPr>
          <a:lstStyle/>
          <a:p>
            <a:pPr algn="l"/>
            <a:r>
              <a:rPr lang="en-US" b="1">
                <a:solidFill>
                  <a:srgbClr val="FFFFFF"/>
                </a:solidFill>
                <a:latin typeface="Poppins"/>
                <a:cs typeface="Poppins"/>
              </a:rPr>
              <a:t>Superficial</a:t>
            </a:r>
          </a:p>
        </p:txBody>
      </p:sp>
      <p:sp>
        <p:nvSpPr>
          <p:cNvPr id="9" name="TextBox 8">
            <a:extLst>
              <a:ext uri="{FF2B5EF4-FFF2-40B4-BE49-F238E27FC236}">
                <a16:creationId xmlns:a16="http://schemas.microsoft.com/office/drawing/2014/main" id="{45BAEDDE-39FD-3440-A0BA-67B2E3D220A6}"/>
              </a:ext>
            </a:extLst>
          </p:cNvPr>
          <p:cNvSpPr txBox="1"/>
          <p:nvPr/>
        </p:nvSpPr>
        <p:spPr>
          <a:xfrm>
            <a:off x="1320800" y="5969000"/>
            <a:ext cx="2819400" cy="482600"/>
          </a:xfrm>
          <a:prstGeom prst="rect">
            <a:avLst/>
          </a:prstGeom>
          <a:noFill/>
        </p:spPr>
        <p:txBody>
          <a:bodyPr vertOverflow="overflow" vert="horz" wrap="square" rtlCol="0" anchor="t">
            <a:spAutoFit/>
          </a:bodyPr>
          <a:lstStyle/>
          <a:p>
            <a:pPr algn="l"/>
            <a:r>
              <a:rPr lang="en-US" sz="1300">
                <a:solidFill>
                  <a:srgbClr val="33474F"/>
                </a:solidFill>
                <a:latin typeface="Source Sans Pro"/>
                <a:ea typeface="Source Sans Pro"/>
              </a:rPr>
              <a:t>Description of events only, “what happened.”</a:t>
            </a:r>
          </a:p>
        </p:txBody>
      </p:sp>
      <p:sp>
        <p:nvSpPr>
          <p:cNvPr id="10" name="Rounded Rectangle 9">
            <a:extLst>
              <a:ext uri="{FF2B5EF4-FFF2-40B4-BE49-F238E27FC236}">
                <a16:creationId xmlns:a16="http://schemas.microsoft.com/office/drawing/2014/main" id="{846056EB-C022-9942-B26B-E00B70FD7687}"/>
              </a:ext>
            </a:extLst>
          </p:cNvPr>
          <p:cNvSpPr/>
          <p:nvPr/>
        </p:nvSpPr>
        <p:spPr>
          <a:xfrm>
            <a:off x="4635500" y="3746500"/>
            <a:ext cx="2667000" cy="2222500"/>
          </a:xfrm>
          <a:prstGeom prst="roundRect">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6F6222C5-7A6C-0744-9E94-219FE48A1FD1}"/>
              </a:ext>
            </a:extLst>
          </p:cNvPr>
          <p:cNvSpPr txBox="1"/>
          <p:nvPr/>
        </p:nvSpPr>
        <p:spPr>
          <a:xfrm>
            <a:off x="4787900" y="3924300"/>
            <a:ext cx="2362200" cy="685800"/>
          </a:xfrm>
          <a:prstGeom prst="rect">
            <a:avLst/>
          </a:prstGeom>
          <a:noFill/>
        </p:spPr>
        <p:txBody>
          <a:bodyPr vertOverflow="overflow" vert="horz" wrap="square" rtlCol="0" anchor="t">
            <a:spAutoFit/>
          </a:bodyPr>
          <a:lstStyle/>
          <a:p>
            <a:pPr algn="l"/>
            <a:r>
              <a:rPr lang="en-US" b="1">
                <a:solidFill>
                  <a:srgbClr val="FFFFFF"/>
                </a:solidFill>
                <a:latin typeface="Poppins"/>
                <a:cs typeface="Poppins"/>
              </a:rPr>
              <a:t>Analytical</a:t>
            </a:r>
          </a:p>
        </p:txBody>
      </p:sp>
      <p:sp>
        <p:nvSpPr>
          <p:cNvPr id="12" name="TextBox 11">
            <a:extLst>
              <a:ext uri="{FF2B5EF4-FFF2-40B4-BE49-F238E27FC236}">
                <a16:creationId xmlns:a16="http://schemas.microsoft.com/office/drawing/2014/main" id="{387E673A-AC60-7F49-ABCA-307AB644778B}"/>
              </a:ext>
            </a:extLst>
          </p:cNvPr>
          <p:cNvSpPr txBox="1"/>
          <p:nvPr/>
        </p:nvSpPr>
        <p:spPr>
          <a:xfrm>
            <a:off x="4559300" y="5969000"/>
            <a:ext cx="2819400" cy="482600"/>
          </a:xfrm>
          <a:prstGeom prst="rect">
            <a:avLst/>
          </a:prstGeom>
          <a:noFill/>
        </p:spPr>
        <p:txBody>
          <a:bodyPr vertOverflow="overflow" vert="horz" wrap="square" rtlCol="0" anchor="t">
            <a:spAutoFit/>
          </a:bodyPr>
          <a:lstStyle/>
          <a:p>
            <a:pPr algn="l"/>
            <a:r>
              <a:rPr lang="en-US" sz="1300">
                <a:solidFill>
                  <a:srgbClr val="33474F"/>
                </a:solidFill>
                <a:latin typeface="Source Sans Pro"/>
                <a:ea typeface="Source Sans Pro"/>
              </a:rPr>
              <a:t>Stepping back to examine why, with some questioning.</a:t>
            </a:r>
          </a:p>
        </p:txBody>
      </p:sp>
      <p:sp>
        <p:nvSpPr>
          <p:cNvPr id="13" name="Rounded Rectangle 12">
            <a:extLst>
              <a:ext uri="{FF2B5EF4-FFF2-40B4-BE49-F238E27FC236}">
                <a16:creationId xmlns:a16="http://schemas.microsoft.com/office/drawing/2014/main" id="{D7BCBC8D-E574-CE42-A46D-63EC43AC3CD2}"/>
              </a:ext>
            </a:extLst>
          </p:cNvPr>
          <p:cNvSpPr/>
          <p:nvPr/>
        </p:nvSpPr>
        <p:spPr>
          <a:xfrm>
            <a:off x="7874000" y="3403600"/>
            <a:ext cx="2667000" cy="2565400"/>
          </a:xfrm>
          <a:prstGeom prst="roundRect">
            <a:avLst/>
          </a:prstGeom>
          <a:solidFill>
            <a:srgbClr val="1F4E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8FAE6D0B-DFA6-554B-A76D-C68868976E8E}"/>
              </a:ext>
            </a:extLst>
          </p:cNvPr>
          <p:cNvSpPr txBox="1"/>
          <p:nvPr/>
        </p:nvSpPr>
        <p:spPr>
          <a:xfrm>
            <a:off x="8026400" y="3581400"/>
            <a:ext cx="2362200" cy="685800"/>
          </a:xfrm>
          <a:prstGeom prst="rect">
            <a:avLst/>
          </a:prstGeom>
          <a:noFill/>
        </p:spPr>
        <p:txBody>
          <a:bodyPr vertOverflow="overflow" vert="horz" wrap="square" rtlCol="0" anchor="t">
            <a:spAutoFit/>
          </a:bodyPr>
          <a:lstStyle/>
          <a:p>
            <a:pPr algn="l"/>
            <a:r>
              <a:rPr lang="en-US" b="1">
                <a:solidFill>
                  <a:srgbClr val="FFFFFF"/>
                </a:solidFill>
                <a:latin typeface="Poppins"/>
                <a:cs typeface="Poppins"/>
              </a:rPr>
              <a:t>Deep / transformative</a:t>
            </a:r>
          </a:p>
        </p:txBody>
      </p:sp>
      <p:sp>
        <p:nvSpPr>
          <p:cNvPr id="15" name="TextBox 14">
            <a:extLst>
              <a:ext uri="{FF2B5EF4-FFF2-40B4-BE49-F238E27FC236}">
                <a16:creationId xmlns:a16="http://schemas.microsoft.com/office/drawing/2014/main" id="{BB349707-7F60-7743-9FE0-C00A9F21DD7F}"/>
              </a:ext>
            </a:extLst>
          </p:cNvPr>
          <p:cNvSpPr txBox="1"/>
          <p:nvPr/>
        </p:nvSpPr>
        <p:spPr>
          <a:xfrm>
            <a:off x="7797800" y="5969000"/>
            <a:ext cx="2819400" cy="482600"/>
          </a:xfrm>
          <a:prstGeom prst="rect">
            <a:avLst/>
          </a:prstGeom>
          <a:noFill/>
        </p:spPr>
        <p:txBody>
          <a:bodyPr vertOverflow="overflow" vert="horz" wrap="square" rtlCol="0" anchor="t">
            <a:spAutoFit/>
          </a:bodyPr>
          <a:lstStyle/>
          <a:p>
            <a:pPr algn="l"/>
            <a:r>
              <a:rPr lang="en-US" sz="1300">
                <a:solidFill>
                  <a:srgbClr val="33474F"/>
                </a:solidFill>
                <a:latin typeface="Source Sans Pro"/>
                <a:ea typeface="Source Sans Pro"/>
              </a:rPr>
              <a:t>Challenging and changing beliefs and perspectives.</a:t>
            </a:r>
          </a:p>
        </p:txBody>
      </p:sp>
      <p:sp>
        <p:nvSpPr>
          <p:cNvPr id="16" name="Right Arrow 15">
            <a:extLst>
              <a:ext uri="{FF2B5EF4-FFF2-40B4-BE49-F238E27FC236}">
                <a16:creationId xmlns:a16="http://schemas.microsoft.com/office/drawing/2014/main" id="{64771192-2EFA-AF42-AFDF-3B85D94F2049}"/>
              </a:ext>
            </a:extLst>
          </p:cNvPr>
          <p:cNvSpPr/>
          <p:nvPr/>
        </p:nvSpPr>
        <p:spPr>
          <a:xfrm>
            <a:off x="1397000" y="3175000"/>
            <a:ext cx="6350000" cy="177800"/>
          </a:xfrm>
          <a:prstGeom prst="rightArrow">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397A409F-C6C0-F049-965E-A7AAAFADB00F}"/>
              </a:ext>
            </a:extLst>
          </p:cNvPr>
          <p:cNvSpPr txBox="1"/>
          <p:nvPr/>
        </p:nvSpPr>
        <p:spPr>
          <a:xfrm>
            <a:off x="1397000" y="2895600"/>
            <a:ext cx="8509000" cy="254000"/>
          </a:xfrm>
          <a:prstGeom prst="rect">
            <a:avLst/>
          </a:prstGeom>
          <a:noFill/>
        </p:spPr>
        <p:txBody>
          <a:bodyPr vertOverflow="overflow" vert="horz" wrap="square" rtlCol="0" anchor="t">
            <a:spAutoFit/>
          </a:bodyPr>
          <a:lstStyle/>
          <a:p>
            <a:pPr algn="l"/>
            <a:r>
              <a:rPr lang="en-US" sz="1300" b="1">
                <a:solidFill>
                  <a:srgbClr val="E08A3C"/>
                </a:solidFill>
                <a:latin typeface="Source Sans Pro"/>
                <a:ea typeface="Source Sans Pro"/>
              </a:rPr>
              <a:t>Increasing depth of reflection</a:t>
            </a:r>
          </a:p>
        </p:txBody>
      </p:sp>
      <p:sp>
        <p:nvSpPr>
          <p:cNvPr id="18" name="Citation">
            <a:extLst>
              <a:ext uri="{FF2B5EF4-FFF2-40B4-BE49-F238E27FC236}">
                <a16:creationId xmlns:a16="http://schemas.microsoft.com/office/drawing/2014/main" id="{423B00E9-469A-9D4F-82D5-097B25DC1EC1}"/>
              </a:ext>
            </a:extLst>
          </p:cNvPr>
          <p:cNvSpPr txBox="1"/>
          <p:nvPr/>
        </p:nvSpPr>
        <p:spPr>
          <a:xfrm>
            <a:off x="1016000" y="6527800"/>
            <a:ext cx="10541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Sandars J. The use of reflection in medical education: AMEE Guide No. 44. Medical Teacher. 2009;31:685–695.</a:t>
            </a:r>
          </a:p>
        </p:txBody>
      </p:sp>
    </p:spTree>
    <p:extLst>
      <p:ext uri="{BB962C8B-B14F-4D97-AF65-F5344CB8AC3E}">
        <p14:creationId xmlns:p14="http://schemas.microsoft.com/office/powerpoint/2010/main" val="19451279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viderBG">
            <a:extLst>
              <a:ext uri="{FF2B5EF4-FFF2-40B4-BE49-F238E27FC236}">
                <a16:creationId xmlns:a16="http://schemas.microsoft.com/office/drawing/2014/main" id="{0933CF00-C2DC-B046-8BAB-365752E59B4E}"/>
              </a:ext>
            </a:extLst>
          </p:cNvPr>
          <p:cNvSpPr/>
          <p:nvPr/>
        </p:nvSpPr>
        <p:spPr>
          <a:xfrm>
            <a:off x="0" y="0"/>
            <a:ext cx="12192000" cy="6858000"/>
          </a:xfrm>
          <a:prstGeom prst="rect">
            <a:avLst/>
          </a:prstGeom>
          <a:solidFill>
            <a:srgbClr val="0E2A3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flectionOrbit">
            <a:extLst>
              <a:ext uri="{FF2B5EF4-FFF2-40B4-BE49-F238E27FC236}">
                <a16:creationId xmlns:a16="http://schemas.microsoft.com/office/drawing/2014/main" id="{5575FF3A-CB18-B34D-954D-7C88A9DF253B}"/>
              </a:ext>
            </a:extLst>
          </p:cNvPr>
          <p:cNvSpPr/>
          <p:nvPr/>
        </p:nvSpPr>
        <p:spPr>
          <a:xfrm>
            <a:off x="7112000" y="762000"/>
            <a:ext cx="5334000" cy="5334000"/>
          </a:xfrm>
          <a:prstGeom prst="ellipse">
            <a:avLst/>
          </a:prstGeom>
          <a:noFill/>
          <a:ln w="19050" cap="flat" cmpd="sng" algn="ctr">
            <a:solidFill>
              <a:srgbClr val="5BC0B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flectionOrb">
            <a:extLst>
              <a:ext uri="{FF2B5EF4-FFF2-40B4-BE49-F238E27FC236}">
                <a16:creationId xmlns:a16="http://schemas.microsoft.com/office/drawing/2014/main" id="{C6298481-1CFA-584B-9480-9909CE9E5122}"/>
              </a:ext>
            </a:extLst>
          </p:cNvPr>
          <p:cNvSpPr/>
          <p:nvPr/>
        </p:nvSpPr>
        <p:spPr>
          <a:xfrm>
            <a:off x="7747000" y="1397000"/>
            <a:ext cx="4064000" cy="4064000"/>
          </a:xfrm>
          <a:prstGeom prst="ellipse">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flectionOrbInner">
            <a:extLst>
              <a:ext uri="{FF2B5EF4-FFF2-40B4-BE49-F238E27FC236}">
                <a16:creationId xmlns:a16="http://schemas.microsoft.com/office/drawing/2014/main" id="{9FE1B0DC-F48D-DC4F-91F0-91A8DFA736D7}"/>
              </a:ext>
            </a:extLst>
          </p:cNvPr>
          <p:cNvSpPr/>
          <p:nvPr/>
        </p:nvSpPr>
        <p:spPr>
          <a:xfrm>
            <a:off x="8509000" y="2159000"/>
            <a:ext cx="2540000" cy="2540000"/>
          </a:xfrm>
          <a:prstGeom prst="ellipse">
            <a:avLst/>
          </a:prstGeom>
          <a:solidFill>
            <a:srgbClr val="12B5A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FE0C1F9A-1F2C-A648-8FD2-1D3B2A9297BB}"/>
              </a:ext>
            </a:extLst>
          </p:cNvPr>
          <p:cNvSpPr txBox="1"/>
          <p:nvPr/>
        </p:nvSpPr>
        <p:spPr>
          <a:xfrm>
            <a:off x="1016000" y="2286000"/>
            <a:ext cx="3810000" cy="355600"/>
          </a:xfrm>
          <a:prstGeom prst="rect">
            <a:avLst/>
          </a:prstGeom>
          <a:noFill/>
        </p:spPr>
        <p:txBody>
          <a:bodyPr vertOverflow="overflow" vert="horz" wrap="square" rtlCol="0" anchor="t">
            <a:spAutoFit/>
          </a:bodyPr>
          <a:lstStyle/>
          <a:p>
            <a:pPr algn="l"/>
            <a:r>
              <a:rPr lang="en-US" sz="1600" b="1">
                <a:solidFill>
                  <a:srgbClr val="5BC0BE"/>
                </a:solidFill>
                <a:latin typeface="Source Sans Pro"/>
                <a:ea typeface="Source Sans Pro"/>
              </a:rPr>
              <a:t>PART TWO</a:t>
            </a:r>
          </a:p>
        </p:txBody>
      </p:sp>
      <p:sp>
        <p:nvSpPr>
          <p:cNvPr id="7" name="HeroWord">
            <a:extLst>
              <a:ext uri="{FF2B5EF4-FFF2-40B4-BE49-F238E27FC236}">
                <a16:creationId xmlns:a16="http://schemas.microsoft.com/office/drawing/2014/main" id="{95C199E2-C23A-164B-83DF-D3B84FA5ADF0}"/>
              </a:ext>
            </a:extLst>
          </p:cNvPr>
          <p:cNvSpPr txBox="1"/>
          <p:nvPr/>
        </p:nvSpPr>
        <p:spPr>
          <a:xfrm>
            <a:off x="889000" y="2667000"/>
            <a:ext cx="6604000" cy="2032000"/>
          </a:xfrm>
          <a:prstGeom prst="rect">
            <a:avLst/>
          </a:prstGeom>
          <a:noFill/>
        </p:spPr>
        <p:txBody>
          <a:bodyPr vertOverflow="overflow" vert="horz" wrap="square" rtlCol="0" anchor="t">
            <a:spAutoFit/>
          </a:bodyPr>
          <a:lstStyle/>
          <a:p>
            <a:pPr algn="l"/>
            <a:r>
              <a:rPr lang="en-US" sz="5200" b="1" dirty="0">
                <a:solidFill>
                  <a:srgbClr val="FFFFFF"/>
                </a:solidFill>
                <a:latin typeface="Poppins"/>
                <a:cs typeface="Poppins"/>
              </a:rPr>
              <a:t>From theory to practice</a:t>
            </a:r>
          </a:p>
        </p:txBody>
      </p:sp>
      <p:sp>
        <p:nvSpPr>
          <p:cNvPr id="8" name="TextBox 7">
            <a:extLst>
              <a:ext uri="{FF2B5EF4-FFF2-40B4-BE49-F238E27FC236}">
                <a16:creationId xmlns:a16="http://schemas.microsoft.com/office/drawing/2014/main" id="{DFA41233-956D-FA4D-95CD-238B675953AF}"/>
              </a:ext>
            </a:extLst>
          </p:cNvPr>
          <p:cNvSpPr txBox="1"/>
          <p:nvPr/>
        </p:nvSpPr>
        <p:spPr>
          <a:xfrm>
            <a:off x="1016000" y="4572000"/>
            <a:ext cx="5969000" cy="889000"/>
          </a:xfrm>
          <a:prstGeom prst="rect">
            <a:avLst/>
          </a:prstGeom>
          <a:noFill/>
        </p:spPr>
        <p:txBody>
          <a:bodyPr vertOverflow="overflow" vert="horz" wrap="square" rtlCol="0" anchor="t">
            <a:spAutoFit/>
          </a:bodyPr>
          <a:lstStyle/>
          <a:p>
            <a:pPr algn="l"/>
            <a:r>
              <a:rPr lang="en-US">
                <a:solidFill>
                  <a:srgbClr val="AEC4CC"/>
                </a:solidFill>
                <a:latin typeface="Source Sans Pro"/>
                <a:ea typeface="Source Sans Pro"/>
              </a:rPr>
              <a:t>How to actually reflect, the skills, techniques and habits you can use every day.</a:t>
            </a:r>
          </a:p>
        </p:txBody>
      </p:sp>
      <p:sp>
        <p:nvSpPr>
          <p:cNvPr id="9" name="Rectangle 8">
            <a:extLst>
              <a:ext uri="{FF2B5EF4-FFF2-40B4-BE49-F238E27FC236}">
                <a16:creationId xmlns:a16="http://schemas.microsoft.com/office/drawing/2014/main" id="{8817EEBE-408D-4248-BDA6-A754A918265F}"/>
              </a:ext>
            </a:extLst>
          </p:cNvPr>
          <p:cNvSpPr/>
          <p:nvPr/>
        </p:nvSpPr>
        <p:spPr>
          <a:xfrm>
            <a:off x="993274" y="4399546"/>
            <a:ext cx="1397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2634519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D4BB704-5336-B945-944C-4A69BE9A6B94}"/>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8F4E9806-12D4-C04C-AB51-FD6AADB7A6EA}"/>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PRACTICE · SKILLS</a:t>
            </a:r>
          </a:p>
        </p:txBody>
      </p:sp>
      <p:sp>
        <p:nvSpPr>
          <p:cNvPr id="4" name="SlideTitle">
            <a:extLst>
              <a:ext uri="{FF2B5EF4-FFF2-40B4-BE49-F238E27FC236}">
                <a16:creationId xmlns:a16="http://schemas.microsoft.com/office/drawing/2014/main" id="{4A8630A3-1D7D-AD43-91F4-4060607C3B0E}"/>
              </a:ext>
            </a:extLst>
          </p:cNvPr>
          <p:cNvSpPr txBox="1"/>
          <p:nvPr/>
        </p:nvSpPr>
        <p:spPr>
          <a:xfrm>
            <a:off x="990600" y="1219200"/>
            <a:ext cx="10414000" cy="889000"/>
          </a:xfrm>
          <a:prstGeom prst="rect">
            <a:avLst/>
          </a:prstGeom>
          <a:noFill/>
        </p:spPr>
        <p:txBody>
          <a:bodyPr vertOverflow="overflow" vert="horz" wrap="square" rtlCol="0" anchor="t">
            <a:spAutoFit/>
          </a:bodyPr>
          <a:lstStyle/>
          <a:p>
            <a:pPr algn="l"/>
            <a:r>
              <a:rPr lang="en-US" sz="4000" b="1">
                <a:solidFill>
                  <a:srgbClr val="0E2A3B"/>
                </a:solidFill>
                <a:latin typeface="Poppins"/>
                <a:cs typeface="Poppins"/>
              </a:rPr>
              <a:t>Three metacognitive skills</a:t>
            </a:r>
          </a:p>
        </p:txBody>
      </p:sp>
      <p:sp>
        <p:nvSpPr>
          <p:cNvPr id="5" name="Rectangle 4">
            <a:extLst>
              <a:ext uri="{FF2B5EF4-FFF2-40B4-BE49-F238E27FC236}">
                <a16:creationId xmlns:a16="http://schemas.microsoft.com/office/drawing/2014/main" id="{388905B8-42C7-1B40-A683-B4DB72F92CE1}"/>
              </a:ext>
            </a:extLst>
          </p:cNvPr>
          <p:cNvSpPr/>
          <p:nvPr/>
        </p:nvSpPr>
        <p:spPr>
          <a:xfrm>
            <a:off x="1041400" y="21082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495A5DA0-49A2-A445-830E-760803E2040E}"/>
              </a:ext>
            </a:extLst>
          </p:cNvPr>
          <p:cNvSpPr txBox="1"/>
          <p:nvPr/>
        </p:nvSpPr>
        <p:spPr>
          <a:xfrm>
            <a:off x="1016000" y="2438400"/>
            <a:ext cx="10541000" cy="381000"/>
          </a:xfrm>
          <a:prstGeom prst="rect">
            <a:avLst/>
          </a:prstGeom>
          <a:noFill/>
        </p:spPr>
        <p:txBody>
          <a:bodyPr vertOverflow="overflow" vert="horz" wrap="square" rtlCol="0" anchor="t">
            <a:spAutoFit/>
          </a:bodyPr>
          <a:lstStyle/>
          <a:p>
            <a:pPr>
              <a:buNone/>
            </a:pPr>
            <a:r>
              <a:rPr lang="en-US" sz="1800" dirty="0">
                <a:solidFill>
                  <a:srgbClr val="33474F"/>
                </a:solidFill>
              </a:rPr>
              <a:t>To reflect well, you train </a:t>
            </a:r>
            <a:r>
              <a:rPr lang="en-US" sz="1900" b="1" dirty="0">
                <a:solidFill>
                  <a:srgbClr val="0E8A8A"/>
                </a:solidFill>
              </a:rPr>
              <a:t>three skills that work as a sequence</a:t>
            </a:r>
            <a:r>
              <a:rPr lang="en-US" sz="1800" dirty="0">
                <a:solidFill>
                  <a:srgbClr val="33474F"/>
                </a:solidFill>
              </a:rPr>
              <a:t>, </a:t>
            </a:r>
            <a:r>
              <a:rPr lang="en-US" sz="1900" b="1" dirty="0">
                <a:solidFill>
                  <a:srgbClr val="E08A3C"/>
                </a:solidFill>
              </a:rPr>
              <a:t>each one builds on the last</a:t>
            </a:r>
            <a:r>
              <a:rPr lang="en-US" sz="1800" dirty="0">
                <a:solidFill>
                  <a:srgbClr val="33474F"/>
                </a:solidFill>
              </a:rPr>
              <a:t>.</a:t>
            </a:r>
          </a:p>
        </p:txBody>
      </p:sp>
      <p:sp>
        <p:nvSpPr>
          <p:cNvPr id="7" name="Rounded Rectangle 6">
            <a:extLst>
              <a:ext uri="{FF2B5EF4-FFF2-40B4-BE49-F238E27FC236}">
                <a16:creationId xmlns:a16="http://schemas.microsoft.com/office/drawing/2014/main" id="{68E0D0F6-1EFA-2648-A766-E7BBB9FE3588}"/>
              </a:ext>
            </a:extLst>
          </p:cNvPr>
          <p:cNvSpPr/>
          <p:nvPr/>
        </p:nvSpPr>
        <p:spPr>
          <a:xfrm>
            <a:off x="1016000" y="3429000"/>
            <a:ext cx="3175000" cy="25400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6D468AA3-1EBA-D946-B2F8-02ACC353A772}"/>
              </a:ext>
            </a:extLst>
          </p:cNvPr>
          <p:cNvSpPr txBox="1"/>
          <p:nvPr/>
        </p:nvSpPr>
        <p:spPr>
          <a:xfrm>
            <a:off x="1244600" y="3606800"/>
            <a:ext cx="1016000" cy="584200"/>
          </a:xfrm>
          <a:prstGeom prst="rect">
            <a:avLst/>
          </a:prstGeom>
          <a:noFill/>
        </p:spPr>
        <p:txBody>
          <a:bodyPr vertOverflow="overflow" vert="horz" wrap="square" rtlCol="0" anchor="t">
            <a:spAutoFit/>
          </a:bodyPr>
          <a:lstStyle/>
          <a:p>
            <a:pPr algn="l"/>
            <a:r>
              <a:rPr lang="en-US" sz="3400" b="1">
                <a:solidFill>
                  <a:srgbClr val="0E8A8A"/>
                </a:solidFill>
                <a:latin typeface="Poppins"/>
                <a:cs typeface="Poppins"/>
              </a:rPr>
              <a:t>01</a:t>
            </a:r>
          </a:p>
        </p:txBody>
      </p:sp>
      <p:sp>
        <p:nvSpPr>
          <p:cNvPr id="9" name="Rectangle 8">
            <a:extLst>
              <a:ext uri="{FF2B5EF4-FFF2-40B4-BE49-F238E27FC236}">
                <a16:creationId xmlns:a16="http://schemas.microsoft.com/office/drawing/2014/main" id="{6E33FDB3-F7A4-8247-B788-6114C028F7C7}"/>
              </a:ext>
            </a:extLst>
          </p:cNvPr>
          <p:cNvSpPr/>
          <p:nvPr/>
        </p:nvSpPr>
        <p:spPr>
          <a:xfrm>
            <a:off x="1270000" y="4267200"/>
            <a:ext cx="508000" cy="50800"/>
          </a:xfrm>
          <a:prstGeom prst="rect">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C86CFAB0-D55A-0C48-B648-F02F4A47E681}"/>
              </a:ext>
            </a:extLst>
          </p:cNvPr>
          <p:cNvSpPr txBox="1"/>
          <p:nvPr/>
        </p:nvSpPr>
        <p:spPr>
          <a:xfrm>
            <a:off x="1244600" y="4419600"/>
            <a:ext cx="2717800" cy="406400"/>
          </a:xfrm>
          <a:prstGeom prst="rect">
            <a:avLst/>
          </a:prstGeom>
          <a:noFill/>
        </p:spPr>
        <p:txBody>
          <a:bodyPr vertOverflow="overflow" vert="horz" wrap="square" rtlCol="0" anchor="t">
            <a:spAutoFit/>
          </a:bodyPr>
          <a:lstStyle/>
          <a:p>
            <a:pPr algn="l"/>
            <a:r>
              <a:rPr lang="en-US" sz="2200" b="1">
                <a:solidFill>
                  <a:srgbClr val="0E2A3B"/>
                </a:solidFill>
                <a:latin typeface="Poppins"/>
                <a:cs typeface="Poppins"/>
              </a:rPr>
              <a:t>Noticing</a:t>
            </a:r>
          </a:p>
        </p:txBody>
      </p:sp>
      <p:sp>
        <p:nvSpPr>
          <p:cNvPr id="11" name="TextBox 10">
            <a:extLst>
              <a:ext uri="{FF2B5EF4-FFF2-40B4-BE49-F238E27FC236}">
                <a16:creationId xmlns:a16="http://schemas.microsoft.com/office/drawing/2014/main" id="{00CEE895-CB38-D047-9A0A-F360F0470FFE}"/>
              </a:ext>
            </a:extLst>
          </p:cNvPr>
          <p:cNvSpPr txBox="1"/>
          <p:nvPr/>
        </p:nvSpPr>
        <p:spPr>
          <a:xfrm>
            <a:off x="1244600" y="4902200"/>
            <a:ext cx="2717800" cy="1143000"/>
          </a:xfrm>
          <a:prstGeom prst="rect">
            <a:avLst/>
          </a:prstGeom>
          <a:noFill/>
        </p:spPr>
        <p:txBody>
          <a:bodyPr vertOverflow="overflow" vert="horz" wrap="square" rtlCol="0" anchor="t">
            <a:spAutoFit/>
          </a:bodyPr>
          <a:lstStyle/>
          <a:p>
            <a:pPr algn="l"/>
            <a:r>
              <a:rPr lang="en-US" sz="1400">
                <a:solidFill>
                  <a:srgbClr val="33474F"/>
                </a:solidFill>
                <a:latin typeface="Source Sans Pro"/>
                <a:ea typeface="Source Sans Pro"/>
              </a:rPr>
              <a:t>Recognise when your existing mental models no longer fit the situation in front of you.</a:t>
            </a:r>
          </a:p>
        </p:txBody>
      </p:sp>
      <p:sp>
        <p:nvSpPr>
          <p:cNvPr id="12" name="Right Arrow 11">
            <a:extLst>
              <a:ext uri="{FF2B5EF4-FFF2-40B4-BE49-F238E27FC236}">
                <a16:creationId xmlns:a16="http://schemas.microsoft.com/office/drawing/2014/main" id="{B1D908AA-4E40-9C4E-A58E-533E5408A818}"/>
              </a:ext>
            </a:extLst>
          </p:cNvPr>
          <p:cNvSpPr/>
          <p:nvPr/>
        </p:nvSpPr>
        <p:spPr>
          <a:xfrm>
            <a:off x="4241800" y="4572000"/>
            <a:ext cx="342900" cy="279400"/>
          </a:xfrm>
          <a:prstGeom prst="rightArrow">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ounded Rectangle 12">
            <a:extLst>
              <a:ext uri="{FF2B5EF4-FFF2-40B4-BE49-F238E27FC236}">
                <a16:creationId xmlns:a16="http://schemas.microsoft.com/office/drawing/2014/main" id="{D42CAB98-5DBC-414E-9C26-65346568DDE0}"/>
              </a:ext>
            </a:extLst>
          </p:cNvPr>
          <p:cNvSpPr/>
          <p:nvPr/>
        </p:nvSpPr>
        <p:spPr>
          <a:xfrm>
            <a:off x="4635500" y="3429000"/>
            <a:ext cx="3175000" cy="25400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E3C61689-3EAD-214E-ACC2-CD3269898FFF}"/>
              </a:ext>
            </a:extLst>
          </p:cNvPr>
          <p:cNvSpPr txBox="1"/>
          <p:nvPr/>
        </p:nvSpPr>
        <p:spPr>
          <a:xfrm>
            <a:off x="4864100" y="3606800"/>
            <a:ext cx="1016000" cy="584200"/>
          </a:xfrm>
          <a:prstGeom prst="rect">
            <a:avLst/>
          </a:prstGeom>
          <a:noFill/>
        </p:spPr>
        <p:txBody>
          <a:bodyPr vertOverflow="overflow" vert="horz" wrap="square" rtlCol="0" anchor="t">
            <a:spAutoFit/>
          </a:bodyPr>
          <a:lstStyle/>
          <a:p>
            <a:pPr algn="l"/>
            <a:r>
              <a:rPr lang="en-US" sz="3400" b="1">
                <a:solidFill>
                  <a:srgbClr val="1F4E6B"/>
                </a:solidFill>
                <a:latin typeface="Poppins"/>
                <a:cs typeface="Poppins"/>
              </a:rPr>
              <a:t>02</a:t>
            </a:r>
          </a:p>
        </p:txBody>
      </p:sp>
      <p:sp>
        <p:nvSpPr>
          <p:cNvPr id="15" name="Rectangle 14">
            <a:extLst>
              <a:ext uri="{FF2B5EF4-FFF2-40B4-BE49-F238E27FC236}">
                <a16:creationId xmlns:a16="http://schemas.microsoft.com/office/drawing/2014/main" id="{997A9454-77D7-C148-895A-AEDDA6E1830D}"/>
              </a:ext>
            </a:extLst>
          </p:cNvPr>
          <p:cNvSpPr/>
          <p:nvPr/>
        </p:nvSpPr>
        <p:spPr>
          <a:xfrm>
            <a:off x="4889500" y="4267200"/>
            <a:ext cx="508000" cy="50800"/>
          </a:xfrm>
          <a:prstGeom prst="rect">
            <a:avLst/>
          </a:prstGeom>
          <a:solidFill>
            <a:srgbClr val="1F4E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9034D86B-6DE3-3F4F-8379-4B6624F1316D}"/>
              </a:ext>
            </a:extLst>
          </p:cNvPr>
          <p:cNvSpPr txBox="1"/>
          <p:nvPr/>
        </p:nvSpPr>
        <p:spPr>
          <a:xfrm>
            <a:off x="4864100" y="4419600"/>
            <a:ext cx="2717800" cy="406400"/>
          </a:xfrm>
          <a:prstGeom prst="rect">
            <a:avLst/>
          </a:prstGeom>
          <a:noFill/>
        </p:spPr>
        <p:txBody>
          <a:bodyPr vertOverflow="overflow" vert="horz" wrap="square" rtlCol="0" anchor="t">
            <a:spAutoFit/>
          </a:bodyPr>
          <a:lstStyle/>
          <a:p>
            <a:pPr algn="l"/>
            <a:r>
              <a:rPr lang="en-US" sz="2200" b="1">
                <a:solidFill>
                  <a:srgbClr val="0E2A3B"/>
                </a:solidFill>
                <a:latin typeface="Poppins"/>
                <a:cs typeface="Poppins"/>
              </a:rPr>
              <a:t>Processing</a:t>
            </a:r>
          </a:p>
        </p:txBody>
      </p:sp>
      <p:sp>
        <p:nvSpPr>
          <p:cNvPr id="17" name="TextBox 16">
            <a:extLst>
              <a:ext uri="{FF2B5EF4-FFF2-40B4-BE49-F238E27FC236}">
                <a16:creationId xmlns:a16="http://schemas.microsoft.com/office/drawing/2014/main" id="{6F6DEF15-483A-9040-BEB4-FB42723160BE}"/>
              </a:ext>
            </a:extLst>
          </p:cNvPr>
          <p:cNvSpPr txBox="1"/>
          <p:nvPr/>
        </p:nvSpPr>
        <p:spPr>
          <a:xfrm>
            <a:off x="4864100" y="4902200"/>
            <a:ext cx="2717800" cy="1143000"/>
          </a:xfrm>
          <a:prstGeom prst="rect">
            <a:avLst/>
          </a:prstGeom>
          <a:noFill/>
        </p:spPr>
        <p:txBody>
          <a:bodyPr vertOverflow="overflow" vert="horz" wrap="square" rtlCol="0" anchor="t">
            <a:spAutoFit/>
          </a:bodyPr>
          <a:lstStyle/>
          <a:p>
            <a:pPr algn="l"/>
            <a:r>
              <a:rPr lang="en-US" sz="1400">
                <a:solidFill>
                  <a:srgbClr val="33474F"/>
                </a:solidFill>
                <a:latin typeface="Source Sans Pro"/>
                <a:ea typeface="Source Sans Pro"/>
              </a:rPr>
              <a:t>Explore the experience: question assumptions, feelings and alternative explanations.</a:t>
            </a:r>
          </a:p>
        </p:txBody>
      </p:sp>
      <p:sp>
        <p:nvSpPr>
          <p:cNvPr id="18" name="Right Arrow 17">
            <a:extLst>
              <a:ext uri="{FF2B5EF4-FFF2-40B4-BE49-F238E27FC236}">
                <a16:creationId xmlns:a16="http://schemas.microsoft.com/office/drawing/2014/main" id="{EB6490D0-B428-4E4F-B497-53A1878A7A48}"/>
              </a:ext>
            </a:extLst>
          </p:cNvPr>
          <p:cNvSpPr/>
          <p:nvPr/>
        </p:nvSpPr>
        <p:spPr>
          <a:xfrm>
            <a:off x="7861300" y="4572000"/>
            <a:ext cx="342900" cy="279400"/>
          </a:xfrm>
          <a:prstGeom prst="rightArrow">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ounded Rectangle 18">
            <a:extLst>
              <a:ext uri="{FF2B5EF4-FFF2-40B4-BE49-F238E27FC236}">
                <a16:creationId xmlns:a16="http://schemas.microsoft.com/office/drawing/2014/main" id="{E9F689DB-DD07-9C42-BDD3-1E20BA88100A}"/>
              </a:ext>
            </a:extLst>
          </p:cNvPr>
          <p:cNvSpPr/>
          <p:nvPr/>
        </p:nvSpPr>
        <p:spPr>
          <a:xfrm>
            <a:off x="8255000" y="3429000"/>
            <a:ext cx="3175000" cy="25400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E615596D-9104-D444-B590-B158186066B5}"/>
              </a:ext>
            </a:extLst>
          </p:cNvPr>
          <p:cNvSpPr txBox="1"/>
          <p:nvPr/>
        </p:nvSpPr>
        <p:spPr>
          <a:xfrm>
            <a:off x="8483600" y="3606800"/>
            <a:ext cx="1016000" cy="584200"/>
          </a:xfrm>
          <a:prstGeom prst="rect">
            <a:avLst/>
          </a:prstGeom>
          <a:noFill/>
        </p:spPr>
        <p:txBody>
          <a:bodyPr vertOverflow="overflow" vert="horz" wrap="square" rtlCol="0" anchor="t">
            <a:spAutoFit/>
          </a:bodyPr>
          <a:lstStyle/>
          <a:p>
            <a:pPr algn="l"/>
            <a:r>
              <a:rPr lang="en-US" sz="3400" b="1">
                <a:solidFill>
                  <a:srgbClr val="E08A3C"/>
                </a:solidFill>
                <a:latin typeface="Poppins"/>
                <a:cs typeface="Poppins"/>
              </a:rPr>
              <a:t>03</a:t>
            </a:r>
          </a:p>
        </p:txBody>
      </p:sp>
      <p:sp>
        <p:nvSpPr>
          <p:cNvPr id="21" name="Rectangle 20">
            <a:extLst>
              <a:ext uri="{FF2B5EF4-FFF2-40B4-BE49-F238E27FC236}">
                <a16:creationId xmlns:a16="http://schemas.microsoft.com/office/drawing/2014/main" id="{CE7EFFCF-A19E-794C-9550-A66A9687BB8A}"/>
              </a:ext>
            </a:extLst>
          </p:cNvPr>
          <p:cNvSpPr/>
          <p:nvPr/>
        </p:nvSpPr>
        <p:spPr>
          <a:xfrm>
            <a:off x="8509000" y="4267200"/>
            <a:ext cx="508000" cy="508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F77265F9-AAB6-F644-81A1-EA1C440D6590}"/>
              </a:ext>
            </a:extLst>
          </p:cNvPr>
          <p:cNvSpPr txBox="1"/>
          <p:nvPr/>
        </p:nvSpPr>
        <p:spPr>
          <a:xfrm>
            <a:off x="8483600" y="4419600"/>
            <a:ext cx="2717800" cy="406400"/>
          </a:xfrm>
          <a:prstGeom prst="rect">
            <a:avLst/>
          </a:prstGeom>
          <a:noFill/>
        </p:spPr>
        <p:txBody>
          <a:bodyPr vertOverflow="overflow" vert="horz" wrap="square" rtlCol="0" anchor="t">
            <a:spAutoFit/>
          </a:bodyPr>
          <a:lstStyle/>
          <a:p>
            <a:pPr algn="l"/>
            <a:r>
              <a:rPr lang="en-US" sz="2200" b="1">
                <a:solidFill>
                  <a:srgbClr val="0E2A3B"/>
                </a:solidFill>
                <a:latin typeface="Poppins"/>
                <a:cs typeface="Poppins"/>
              </a:rPr>
              <a:t>Altered action</a:t>
            </a:r>
          </a:p>
        </p:txBody>
      </p:sp>
      <p:sp>
        <p:nvSpPr>
          <p:cNvPr id="23" name="TextBox 22">
            <a:extLst>
              <a:ext uri="{FF2B5EF4-FFF2-40B4-BE49-F238E27FC236}">
                <a16:creationId xmlns:a16="http://schemas.microsoft.com/office/drawing/2014/main" id="{D632FF7F-D929-6748-96B6-DFCB78A3BF1E}"/>
              </a:ext>
            </a:extLst>
          </p:cNvPr>
          <p:cNvSpPr txBox="1"/>
          <p:nvPr/>
        </p:nvSpPr>
        <p:spPr>
          <a:xfrm>
            <a:off x="8483600" y="4902200"/>
            <a:ext cx="2717800" cy="1143000"/>
          </a:xfrm>
          <a:prstGeom prst="rect">
            <a:avLst/>
          </a:prstGeom>
          <a:noFill/>
        </p:spPr>
        <p:txBody>
          <a:bodyPr vertOverflow="overflow" vert="horz" wrap="square" rtlCol="0" anchor="t">
            <a:spAutoFit/>
          </a:bodyPr>
          <a:lstStyle/>
          <a:p>
            <a:pPr algn="l"/>
            <a:r>
              <a:rPr lang="en-US" sz="1400">
                <a:solidFill>
                  <a:srgbClr val="33474F"/>
                </a:solidFill>
                <a:latin typeface="Source Sans Pro"/>
                <a:ea typeface="Source Sans Pro"/>
              </a:rPr>
              <a:t>Translate insight into a concrete change in what you will do next time.</a:t>
            </a:r>
          </a:p>
        </p:txBody>
      </p:sp>
      <p:sp>
        <p:nvSpPr>
          <p:cNvPr id="24" name="Citation">
            <a:extLst>
              <a:ext uri="{FF2B5EF4-FFF2-40B4-BE49-F238E27FC236}">
                <a16:creationId xmlns:a16="http://schemas.microsoft.com/office/drawing/2014/main" id="{1BC0139D-C22E-6F48-9DF4-09218A873D7B}"/>
              </a:ext>
            </a:extLst>
          </p:cNvPr>
          <p:cNvSpPr txBox="1"/>
          <p:nvPr/>
        </p:nvSpPr>
        <p:spPr>
          <a:xfrm>
            <a:off x="1016000" y="6413500"/>
            <a:ext cx="10541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Sandars J. The use of reflection in medical education: AMEE Guide No. 44. Medical Teacher. 2009;31:685–695.</a:t>
            </a:r>
          </a:p>
        </p:txBody>
      </p:sp>
    </p:spTree>
    <p:extLst>
      <p:ext uri="{BB962C8B-B14F-4D97-AF65-F5344CB8AC3E}">
        <p14:creationId xmlns:p14="http://schemas.microsoft.com/office/powerpoint/2010/main" val="14386559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1522AB35-6300-8449-9B33-79AA1C50C90D}"/>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486C1137-4F77-C148-863A-2E0645B158F9}"/>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TECHNIQUE 1 OF 3</a:t>
            </a:r>
          </a:p>
        </p:txBody>
      </p:sp>
      <p:sp>
        <p:nvSpPr>
          <p:cNvPr id="4" name="SlideTitle">
            <a:extLst>
              <a:ext uri="{FF2B5EF4-FFF2-40B4-BE49-F238E27FC236}">
                <a16:creationId xmlns:a16="http://schemas.microsoft.com/office/drawing/2014/main" id="{D2601BBA-270E-184B-867F-4A851960DBD0}"/>
              </a:ext>
            </a:extLst>
          </p:cNvPr>
          <p:cNvSpPr txBox="1"/>
          <p:nvPr/>
        </p:nvSpPr>
        <p:spPr>
          <a:xfrm>
            <a:off x="990600" y="1219200"/>
            <a:ext cx="10541000" cy="889000"/>
          </a:xfrm>
          <a:prstGeom prst="rect">
            <a:avLst/>
          </a:prstGeom>
          <a:noFill/>
        </p:spPr>
        <p:txBody>
          <a:bodyPr vertOverflow="overflow" vert="horz" wrap="square" rtlCol="0" anchor="t">
            <a:spAutoFit/>
          </a:bodyPr>
          <a:lstStyle/>
          <a:p>
            <a:pPr algn="l"/>
            <a:r>
              <a:rPr lang="en-US" sz="3600" b="1">
                <a:solidFill>
                  <a:srgbClr val="0E2A3B"/>
                </a:solidFill>
                <a:latin typeface="Poppins"/>
                <a:cs typeface="Poppins"/>
              </a:rPr>
              <a:t>Reflective journals &amp; critical incidents</a:t>
            </a:r>
          </a:p>
        </p:txBody>
      </p:sp>
      <p:sp>
        <p:nvSpPr>
          <p:cNvPr id="5" name="Rectangle 4">
            <a:extLst>
              <a:ext uri="{FF2B5EF4-FFF2-40B4-BE49-F238E27FC236}">
                <a16:creationId xmlns:a16="http://schemas.microsoft.com/office/drawing/2014/main" id="{85F28A06-CC72-A84E-BB03-024FA5F7888A}"/>
              </a:ext>
            </a:extLst>
          </p:cNvPr>
          <p:cNvSpPr/>
          <p:nvPr/>
        </p:nvSpPr>
        <p:spPr>
          <a:xfrm>
            <a:off x="1041400" y="20574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IconPanel">
            <a:extLst>
              <a:ext uri="{FF2B5EF4-FFF2-40B4-BE49-F238E27FC236}">
                <a16:creationId xmlns:a16="http://schemas.microsoft.com/office/drawing/2014/main" id="{69E7EC78-A6D7-B94B-854D-8DD35C069A6F}"/>
              </a:ext>
            </a:extLst>
          </p:cNvPr>
          <p:cNvSpPr/>
          <p:nvPr/>
        </p:nvSpPr>
        <p:spPr>
          <a:xfrm>
            <a:off x="1016000" y="2667000"/>
            <a:ext cx="3175000" cy="3238500"/>
          </a:xfrm>
          <a:prstGeom prst="roundRect">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Oval 6">
            <a:extLst>
              <a:ext uri="{FF2B5EF4-FFF2-40B4-BE49-F238E27FC236}">
                <a16:creationId xmlns:a16="http://schemas.microsoft.com/office/drawing/2014/main" id="{13F74F28-99E1-0C44-93CB-575A3A056F93}"/>
              </a:ext>
            </a:extLst>
          </p:cNvPr>
          <p:cNvSpPr/>
          <p:nvPr/>
        </p:nvSpPr>
        <p:spPr>
          <a:xfrm>
            <a:off x="1778000" y="3175000"/>
            <a:ext cx="1651000" cy="1651000"/>
          </a:xfrm>
          <a:prstGeom prst="ellipse">
            <a:avLst/>
          </a:prstGeom>
          <a:solidFill>
            <a:srgbClr val="12B5A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B6B104ED-362B-9443-B5CF-8DE3E9C5E9D1}"/>
              </a:ext>
            </a:extLst>
          </p:cNvPr>
          <p:cNvSpPr txBox="1"/>
          <p:nvPr/>
        </p:nvSpPr>
        <p:spPr>
          <a:xfrm>
            <a:off x="1625600" y="4978400"/>
            <a:ext cx="1955800" cy="323165"/>
          </a:xfrm>
          <a:prstGeom prst="rect">
            <a:avLst/>
          </a:prstGeom>
          <a:noFill/>
        </p:spPr>
        <p:txBody>
          <a:bodyPr vertOverflow="overflow" vert="horz" wrap="square" rtlCol="0" anchor="t">
            <a:spAutoFit/>
          </a:bodyPr>
          <a:lstStyle/>
          <a:p>
            <a:pPr algn="ctr"/>
            <a:r>
              <a:rPr lang="en-US" sz="1500" b="1" dirty="0">
                <a:solidFill>
                  <a:srgbClr val="FFFFFF"/>
                </a:solidFill>
                <a:latin typeface="Source Sans Pro"/>
                <a:ea typeface="Source Sans Pro"/>
              </a:rPr>
              <a:t>Text-based</a:t>
            </a:r>
          </a:p>
        </p:txBody>
      </p:sp>
      <p:sp>
        <p:nvSpPr>
          <p:cNvPr id="9" name="TextBox 8">
            <a:extLst>
              <a:ext uri="{FF2B5EF4-FFF2-40B4-BE49-F238E27FC236}">
                <a16:creationId xmlns:a16="http://schemas.microsoft.com/office/drawing/2014/main" id="{F568646F-9553-F342-B9BE-276838DBA5A4}"/>
              </a:ext>
            </a:extLst>
          </p:cNvPr>
          <p:cNvSpPr txBox="1"/>
          <p:nvPr/>
        </p:nvSpPr>
        <p:spPr>
          <a:xfrm>
            <a:off x="1397000" y="5283200"/>
            <a:ext cx="2413000" cy="508000"/>
          </a:xfrm>
          <a:prstGeom prst="rect">
            <a:avLst/>
          </a:prstGeom>
          <a:noFill/>
        </p:spPr>
        <p:txBody>
          <a:bodyPr vertOverflow="overflow" vert="horz" wrap="square" rtlCol="0" anchor="t">
            <a:spAutoFit/>
          </a:bodyPr>
          <a:lstStyle/>
          <a:p>
            <a:pPr algn="l"/>
            <a:r>
              <a:rPr lang="en-US" sz="1250">
                <a:solidFill>
                  <a:srgbClr val="D6F0EC"/>
                </a:solidFill>
                <a:latin typeface="Source Sans Pro"/>
                <a:ea typeface="Source Sans Pro"/>
              </a:rPr>
              <a:t>Most common in medical training</a:t>
            </a:r>
          </a:p>
        </p:txBody>
      </p:sp>
      <p:sp>
        <p:nvSpPr>
          <p:cNvPr id="10" name="TextBox 9">
            <a:extLst>
              <a:ext uri="{FF2B5EF4-FFF2-40B4-BE49-F238E27FC236}">
                <a16:creationId xmlns:a16="http://schemas.microsoft.com/office/drawing/2014/main" id="{3088013A-1AC5-964E-8032-80BC278B27AB}"/>
              </a:ext>
            </a:extLst>
          </p:cNvPr>
          <p:cNvSpPr txBox="1"/>
          <p:nvPr/>
        </p:nvSpPr>
        <p:spPr>
          <a:xfrm>
            <a:off x="4572000" y="2692400"/>
            <a:ext cx="6604000" cy="355600"/>
          </a:xfrm>
          <a:prstGeom prst="rect">
            <a:avLst/>
          </a:prstGeom>
          <a:noFill/>
        </p:spPr>
        <p:txBody>
          <a:bodyPr vertOverflow="overflow" vert="horz" wrap="square" rtlCol="0" anchor="t">
            <a:spAutoFit/>
          </a:bodyPr>
          <a:lstStyle/>
          <a:p>
            <a:pPr algn="l"/>
            <a:r>
              <a:rPr lang="en-US" sz="2000" b="1">
                <a:solidFill>
                  <a:srgbClr val="0E2A3B"/>
                </a:solidFill>
                <a:latin typeface="Poppins"/>
                <a:cs typeface="Poppins"/>
              </a:rPr>
              <a:t>How it works</a:t>
            </a:r>
          </a:p>
        </p:txBody>
      </p:sp>
      <p:sp>
        <p:nvSpPr>
          <p:cNvPr id="11" name="TextBox 10">
            <a:extLst>
              <a:ext uri="{FF2B5EF4-FFF2-40B4-BE49-F238E27FC236}">
                <a16:creationId xmlns:a16="http://schemas.microsoft.com/office/drawing/2014/main" id="{9EFB54CE-8D47-3247-804B-E73F70AA712A}"/>
              </a:ext>
            </a:extLst>
          </p:cNvPr>
          <p:cNvSpPr txBox="1"/>
          <p:nvPr/>
        </p:nvSpPr>
        <p:spPr>
          <a:xfrm>
            <a:off x="4572000" y="3124200"/>
            <a:ext cx="6731000" cy="1169551"/>
          </a:xfrm>
          <a:prstGeom prst="rect">
            <a:avLst/>
          </a:prstGeom>
          <a:noFill/>
        </p:spPr>
        <p:txBody>
          <a:bodyPr vertOverflow="overflow" vert="horz" wrap="square" rtlCol="0" anchor="t">
            <a:spAutoFit/>
          </a:bodyPr>
          <a:lstStyle/>
          <a:p>
            <a:pPr algn="l">
              <a:buNone/>
            </a:pPr>
            <a:r>
              <a:rPr lang="en-US" sz="1500" dirty="0">
                <a:solidFill>
                  <a:srgbClr val="33474F"/>
                </a:solidFill>
                <a:latin typeface="Source Sans Pro"/>
                <a:ea typeface="Source Sans Pro"/>
              </a:rPr>
              <a:t>Write freely about a </a:t>
            </a:r>
            <a:r>
              <a:rPr lang="en-US" sz="1500" b="1" dirty="0">
                <a:solidFill>
                  <a:srgbClr val="0E8A8A"/>
                </a:solidFill>
                <a:latin typeface="Source Sans Pro"/>
                <a:ea typeface="Source Sans Pro"/>
              </a:rPr>
              <a:t>meaningful experience</a:t>
            </a:r>
            <a:r>
              <a:rPr lang="en-US" sz="1500" dirty="0">
                <a:solidFill>
                  <a:srgbClr val="33474F"/>
                </a:solidFill>
                <a:latin typeface="Source Sans Pro"/>
                <a:ea typeface="Source Sans Pro"/>
              </a:rPr>
              <a:t>, what happened, what you felt, and what you learned.</a:t>
            </a:r>
          </a:p>
          <a:p>
            <a:pPr algn="l">
              <a:buNone/>
            </a:pPr>
            <a:endParaRPr lang="en-US" sz="1000"/>
          </a:p>
          <a:p>
            <a:pPr algn="l">
              <a:buNone/>
            </a:pPr>
            <a:r>
              <a:rPr lang="en-US" sz="1500" dirty="0">
                <a:solidFill>
                  <a:srgbClr val="33474F"/>
                </a:solidFill>
                <a:latin typeface="Source Sans Pro"/>
                <a:ea typeface="Source Sans Pro"/>
              </a:rPr>
              <a:t>A </a:t>
            </a:r>
            <a:r>
              <a:rPr lang="en-US" sz="1500" b="1" dirty="0">
                <a:solidFill>
                  <a:srgbClr val="E08A3C"/>
                </a:solidFill>
                <a:latin typeface="Source Sans Pro"/>
                <a:ea typeface="Source Sans Pro"/>
              </a:rPr>
              <a:t>critical incident report</a:t>
            </a:r>
            <a:r>
              <a:rPr lang="en-US" sz="1500" dirty="0">
                <a:solidFill>
                  <a:srgbClr val="33474F"/>
                </a:solidFill>
                <a:latin typeface="Source Sans Pro"/>
                <a:ea typeface="Source Sans Pro"/>
              </a:rPr>
              <a:t> focuses on one specific event that stuck with you (good or bad) and unpacks why it mattered.</a:t>
            </a:r>
          </a:p>
        </p:txBody>
      </p:sp>
      <p:sp>
        <p:nvSpPr>
          <p:cNvPr id="12" name="Rounded Rectangle 11">
            <a:extLst>
              <a:ext uri="{FF2B5EF4-FFF2-40B4-BE49-F238E27FC236}">
                <a16:creationId xmlns:a16="http://schemas.microsoft.com/office/drawing/2014/main" id="{87B79217-B16A-104A-9554-343D6F307DF2}"/>
              </a:ext>
            </a:extLst>
          </p:cNvPr>
          <p:cNvSpPr/>
          <p:nvPr/>
        </p:nvSpPr>
        <p:spPr>
          <a:xfrm>
            <a:off x="4572000" y="4800600"/>
            <a:ext cx="6731000" cy="1143000"/>
          </a:xfrm>
          <a:prstGeom prst="roundRect">
            <a:avLst/>
          </a:prstGeom>
          <a:solidFill>
            <a:srgbClr val="FBF1E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8F2DC6C2-E9A4-F64C-904F-8689DADC0707}"/>
              </a:ext>
            </a:extLst>
          </p:cNvPr>
          <p:cNvSpPr/>
          <p:nvPr/>
        </p:nvSpPr>
        <p:spPr>
          <a:xfrm>
            <a:off x="4572000" y="4800600"/>
            <a:ext cx="76200" cy="11430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21C624CB-EBDD-2D4D-B5E1-EEF00F07EAC5}"/>
              </a:ext>
            </a:extLst>
          </p:cNvPr>
          <p:cNvSpPr txBox="1"/>
          <p:nvPr/>
        </p:nvSpPr>
        <p:spPr>
          <a:xfrm>
            <a:off x="4851400" y="4978400"/>
            <a:ext cx="6223000" cy="254000"/>
          </a:xfrm>
          <a:prstGeom prst="rect">
            <a:avLst/>
          </a:prstGeom>
          <a:noFill/>
        </p:spPr>
        <p:txBody>
          <a:bodyPr vertOverflow="overflow" vert="horz" wrap="square" rtlCol="0" anchor="t">
            <a:spAutoFit/>
          </a:bodyPr>
          <a:lstStyle/>
          <a:p>
            <a:pPr algn="l"/>
            <a:r>
              <a:rPr lang="en-US" sz="1200" b="1">
                <a:solidFill>
                  <a:srgbClr val="E08A3C"/>
                </a:solidFill>
                <a:latin typeface="Source Sans Pro"/>
                <a:ea typeface="Source Sans Pro"/>
              </a:rPr>
              <a:t>TRY THIS</a:t>
            </a:r>
          </a:p>
        </p:txBody>
      </p:sp>
      <p:sp>
        <p:nvSpPr>
          <p:cNvPr id="15" name="TextBox 14">
            <a:extLst>
              <a:ext uri="{FF2B5EF4-FFF2-40B4-BE49-F238E27FC236}">
                <a16:creationId xmlns:a16="http://schemas.microsoft.com/office/drawing/2014/main" id="{C65FF31A-5B51-914E-B50E-F5DF60F4377B}"/>
              </a:ext>
            </a:extLst>
          </p:cNvPr>
          <p:cNvSpPr txBox="1"/>
          <p:nvPr/>
        </p:nvSpPr>
        <p:spPr>
          <a:xfrm>
            <a:off x="4851400" y="5232400"/>
            <a:ext cx="6286500" cy="660400"/>
          </a:xfrm>
          <a:prstGeom prst="rect">
            <a:avLst/>
          </a:prstGeom>
          <a:noFill/>
        </p:spPr>
        <p:txBody>
          <a:bodyPr vertOverflow="overflow" vert="horz" wrap="square" rtlCol="0" anchor="t">
            <a:spAutoFit/>
          </a:bodyPr>
          <a:lstStyle/>
          <a:p>
            <a:pPr algn="l"/>
            <a:r>
              <a:rPr lang="en-US" sz="1400">
                <a:solidFill>
                  <a:srgbClr val="6B4A20"/>
                </a:solidFill>
                <a:latin typeface="Source Sans Pro"/>
                <a:ea typeface="Source Sans Pro"/>
              </a:rPr>
              <a:t>After your next ward round, write three sentences: one fact, one feeling, one thing you'd do differently.</a:t>
            </a:r>
          </a:p>
        </p:txBody>
      </p:sp>
      <p:sp>
        <p:nvSpPr>
          <p:cNvPr id="16" name="Citation">
            <a:extLst>
              <a:ext uri="{FF2B5EF4-FFF2-40B4-BE49-F238E27FC236}">
                <a16:creationId xmlns:a16="http://schemas.microsoft.com/office/drawing/2014/main" id="{16B8D60D-8DE0-914E-BA91-46D5E3621382}"/>
              </a:ext>
            </a:extLst>
          </p:cNvPr>
          <p:cNvSpPr txBox="1"/>
          <p:nvPr/>
        </p:nvSpPr>
        <p:spPr>
          <a:xfrm>
            <a:off x="1016000" y="6413500"/>
            <a:ext cx="10541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Sandars J. The use of reflection in medical education: AMEE Guide No. 44. Medical Teacher. 2009;31:685–695.</a:t>
            </a:r>
          </a:p>
        </p:txBody>
      </p:sp>
      <p:pic>
        <p:nvPicPr>
          <p:cNvPr id="17" name="Graphic 1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7900" y="3619500"/>
            <a:ext cx="736600" cy="736600"/>
          </a:xfrm>
          <a:prstGeom prst="rect">
            <a:avLst/>
          </a:prstGeom>
        </p:spPr>
      </p:pic>
    </p:spTree>
    <p:extLst>
      <p:ext uri="{BB962C8B-B14F-4D97-AF65-F5344CB8AC3E}">
        <p14:creationId xmlns:p14="http://schemas.microsoft.com/office/powerpoint/2010/main" val="23697438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4F02DA6E-9A28-E943-B214-276F882386C2}"/>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6BD329A4-E491-4343-9259-513C0358F5AC}"/>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TECHNIQUE 2 OF 3</a:t>
            </a:r>
          </a:p>
        </p:txBody>
      </p:sp>
      <p:sp>
        <p:nvSpPr>
          <p:cNvPr id="4" name="SlideTitle">
            <a:extLst>
              <a:ext uri="{FF2B5EF4-FFF2-40B4-BE49-F238E27FC236}">
                <a16:creationId xmlns:a16="http://schemas.microsoft.com/office/drawing/2014/main" id="{268292BA-2981-D24F-9125-8AB74B531A85}"/>
              </a:ext>
            </a:extLst>
          </p:cNvPr>
          <p:cNvSpPr txBox="1"/>
          <p:nvPr/>
        </p:nvSpPr>
        <p:spPr>
          <a:xfrm>
            <a:off x="990600" y="1219200"/>
            <a:ext cx="10541000" cy="889000"/>
          </a:xfrm>
          <a:prstGeom prst="rect">
            <a:avLst/>
          </a:prstGeom>
          <a:noFill/>
        </p:spPr>
        <p:txBody>
          <a:bodyPr vertOverflow="overflow" vert="horz" wrap="square" rtlCol="0" anchor="t">
            <a:spAutoFit/>
          </a:bodyPr>
          <a:lstStyle/>
          <a:p>
            <a:pPr algn="l"/>
            <a:r>
              <a:rPr lang="en-US" sz="3600" b="1">
                <a:solidFill>
                  <a:srgbClr val="0E2A3B"/>
                </a:solidFill>
                <a:latin typeface="Poppins"/>
                <a:cs typeface="Poppins"/>
              </a:rPr>
              <a:t>Mindfulness &amp; self-monitoring</a:t>
            </a:r>
          </a:p>
        </p:txBody>
      </p:sp>
      <p:sp>
        <p:nvSpPr>
          <p:cNvPr id="5" name="Rectangle 4">
            <a:extLst>
              <a:ext uri="{FF2B5EF4-FFF2-40B4-BE49-F238E27FC236}">
                <a16:creationId xmlns:a16="http://schemas.microsoft.com/office/drawing/2014/main" id="{938C796F-0F85-2F42-B5AA-01DEC90F1B15}"/>
              </a:ext>
            </a:extLst>
          </p:cNvPr>
          <p:cNvSpPr/>
          <p:nvPr/>
        </p:nvSpPr>
        <p:spPr>
          <a:xfrm>
            <a:off x="1041400" y="20574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IconPanel">
            <a:extLst>
              <a:ext uri="{FF2B5EF4-FFF2-40B4-BE49-F238E27FC236}">
                <a16:creationId xmlns:a16="http://schemas.microsoft.com/office/drawing/2014/main" id="{A5436756-0E47-BC40-B350-43B76A2A77DD}"/>
              </a:ext>
            </a:extLst>
          </p:cNvPr>
          <p:cNvSpPr/>
          <p:nvPr/>
        </p:nvSpPr>
        <p:spPr>
          <a:xfrm>
            <a:off x="1016000" y="2667000"/>
            <a:ext cx="3175000" cy="3238500"/>
          </a:xfrm>
          <a:prstGeom prst="roundRect">
            <a:avLst/>
          </a:prstGeom>
          <a:solidFill>
            <a:srgbClr val="1F4E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Oval 6">
            <a:extLst>
              <a:ext uri="{FF2B5EF4-FFF2-40B4-BE49-F238E27FC236}">
                <a16:creationId xmlns:a16="http://schemas.microsoft.com/office/drawing/2014/main" id="{5E6017B4-E579-C347-84E2-F36BCDE4EBB4}"/>
              </a:ext>
            </a:extLst>
          </p:cNvPr>
          <p:cNvSpPr/>
          <p:nvPr/>
        </p:nvSpPr>
        <p:spPr>
          <a:xfrm>
            <a:off x="1778000" y="3175000"/>
            <a:ext cx="1651000" cy="1651000"/>
          </a:xfrm>
          <a:prstGeom prst="ellipse">
            <a:avLst/>
          </a:prstGeom>
          <a:solidFill>
            <a:srgbClr val="3E759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A2CA5688-18B6-584D-BCA4-E83D1A86179C}"/>
              </a:ext>
            </a:extLst>
          </p:cNvPr>
          <p:cNvSpPr txBox="1"/>
          <p:nvPr/>
        </p:nvSpPr>
        <p:spPr>
          <a:xfrm>
            <a:off x="1498600" y="4978400"/>
            <a:ext cx="2209800" cy="323165"/>
          </a:xfrm>
          <a:prstGeom prst="rect">
            <a:avLst/>
          </a:prstGeom>
          <a:noFill/>
        </p:spPr>
        <p:txBody>
          <a:bodyPr vertOverflow="overflow" vert="horz" wrap="square" rtlCol="0" anchor="t">
            <a:spAutoFit/>
          </a:bodyPr>
          <a:lstStyle/>
          <a:p>
            <a:pPr algn="ctr"/>
            <a:r>
              <a:rPr lang="en-US" sz="1500" b="1" dirty="0">
                <a:solidFill>
                  <a:srgbClr val="FFFFFF"/>
                </a:solidFill>
                <a:latin typeface="Source Sans Pro"/>
                <a:ea typeface="Source Sans Pro"/>
              </a:rPr>
              <a:t>In-the-moment</a:t>
            </a:r>
          </a:p>
        </p:txBody>
      </p:sp>
      <p:sp>
        <p:nvSpPr>
          <p:cNvPr id="9" name="TextBox 8">
            <a:extLst>
              <a:ext uri="{FF2B5EF4-FFF2-40B4-BE49-F238E27FC236}">
                <a16:creationId xmlns:a16="http://schemas.microsoft.com/office/drawing/2014/main" id="{770E2CD5-A1BB-1648-ABB3-54768FDF2E9C}"/>
              </a:ext>
            </a:extLst>
          </p:cNvPr>
          <p:cNvSpPr txBox="1"/>
          <p:nvPr/>
        </p:nvSpPr>
        <p:spPr>
          <a:xfrm>
            <a:off x="1397000" y="5283200"/>
            <a:ext cx="2413000" cy="477054"/>
          </a:xfrm>
          <a:prstGeom prst="rect">
            <a:avLst/>
          </a:prstGeom>
          <a:noFill/>
        </p:spPr>
        <p:txBody>
          <a:bodyPr vertOverflow="overflow" vert="horz" wrap="square" rtlCol="0" anchor="t">
            <a:spAutoFit/>
          </a:bodyPr>
          <a:lstStyle/>
          <a:p>
            <a:pPr algn="ctr"/>
            <a:r>
              <a:rPr lang="en-US" sz="1250" dirty="0">
                <a:solidFill>
                  <a:srgbClr val="CFE0EC"/>
                </a:solidFill>
                <a:latin typeface="Source Sans Pro"/>
                <a:ea typeface="Source Sans Pro"/>
              </a:rPr>
              <a:t>Builds present-moment awareness</a:t>
            </a:r>
          </a:p>
        </p:txBody>
      </p:sp>
      <p:sp>
        <p:nvSpPr>
          <p:cNvPr id="10" name="TextBox 9">
            <a:extLst>
              <a:ext uri="{FF2B5EF4-FFF2-40B4-BE49-F238E27FC236}">
                <a16:creationId xmlns:a16="http://schemas.microsoft.com/office/drawing/2014/main" id="{B8F4D706-9277-6C49-BAA3-C6CC1A77B889}"/>
              </a:ext>
            </a:extLst>
          </p:cNvPr>
          <p:cNvSpPr txBox="1"/>
          <p:nvPr/>
        </p:nvSpPr>
        <p:spPr>
          <a:xfrm>
            <a:off x="4572000" y="2692400"/>
            <a:ext cx="6604000" cy="355600"/>
          </a:xfrm>
          <a:prstGeom prst="rect">
            <a:avLst/>
          </a:prstGeom>
          <a:noFill/>
        </p:spPr>
        <p:txBody>
          <a:bodyPr vertOverflow="overflow" vert="horz" wrap="square" rtlCol="0" anchor="t">
            <a:spAutoFit/>
          </a:bodyPr>
          <a:lstStyle/>
          <a:p>
            <a:pPr algn="l"/>
            <a:r>
              <a:rPr lang="en-US" sz="2000" b="1">
                <a:solidFill>
                  <a:srgbClr val="0E2A3B"/>
                </a:solidFill>
                <a:latin typeface="Poppins"/>
                <a:cs typeface="Poppins"/>
              </a:rPr>
              <a:t>How it works</a:t>
            </a:r>
          </a:p>
        </p:txBody>
      </p:sp>
      <p:sp>
        <p:nvSpPr>
          <p:cNvPr id="11" name="TextBox 10">
            <a:extLst>
              <a:ext uri="{FF2B5EF4-FFF2-40B4-BE49-F238E27FC236}">
                <a16:creationId xmlns:a16="http://schemas.microsoft.com/office/drawing/2014/main" id="{FD275F64-64AF-CF4B-8C57-84B819E18134}"/>
              </a:ext>
            </a:extLst>
          </p:cNvPr>
          <p:cNvSpPr txBox="1"/>
          <p:nvPr/>
        </p:nvSpPr>
        <p:spPr>
          <a:xfrm>
            <a:off x="4572000" y="3124200"/>
            <a:ext cx="6731000" cy="1169551"/>
          </a:xfrm>
          <a:prstGeom prst="rect">
            <a:avLst/>
          </a:prstGeom>
          <a:noFill/>
        </p:spPr>
        <p:txBody>
          <a:bodyPr vertOverflow="overflow" vert="horz" wrap="square" rtlCol="0" anchor="t">
            <a:spAutoFit/>
          </a:bodyPr>
          <a:lstStyle/>
          <a:p>
            <a:pPr algn="l">
              <a:buNone/>
            </a:pPr>
            <a:r>
              <a:rPr lang="en-US" sz="1500" dirty="0">
                <a:solidFill>
                  <a:srgbClr val="33474F"/>
                </a:solidFill>
                <a:latin typeface="Source Sans Pro"/>
                <a:ea typeface="Source Sans Pro"/>
              </a:rPr>
              <a:t>Mindful practice means paying </a:t>
            </a:r>
            <a:r>
              <a:rPr lang="en-US" sz="1500" b="1" dirty="0">
                <a:solidFill>
                  <a:srgbClr val="0E8A8A"/>
                </a:solidFill>
                <a:latin typeface="Source Sans Pro"/>
                <a:ea typeface="Source Sans Pro"/>
              </a:rPr>
              <a:t>deliberate, non-judgemental attention</a:t>
            </a:r>
            <a:r>
              <a:rPr lang="en-US" sz="1500" dirty="0">
                <a:solidFill>
                  <a:srgbClr val="33474F"/>
                </a:solidFill>
                <a:latin typeface="Source Sans Pro"/>
                <a:ea typeface="Source Sans Pro"/>
              </a:rPr>
              <a:t> to your thoughts and emotions as they happen.</a:t>
            </a:r>
          </a:p>
          <a:p>
            <a:pPr algn="l">
              <a:buNone/>
            </a:pPr>
            <a:endParaRPr lang="en-US" sz="1000"/>
          </a:p>
          <a:p>
            <a:pPr algn="l">
              <a:buNone/>
            </a:pPr>
            <a:r>
              <a:rPr lang="en-US" sz="1500" dirty="0">
                <a:solidFill>
                  <a:srgbClr val="33474F"/>
                </a:solidFill>
                <a:latin typeface="Source Sans Pro"/>
                <a:ea typeface="Source Sans Pro"/>
              </a:rPr>
              <a:t>This constant self-monitoring lets you notice your reactions in real time, the foundation of </a:t>
            </a:r>
            <a:r>
              <a:rPr lang="en-US" sz="1500" b="1" dirty="0">
                <a:solidFill>
                  <a:srgbClr val="E08A3C"/>
                </a:solidFill>
                <a:latin typeface="Source Sans Pro"/>
                <a:ea typeface="Source Sans Pro"/>
              </a:rPr>
              <a:t>reflection-in-action</a:t>
            </a:r>
            <a:r>
              <a:rPr lang="en-US" sz="1500" dirty="0">
                <a:solidFill>
                  <a:srgbClr val="33474F"/>
                </a:solidFill>
                <a:latin typeface="Source Sans Pro"/>
                <a:ea typeface="Source Sans Pro"/>
              </a:rPr>
              <a:t>.</a:t>
            </a:r>
          </a:p>
        </p:txBody>
      </p:sp>
      <p:sp>
        <p:nvSpPr>
          <p:cNvPr id="12" name="Rounded Rectangle 11">
            <a:extLst>
              <a:ext uri="{FF2B5EF4-FFF2-40B4-BE49-F238E27FC236}">
                <a16:creationId xmlns:a16="http://schemas.microsoft.com/office/drawing/2014/main" id="{2DCDB2F1-382D-B64A-BEAB-F55B06653C8E}"/>
              </a:ext>
            </a:extLst>
          </p:cNvPr>
          <p:cNvSpPr/>
          <p:nvPr/>
        </p:nvSpPr>
        <p:spPr>
          <a:xfrm>
            <a:off x="4572000" y="4800600"/>
            <a:ext cx="6731000" cy="1143000"/>
          </a:xfrm>
          <a:prstGeom prst="roundRect">
            <a:avLst/>
          </a:prstGeom>
          <a:solidFill>
            <a:srgbClr val="FBF1E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C2923118-5BE7-4C49-A09B-EF725CA3ED0A}"/>
              </a:ext>
            </a:extLst>
          </p:cNvPr>
          <p:cNvSpPr/>
          <p:nvPr/>
        </p:nvSpPr>
        <p:spPr>
          <a:xfrm>
            <a:off x="4572000" y="4800600"/>
            <a:ext cx="76200" cy="11430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44EE9201-934B-A542-AA4D-3924F563DC8C}"/>
              </a:ext>
            </a:extLst>
          </p:cNvPr>
          <p:cNvSpPr txBox="1"/>
          <p:nvPr/>
        </p:nvSpPr>
        <p:spPr>
          <a:xfrm>
            <a:off x="4851400" y="4978400"/>
            <a:ext cx="6223000" cy="254000"/>
          </a:xfrm>
          <a:prstGeom prst="rect">
            <a:avLst/>
          </a:prstGeom>
          <a:noFill/>
        </p:spPr>
        <p:txBody>
          <a:bodyPr vertOverflow="overflow" vert="horz" wrap="square" rtlCol="0" anchor="t">
            <a:spAutoFit/>
          </a:bodyPr>
          <a:lstStyle/>
          <a:p>
            <a:pPr algn="l"/>
            <a:r>
              <a:rPr lang="en-US" sz="1200" b="1">
                <a:solidFill>
                  <a:srgbClr val="E08A3C"/>
                </a:solidFill>
                <a:latin typeface="Source Sans Pro"/>
                <a:ea typeface="Source Sans Pro"/>
              </a:rPr>
              <a:t>TRY THIS</a:t>
            </a:r>
          </a:p>
        </p:txBody>
      </p:sp>
      <p:sp>
        <p:nvSpPr>
          <p:cNvPr id="15" name="TextBox 14">
            <a:extLst>
              <a:ext uri="{FF2B5EF4-FFF2-40B4-BE49-F238E27FC236}">
                <a16:creationId xmlns:a16="http://schemas.microsoft.com/office/drawing/2014/main" id="{7EC78F52-712E-124D-9EB9-E909A1F07E43}"/>
              </a:ext>
            </a:extLst>
          </p:cNvPr>
          <p:cNvSpPr txBox="1"/>
          <p:nvPr/>
        </p:nvSpPr>
        <p:spPr>
          <a:xfrm>
            <a:off x="4851400" y="5232400"/>
            <a:ext cx="6286500" cy="660400"/>
          </a:xfrm>
          <a:prstGeom prst="rect">
            <a:avLst/>
          </a:prstGeom>
          <a:noFill/>
        </p:spPr>
        <p:txBody>
          <a:bodyPr vertOverflow="overflow" vert="horz" wrap="square" rtlCol="0" anchor="t">
            <a:spAutoFit/>
          </a:bodyPr>
          <a:lstStyle/>
          <a:p>
            <a:pPr algn="l"/>
            <a:r>
              <a:rPr lang="en-US" sz="1400">
                <a:solidFill>
                  <a:srgbClr val="6B4A20"/>
                </a:solidFill>
                <a:latin typeface="Source Sans Pro"/>
                <a:ea typeface="Source Sans Pro"/>
              </a:rPr>
              <a:t>Before seeing a patient, take one slow breath and name what you're feeling. Then begin.</a:t>
            </a:r>
          </a:p>
        </p:txBody>
      </p:sp>
      <p:sp>
        <p:nvSpPr>
          <p:cNvPr id="16" name="Citation">
            <a:extLst>
              <a:ext uri="{FF2B5EF4-FFF2-40B4-BE49-F238E27FC236}">
                <a16:creationId xmlns:a16="http://schemas.microsoft.com/office/drawing/2014/main" id="{E27A69C7-FBF4-4D4E-A9A5-347D7EB37424}"/>
              </a:ext>
            </a:extLst>
          </p:cNvPr>
          <p:cNvSpPr txBox="1"/>
          <p:nvPr/>
        </p:nvSpPr>
        <p:spPr>
          <a:xfrm>
            <a:off x="1016000" y="6413500"/>
            <a:ext cx="10541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Epstein RM. Mindful practice. JAMA. 1999. In: Sandars J. AMEE Guide No. 44. Med Teach. 2009;31:685–695.</a:t>
            </a:r>
          </a:p>
        </p:txBody>
      </p:sp>
      <p:pic>
        <p:nvPicPr>
          <p:cNvPr id="17" name="Graphic 1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7900" y="3619500"/>
            <a:ext cx="736600" cy="736600"/>
          </a:xfrm>
          <a:prstGeom prst="rect">
            <a:avLst/>
          </a:prstGeom>
        </p:spPr>
      </p:pic>
    </p:spTree>
    <p:extLst>
      <p:ext uri="{BB962C8B-B14F-4D97-AF65-F5344CB8AC3E}">
        <p14:creationId xmlns:p14="http://schemas.microsoft.com/office/powerpoint/2010/main" val="20680493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C8A3C30-CEAD-CF40-87BB-03D564393205}"/>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4D9286EE-8337-EE40-A562-2D4D7AA088F2}"/>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TECHNIQUE 3 OF 3</a:t>
            </a:r>
          </a:p>
        </p:txBody>
      </p:sp>
      <p:sp>
        <p:nvSpPr>
          <p:cNvPr id="4" name="SlideTitle">
            <a:extLst>
              <a:ext uri="{FF2B5EF4-FFF2-40B4-BE49-F238E27FC236}">
                <a16:creationId xmlns:a16="http://schemas.microsoft.com/office/drawing/2014/main" id="{1D2482DD-465A-204A-A7EE-B526BFD2F14D}"/>
              </a:ext>
            </a:extLst>
          </p:cNvPr>
          <p:cNvSpPr txBox="1"/>
          <p:nvPr/>
        </p:nvSpPr>
        <p:spPr>
          <a:xfrm>
            <a:off x="990600" y="1219200"/>
            <a:ext cx="10541000" cy="889000"/>
          </a:xfrm>
          <a:prstGeom prst="rect">
            <a:avLst/>
          </a:prstGeom>
          <a:noFill/>
        </p:spPr>
        <p:txBody>
          <a:bodyPr vertOverflow="overflow" vert="horz" wrap="square" rtlCol="0" anchor="t">
            <a:spAutoFit/>
          </a:bodyPr>
          <a:lstStyle/>
          <a:p>
            <a:pPr algn="l"/>
            <a:r>
              <a:rPr lang="en-US" sz="3600" b="1">
                <a:solidFill>
                  <a:srgbClr val="0E2A3B"/>
                </a:solidFill>
                <a:latin typeface="Poppins"/>
                <a:cs typeface="Poppins"/>
              </a:rPr>
              <a:t>Portfolios &amp; digital storytelling</a:t>
            </a:r>
          </a:p>
        </p:txBody>
      </p:sp>
      <p:sp>
        <p:nvSpPr>
          <p:cNvPr id="5" name="Rectangle 4">
            <a:extLst>
              <a:ext uri="{FF2B5EF4-FFF2-40B4-BE49-F238E27FC236}">
                <a16:creationId xmlns:a16="http://schemas.microsoft.com/office/drawing/2014/main" id="{E83D3495-2F60-814D-87F7-84B7C35C9530}"/>
              </a:ext>
            </a:extLst>
          </p:cNvPr>
          <p:cNvSpPr/>
          <p:nvPr/>
        </p:nvSpPr>
        <p:spPr>
          <a:xfrm>
            <a:off x="1041400" y="20574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IconPanel">
            <a:extLst>
              <a:ext uri="{FF2B5EF4-FFF2-40B4-BE49-F238E27FC236}">
                <a16:creationId xmlns:a16="http://schemas.microsoft.com/office/drawing/2014/main" id="{A68D555D-EC2B-1D45-AD39-725A2A070C1B}"/>
              </a:ext>
            </a:extLst>
          </p:cNvPr>
          <p:cNvSpPr/>
          <p:nvPr/>
        </p:nvSpPr>
        <p:spPr>
          <a:xfrm>
            <a:off x="1016000" y="2667000"/>
            <a:ext cx="3175000" cy="3238500"/>
          </a:xfrm>
          <a:prstGeom prst="roundRect">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Oval 6">
            <a:extLst>
              <a:ext uri="{FF2B5EF4-FFF2-40B4-BE49-F238E27FC236}">
                <a16:creationId xmlns:a16="http://schemas.microsoft.com/office/drawing/2014/main" id="{24D5DBA7-9168-B845-B9A1-7C61A18C3EDC}"/>
              </a:ext>
            </a:extLst>
          </p:cNvPr>
          <p:cNvSpPr/>
          <p:nvPr/>
        </p:nvSpPr>
        <p:spPr>
          <a:xfrm>
            <a:off x="1778000" y="3175000"/>
            <a:ext cx="1651000" cy="1651000"/>
          </a:xfrm>
          <a:prstGeom prst="ellipse">
            <a:avLst/>
          </a:prstGeom>
          <a:solidFill>
            <a:srgbClr val="12B5A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46D7354E-D906-3D4B-8237-A86BB7699D07}"/>
              </a:ext>
            </a:extLst>
          </p:cNvPr>
          <p:cNvSpPr txBox="1"/>
          <p:nvPr/>
        </p:nvSpPr>
        <p:spPr>
          <a:xfrm>
            <a:off x="1816100" y="4978400"/>
            <a:ext cx="1574800" cy="323165"/>
          </a:xfrm>
          <a:prstGeom prst="rect">
            <a:avLst/>
          </a:prstGeom>
          <a:noFill/>
        </p:spPr>
        <p:txBody>
          <a:bodyPr vertOverflow="overflow" vert="horz" wrap="square" rtlCol="0" anchor="t">
            <a:spAutoFit/>
          </a:bodyPr>
          <a:lstStyle/>
          <a:p>
            <a:pPr algn="ctr"/>
            <a:r>
              <a:rPr lang="en-US" sz="1500" b="1" dirty="0">
                <a:solidFill>
                  <a:srgbClr val="FFFFFF"/>
                </a:solidFill>
                <a:latin typeface="Source Sans Pro"/>
                <a:ea typeface="Source Sans Pro"/>
              </a:rPr>
              <a:t>Creative</a:t>
            </a:r>
          </a:p>
        </p:txBody>
      </p:sp>
      <p:sp>
        <p:nvSpPr>
          <p:cNvPr id="9" name="TextBox 8">
            <a:extLst>
              <a:ext uri="{FF2B5EF4-FFF2-40B4-BE49-F238E27FC236}">
                <a16:creationId xmlns:a16="http://schemas.microsoft.com/office/drawing/2014/main" id="{34E4F5BF-02A8-AB4F-8E60-922CD58404FE}"/>
              </a:ext>
            </a:extLst>
          </p:cNvPr>
          <p:cNvSpPr txBox="1"/>
          <p:nvPr/>
        </p:nvSpPr>
        <p:spPr>
          <a:xfrm>
            <a:off x="1397000" y="5283200"/>
            <a:ext cx="2413000" cy="284693"/>
          </a:xfrm>
          <a:prstGeom prst="rect">
            <a:avLst/>
          </a:prstGeom>
          <a:noFill/>
        </p:spPr>
        <p:txBody>
          <a:bodyPr vertOverflow="overflow" vert="horz" wrap="square" rtlCol="0" anchor="t">
            <a:spAutoFit/>
          </a:bodyPr>
          <a:lstStyle/>
          <a:p>
            <a:pPr algn="ctr"/>
            <a:r>
              <a:rPr lang="en-US" sz="1250">
                <a:solidFill>
                  <a:srgbClr val="D6F0EC"/>
                </a:solidFill>
                <a:latin typeface="Source Sans Pro"/>
                <a:ea typeface="Source Sans Pro"/>
              </a:rPr>
              <a:t>Suits visual &amp; narrative learners</a:t>
            </a:r>
          </a:p>
        </p:txBody>
      </p:sp>
      <p:sp>
        <p:nvSpPr>
          <p:cNvPr id="10" name="TextBox 9">
            <a:extLst>
              <a:ext uri="{FF2B5EF4-FFF2-40B4-BE49-F238E27FC236}">
                <a16:creationId xmlns:a16="http://schemas.microsoft.com/office/drawing/2014/main" id="{623D06F9-72F9-1349-8FCF-B7FAB03F79AB}"/>
              </a:ext>
            </a:extLst>
          </p:cNvPr>
          <p:cNvSpPr txBox="1"/>
          <p:nvPr/>
        </p:nvSpPr>
        <p:spPr>
          <a:xfrm>
            <a:off x="4572000" y="2692400"/>
            <a:ext cx="6604000" cy="355600"/>
          </a:xfrm>
          <a:prstGeom prst="rect">
            <a:avLst/>
          </a:prstGeom>
          <a:noFill/>
        </p:spPr>
        <p:txBody>
          <a:bodyPr vertOverflow="overflow" vert="horz" wrap="square" rtlCol="0" anchor="t">
            <a:spAutoFit/>
          </a:bodyPr>
          <a:lstStyle/>
          <a:p>
            <a:pPr algn="l"/>
            <a:r>
              <a:rPr lang="en-US" sz="2000" b="1">
                <a:solidFill>
                  <a:srgbClr val="0E2A3B"/>
                </a:solidFill>
                <a:latin typeface="Poppins"/>
                <a:cs typeface="Poppins"/>
              </a:rPr>
              <a:t>How it works</a:t>
            </a:r>
          </a:p>
        </p:txBody>
      </p:sp>
      <p:sp>
        <p:nvSpPr>
          <p:cNvPr id="11" name="TextBox 10">
            <a:extLst>
              <a:ext uri="{FF2B5EF4-FFF2-40B4-BE49-F238E27FC236}">
                <a16:creationId xmlns:a16="http://schemas.microsoft.com/office/drawing/2014/main" id="{9E0ABD36-FBC8-DF49-8CB2-6E768E0030FD}"/>
              </a:ext>
            </a:extLst>
          </p:cNvPr>
          <p:cNvSpPr txBox="1"/>
          <p:nvPr/>
        </p:nvSpPr>
        <p:spPr>
          <a:xfrm>
            <a:off x="4572000" y="3124200"/>
            <a:ext cx="6731000" cy="1169551"/>
          </a:xfrm>
          <a:prstGeom prst="rect">
            <a:avLst/>
          </a:prstGeom>
          <a:noFill/>
        </p:spPr>
        <p:txBody>
          <a:bodyPr vertOverflow="overflow" vert="horz" wrap="square" rtlCol="0" anchor="t">
            <a:spAutoFit/>
          </a:bodyPr>
          <a:lstStyle/>
          <a:p>
            <a:pPr algn="l">
              <a:buNone/>
            </a:pPr>
            <a:r>
              <a:rPr lang="en-US" sz="1500" dirty="0">
                <a:solidFill>
                  <a:srgbClr val="33474F"/>
                </a:solidFill>
                <a:latin typeface="Source Sans Pro"/>
                <a:ea typeface="Source Sans Pro"/>
              </a:rPr>
              <a:t>A </a:t>
            </a:r>
            <a:r>
              <a:rPr lang="en-US" sz="1500" b="1" dirty="0">
                <a:solidFill>
                  <a:srgbClr val="0E8A8A"/>
                </a:solidFill>
                <a:latin typeface="Source Sans Pro"/>
                <a:ea typeface="Source Sans Pro"/>
              </a:rPr>
              <a:t>portfolio</a:t>
            </a:r>
            <a:r>
              <a:rPr lang="en-US" sz="1500" dirty="0">
                <a:solidFill>
                  <a:srgbClr val="33474F"/>
                </a:solidFill>
                <a:latin typeface="Source Sans Pro"/>
                <a:ea typeface="Source Sans Pro"/>
              </a:rPr>
              <a:t> gathers evidence of your learning over time and the reflections that connect it together.</a:t>
            </a:r>
          </a:p>
          <a:p>
            <a:pPr algn="l">
              <a:buNone/>
            </a:pPr>
            <a:endParaRPr lang="en-US" sz="1000"/>
          </a:p>
          <a:p>
            <a:pPr algn="l">
              <a:buNone/>
            </a:pPr>
            <a:r>
              <a:rPr lang="en-US" sz="1500" b="1" dirty="0">
                <a:solidFill>
                  <a:srgbClr val="E08A3C"/>
                </a:solidFill>
                <a:latin typeface="Source Sans Pro"/>
                <a:ea typeface="Source Sans Pro"/>
              </a:rPr>
              <a:t>Digital storytelling</a:t>
            </a:r>
            <a:r>
              <a:rPr lang="en-US" sz="1500" dirty="0">
                <a:solidFill>
                  <a:srgbClr val="33474F"/>
                </a:solidFill>
                <a:latin typeface="Source Sans Pro"/>
                <a:ea typeface="Source Sans Pro"/>
              </a:rPr>
              <a:t> uses video, audio or images to reflect creatively, powerful for experiences that are hard to put into words.</a:t>
            </a:r>
          </a:p>
        </p:txBody>
      </p:sp>
      <p:sp>
        <p:nvSpPr>
          <p:cNvPr id="12" name="Rounded Rectangle 11">
            <a:extLst>
              <a:ext uri="{FF2B5EF4-FFF2-40B4-BE49-F238E27FC236}">
                <a16:creationId xmlns:a16="http://schemas.microsoft.com/office/drawing/2014/main" id="{2FF9A6E7-880D-7041-A9FE-8C49ABFFC4D4}"/>
              </a:ext>
            </a:extLst>
          </p:cNvPr>
          <p:cNvSpPr/>
          <p:nvPr/>
        </p:nvSpPr>
        <p:spPr>
          <a:xfrm>
            <a:off x="4572000" y="4800600"/>
            <a:ext cx="6731000" cy="1143000"/>
          </a:xfrm>
          <a:prstGeom prst="roundRect">
            <a:avLst/>
          </a:prstGeom>
          <a:solidFill>
            <a:srgbClr val="FBF1E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EB6C9DD6-8CA7-8344-BD09-7C40E0D69B93}"/>
              </a:ext>
            </a:extLst>
          </p:cNvPr>
          <p:cNvSpPr/>
          <p:nvPr/>
        </p:nvSpPr>
        <p:spPr>
          <a:xfrm>
            <a:off x="4572000" y="4800600"/>
            <a:ext cx="76200" cy="11430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C62D8417-9907-F548-ACB5-2E14392F9A91}"/>
              </a:ext>
            </a:extLst>
          </p:cNvPr>
          <p:cNvSpPr txBox="1"/>
          <p:nvPr/>
        </p:nvSpPr>
        <p:spPr>
          <a:xfrm>
            <a:off x="4851400" y="4978400"/>
            <a:ext cx="6223000" cy="254000"/>
          </a:xfrm>
          <a:prstGeom prst="rect">
            <a:avLst/>
          </a:prstGeom>
          <a:noFill/>
        </p:spPr>
        <p:txBody>
          <a:bodyPr vertOverflow="overflow" vert="horz" wrap="square" rtlCol="0" anchor="t">
            <a:spAutoFit/>
          </a:bodyPr>
          <a:lstStyle/>
          <a:p>
            <a:pPr algn="l"/>
            <a:r>
              <a:rPr lang="en-US" sz="1200" b="1">
                <a:solidFill>
                  <a:srgbClr val="E08A3C"/>
                </a:solidFill>
                <a:latin typeface="Source Sans Pro"/>
                <a:ea typeface="Source Sans Pro"/>
              </a:rPr>
              <a:t>TRY THIS</a:t>
            </a:r>
          </a:p>
        </p:txBody>
      </p:sp>
      <p:sp>
        <p:nvSpPr>
          <p:cNvPr id="15" name="TextBox 14">
            <a:extLst>
              <a:ext uri="{FF2B5EF4-FFF2-40B4-BE49-F238E27FC236}">
                <a16:creationId xmlns:a16="http://schemas.microsoft.com/office/drawing/2014/main" id="{14443F23-C3BD-7640-93DD-CC83C54E830A}"/>
              </a:ext>
            </a:extLst>
          </p:cNvPr>
          <p:cNvSpPr txBox="1"/>
          <p:nvPr/>
        </p:nvSpPr>
        <p:spPr>
          <a:xfrm>
            <a:off x="4851400" y="5232400"/>
            <a:ext cx="6286500" cy="660400"/>
          </a:xfrm>
          <a:prstGeom prst="rect">
            <a:avLst/>
          </a:prstGeom>
          <a:noFill/>
        </p:spPr>
        <p:txBody>
          <a:bodyPr vertOverflow="overflow" vert="horz" wrap="square" rtlCol="0" anchor="t">
            <a:spAutoFit/>
          </a:bodyPr>
          <a:lstStyle/>
          <a:p>
            <a:pPr algn="l"/>
            <a:r>
              <a:rPr lang="en-US" sz="1400">
                <a:solidFill>
                  <a:srgbClr val="6B4A20"/>
                </a:solidFill>
                <a:latin typeface="Source Sans Pro"/>
                <a:ea typeface="Source Sans Pro"/>
              </a:rPr>
              <a:t>Pick one case from this rotation and record a 60-second voice note on what it taught you.</a:t>
            </a:r>
          </a:p>
        </p:txBody>
      </p:sp>
      <p:sp>
        <p:nvSpPr>
          <p:cNvPr id="16" name="Citation">
            <a:extLst>
              <a:ext uri="{FF2B5EF4-FFF2-40B4-BE49-F238E27FC236}">
                <a16:creationId xmlns:a16="http://schemas.microsoft.com/office/drawing/2014/main" id="{3C397207-9F48-0041-8053-BA9CEF34FD45}"/>
              </a:ext>
            </a:extLst>
          </p:cNvPr>
          <p:cNvSpPr txBox="1"/>
          <p:nvPr/>
        </p:nvSpPr>
        <p:spPr>
          <a:xfrm>
            <a:off x="1016000" y="6413500"/>
            <a:ext cx="10541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Sandars J. The use of reflection in medical education: AMEE Guide No. 44. Medical Teacher. 2009;31:685–695.</a:t>
            </a:r>
          </a:p>
        </p:txBody>
      </p:sp>
      <p:pic>
        <p:nvPicPr>
          <p:cNvPr id="17" name="Graphic 1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7900" y="3657600"/>
            <a:ext cx="736600" cy="660400"/>
          </a:xfrm>
          <a:prstGeom prst="rect">
            <a:avLst/>
          </a:prstGeom>
        </p:spPr>
      </p:pic>
    </p:spTree>
    <p:extLst>
      <p:ext uri="{BB962C8B-B14F-4D97-AF65-F5344CB8AC3E}">
        <p14:creationId xmlns:p14="http://schemas.microsoft.com/office/powerpoint/2010/main" val="1458372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5A605F24-FEF8-6C43-A33B-DCBCB84D4AF2}"/>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642BA795-4C77-E943-81C8-E292D752CCFF}"/>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PRACTICE · SUPPORT</a:t>
            </a:r>
          </a:p>
        </p:txBody>
      </p:sp>
      <p:sp>
        <p:nvSpPr>
          <p:cNvPr id="4" name="SlideTitle">
            <a:extLst>
              <a:ext uri="{FF2B5EF4-FFF2-40B4-BE49-F238E27FC236}">
                <a16:creationId xmlns:a16="http://schemas.microsoft.com/office/drawing/2014/main" id="{FF83A1D6-82D6-CF4B-A832-F900103CF64D}"/>
              </a:ext>
            </a:extLst>
          </p:cNvPr>
          <p:cNvSpPr txBox="1"/>
          <p:nvPr/>
        </p:nvSpPr>
        <p:spPr>
          <a:xfrm>
            <a:off x="990600" y="1219200"/>
            <a:ext cx="10541000" cy="889000"/>
          </a:xfrm>
          <a:prstGeom prst="rect">
            <a:avLst/>
          </a:prstGeom>
          <a:noFill/>
        </p:spPr>
        <p:txBody>
          <a:bodyPr vertOverflow="overflow" vert="horz" wrap="square" rtlCol="0" anchor="t">
            <a:spAutoFit/>
          </a:bodyPr>
          <a:lstStyle/>
          <a:p>
            <a:pPr algn="l"/>
            <a:r>
              <a:rPr lang="en-US" sz="4000" b="1">
                <a:solidFill>
                  <a:srgbClr val="0E2A3B"/>
                </a:solidFill>
                <a:latin typeface="Poppins"/>
                <a:cs typeface="Poppins"/>
              </a:rPr>
              <a:t>Guided reflection &amp; feedback</a:t>
            </a:r>
          </a:p>
        </p:txBody>
      </p:sp>
      <p:sp>
        <p:nvSpPr>
          <p:cNvPr id="5" name="Rectangle 4">
            <a:extLst>
              <a:ext uri="{FF2B5EF4-FFF2-40B4-BE49-F238E27FC236}">
                <a16:creationId xmlns:a16="http://schemas.microsoft.com/office/drawing/2014/main" id="{B1971C3B-A097-5D4F-AB30-7F9409A77F62}"/>
              </a:ext>
            </a:extLst>
          </p:cNvPr>
          <p:cNvSpPr/>
          <p:nvPr/>
        </p:nvSpPr>
        <p:spPr>
          <a:xfrm>
            <a:off x="1041400" y="21082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0D03A08A-1B1C-DD4B-8359-FFC2C7BF595C}"/>
              </a:ext>
            </a:extLst>
          </p:cNvPr>
          <p:cNvSpPr txBox="1"/>
          <p:nvPr/>
        </p:nvSpPr>
        <p:spPr>
          <a:xfrm>
            <a:off x="1016000" y="2438400"/>
            <a:ext cx="10541000" cy="381000"/>
          </a:xfrm>
          <a:prstGeom prst="rect">
            <a:avLst/>
          </a:prstGeom>
          <a:noFill/>
        </p:spPr>
        <p:txBody>
          <a:bodyPr vertOverflow="overflow" vert="horz" wrap="square" rtlCol="0" anchor="t">
            <a:spAutoFit/>
          </a:bodyPr>
          <a:lstStyle/>
          <a:p>
            <a:pPr algn="l">
              <a:buNone/>
            </a:pPr>
            <a:r>
              <a:rPr lang="en-US" sz="1700">
                <a:solidFill>
                  <a:srgbClr val="33474F"/>
                </a:solidFill>
                <a:latin typeface="Source Sans Pro"/>
              </a:rPr>
              <a:t>Reflection deepens when we </a:t>
            </a:r>
            <a:r>
              <a:rPr lang="en-US" sz="1800" b="1">
                <a:solidFill>
                  <a:srgbClr val="0E8A8A"/>
                </a:solidFill>
                <a:latin typeface="Source Sans Pro"/>
              </a:rPr>
              <a:t>don't do it alone</a:t>
            </a:r>
            <a:r>
              <a:rPr lang="en-US" sz="1700">
                <a:solidFill>
                  <a:srgbClr val="33474F"/>
                </a:solidFill>
                <a:latin typeface="Source Sans Pro"/>
              </a:rPr>
              <a:t>. A </a:t>
            </a:r>
            <a:r>
              <a:rPr lang="en-US" sz="1800" b="1">
                <a:solidFill>
                  <a:srgbClr val="E08A3C"/>
                </a:solidFill>
                <a:latin typeface="Source Sans Pro"/>
              </a:rPr>
              <a:t>mentor and honest feedback</a:t>
            </a:r>
            <a:r>
              <a:rPr lang="en-US" sz="1700">
                <a:solidFill>
                  <a:srgbClr val="33474F"/>
                </a:solidFill>
                <a:latin typeface="Source Sans Pro"/>
              </a:rPr>
              <a:t> push us past our blind spots.</a:t>
            </a:r>
          </a:p>
        </p:txBody>
      </p:sp>
      <p:sp>
        <p:nvSpPr>
          <p:cNvPr id="7" name="Rounded Rectangle 6">
            <a:extLst>
              <a:ext uri="{FF2B5EF4-FFF2-40B4-BE49-F238E27FC236}">
                <a16:creationId xmlns:a16="http://schemas.microsoft.com/office/drawing/2014/main" id="{D03495FD-0998-C44A-A0EF-A9D1EE8F0ABC}"/>
              </a:ext>
            </a:extLst>
          </p:cNvPr>
          <p:cNvSpPr/>
          <p:nvPr/>
        </p:nvSpPr>
        <p:spPr>
          <a:xfrm>
            <a:off x="1016000" y="3149600"/>
            <a:ext cx="10287000" cy="12192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orb_guide">
            <a:extLst>
              <a:ext uri="{FF2B5EF4-FFF2-40B4-BE49-F238E27FC236}">
                <a16:creationId xmlns:a16="http://schemas.microsoft.com/office/drawing/2014/main" id="{A4C73902-7025-8340-A9E0-A5304D850EE2}"/>
              </a:ext>
            </a:extLst>
          </p:cNvPr>
          <p:cNvSpPr/>
          <p:nvPr/>
        </p:nvSpPr>
        <p:spPr>
          <a:xfrm>
            <a:off x="1320800" y="3429000"/>
            <a:ext cx="711200" cy="711200"/>
          </a:xfrm>
          <a:prstGeom prst="ellipse">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B8EAEE0D-ACF2-3443-AA3E-BDB60139AE21}"/>
              </a:ext>
            </a:extLst>
          </p:cNvPr>
          <p:cNvSpPr txBox="1"/>
          <p:nvPr/>
        </p:nvSpPr>
        <p:spPr>
          <a:xfrm>
            <a:off x="2413000" y="3378200"/>
            <a:ext cx="8636000" cy="355600"/>
          </a:xfrm>
          <a:prstGeom prst="rect">
            <a:avLst/>
          </a:prstGeom>
          <a:noFill/>
        </p:spPr>
        <p:txBody>
          <a:bodyPr vertOverflow="overflow" vert="horz" wrap="square" rtlCol="0" anchor="t">
            <a:spAutoFit/>
          </a:bodyPr>
          <a:lstStyle/>
          <a:p>
            <a:pPr algn="l"/>
            <a:r>
              <a:rPr lang="en-US" sz="2100" b="1">
                <a:solidFill>
                  <a:srgbClr val="0E8A8A"/>
                </a:solidFill>
                <a:latin typeface="Poppins"/>
                <a:cs typeface="Poppins"/>
              </a:rPr>
              <a:t>A mentor or facilitator</a:t>
            </a:r>
          </a:p>
        </p:txBody>
      </p:sp>
      <p:sp>
        <p:nvSpPr>
          <p:cNvPr id="10" name="TextBox 9">
            <a:extLst>
              <a:ext uri="{FF2B5EF4-FFF2-40B4-BE49-F238E27FC236}">
                <a16:creationId xmlns:a16="http://schemas.microsoft.com/office/drawing/2014/main" id="{AC34A389-FA3A-E448-B029-D87428BB070A}"/>
              </a:ext>
            </a:extLst>
          </p:cNvPr>
          <p:cNvSpPr txBox="1"/>
          <p:nvPr/>
        </p:nvSpPr>
        <p:spPr>
          <a:xfrm>
            <a:off x="2413000" y="3759200"/>
            <a:ext cx="8636000" cy="584200"/>
          </a:xfrm>
          <a:prstGeom prst="rect">
            <a:avLst/>
          </a:prstGeom>
          <a:noFill/>
        </p:spPr>
        <p:txBody>
          <a:bodyPr vertOverflow="overflow" vert="horz" wrap="square" rtlCol="0" anchor="t">
            <a:spAutoFit/>
          </a:bodyPr>
          <a:lstStyle/>
          <a:p>
            <a:pPr algn="l"/>
            <a:r>
              <a:rPr lang="en-US" sz="1450">
                <a:solidFill>
                  <a:srgbClr val="33474F"/>
                </a:solidFill>
                <a:latin typeface="Source Sans Pro"/>
                <a:ea typeface="Source Sans Pro"/>
              </a:rPr>
              <a:t>Offers supportive challenge, questioning assumptions and opening new perspectives you might not reach on your own.</a:t>
            </a:r>
          </a:p>
        </p:txBody>
      </p:sp>
      <p:sp>
        <p:nvSpPr>
          <p:cNvPr id="11" name="Rounded Rectangle 10">
            <a:extLst>
              <a:ext uri="{FF2B5EF4-FFF2-40B4-BE49-F238E27FC236}">
                <a16:creationId xmlns:a16="http://schemas.microsoft.com/office/drawing/2014/main" id="{CF9F088F-9415-5043-9FC0-9B1E469CB6ED}"/>
              </a:ext>
            </a:extLst>
          </p:cNvPr>
          <p:cNvSpPr/>
          <p:nvPr/>
        </p:nvSpPr>
        <p:spPr>
          <a:xfrm>
            <a:off x="1016000" y="4470400"/>
            <a:ext cx="10287000" cy="12192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orb_fb">
            <a:extLst>
              <a:ext uri="{FF2B5EF4-FFF2-40B4-BE49-F238E27FC236}">
                <a16:creationId xmlns:a16="http://schemas.microsoft.com/office/drawing/2014/main" id="{97B1EE82-D2B6-E04B-8CFF-A3A123147DA4}"/>
              </a:ext>
            </a:extLst>
          </p:cNvPr>
          <p:cNvSpPr/>
          <p:nvPr/>
        </p:nvSpPr>
        <p:spPr>
          <a:xfrm>
            <a:off x="1320800" y="4749800"/>
            <a:ext cx="711200" cy="711200"/>
          </a:xfrm>
          <a:prstGeom prst="ellipse">
            <a:avLst/>
          </a:prstGeom>
          <a:solidFill>
            <a:srgbClr val="1F4E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029C27CC-2E7D-E448-AC29-DF627996D554}"/>
              </a:ext>
            </a:extLst>
          </p:cNvPr>
          <p:cNvSpPr txBox="1"/>
          <p:nvPr/>
        </p:nvSpPr>
        <p:spPr>
          <a:xfrm>
            <a:off x="2413000" y="4699000"/>
            <a:ext cx="8636000" cy="355600"/>
          </a:xfrm>
          <a:prstGeom prst="rect">
            <a:avLst/>
          </a:prstGeom>
          <a:noFill/>
        </p:spPr>
        <p:txBody>
          <a:bodyPr vertOverflow="overflow" vert="horz" wrap="square" rtlCol="0" anchor="t">
            <a:spAutoFit/>
          </a:bodyPr>
          <a:lstStyle/>
          <a:p>
            <a:pPr algn="l"/>
            <a:r>
              <a:rPr lang="en-US" sz="2100" b="1">
                <a:solidFill>
                  <a:srgbClr val="1F4E6B"/>
                </a:solidFill>
                <a:latin typeface="Poppins"/>
                <a:cs typeface="Poppins"/>
              </a:rPr>
              <a:t>Feedback</a:t>
            </a:r>
          </a:p>
        </p:txBody>
      </p:sp>
      <p:sp>
        <p:nvSpPr>
          <p:cNvPr id="14" name="TextBox 13">
            <a:extLst>
              <a:ext uri="{FF2B5EF4-FFF2-40B4-BE49-F238E27FC236}">
                <a16:creationId xmlns:a16="http://schemas.microsoft.com/office/drawing/2014/main" id="{90FFFBE6-E8DD-F140-A6D6-06A2211068DE}"/>
              </a:ext>
            </a:extLst>
          </p:cNvPr>
          <p:cNvSpPr txBox="1"/>
          <p:nvPr/>
        </p:nvSpPr>
        <p:spPr>
          <a:xfrm>
            <a:off x="2413000" y="5080000"/>
            <a:ext cx="8636000" cy="584200"/>
          </a:xfrm>
          <a:prstGeom prst="rect">
            <a:avLst/>
          </a:prstGeom>
          <a:noFill/>
        </p:spPr>
        <p:txBody>
          <a:bodyPr vertOverflow="overflow" vert="horz" wrap="square" rtlCol="0" anchor="t">
            <a:spAutoFit/>
          </a:bodyPr>
          <a:lstStyle/>
          <a:p>
            <a:pPr algn="l"/>
            <a:r>
              <a:rPr lang="en-US" sz="1450">
                <a:solidFill>
                  <a:srgbClr val="33474F"/>
                </a:solidFill>
                <a:latin typeface="Source Sans Pro"/>
                <a:ea typeface="Source Sans Pro"/>
              </a:rPr>
              <a:t>Holds up a mirror to your performance, giving the concrete information that turns vague impressions into real learning.</a:t>
            </a:r>
          </a:p>
        </p:txBody>
      </p:sp>
      <p:sp>
        <p:nvSpPr>
          <p:cNvPr id="15" name="Rounded Rectangle 14">
            <a:extLst>
              <a:ext uri="{FF2B5EF4-FFF2-40B4-BE49-F238E27FC236}">
                <a16:creationId xmlns:a16="http://schemas.microsoft.com/office/drawing/2014/main" id="{1C2FB077-EEDC-0140-8A19-9121FEFD7CCB}"/>
              </a:ext>
            </a:extLst>
          </p:cNvPr>
          <p:cNvSpPr/>
          <p:nvPr/>
        </p:nvSpPr>
        <p:spPr>
          <a:xfrm>
            <a:off x="1016000" y="5842000"/>
            <a:ext cx="10287000" cy="558800"/>
          </a:xfrm>
          <a:prstGeom prst="roundRect">
            <a:avLst/>
          </a:prstGeom>
          <a:solidFill>
            <a:srgbClr val="0E2A3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600" b="1">
                <a:solidFill>
                  <a:srgbClr val="FFFFFF"/>
                </a:solidFill>
                <a:latin typeface="Poppins"/>
                <a:cs typeface="Poppins"/>
              </a:rPr>
              <a:t>Key principle:  challenge with support, never challenge alone.</a:t>
            </a:r>
          </a:p>
        </p:txBody>
      </p:sp>
      <p:sp>
        <p:nvSpPr>
          <p:cNvPr id="16" name="Citation">
            <a:extLst>
              <a:ext uri="{FF2B5EF4-FFF2-40B4-BE49-F238E27FC236}">
                <a16:creationId xmlns:a16="http://schemas.microsoft.com/office/drawing/2014/main" id="{CAC044B0-2BC5-9A4D-9AF1-B25F90A205F7}"/>
              </a:ext>
            </a:extLst>
          </p:cNvPr>
          <p:cNvSpPr txBox="1"/>
          <p:nvPr/>
        </p:nvSpPr>
        <p:spPr>
          <a:xfrm>
            <a:off x="1016000" y="6540500"/>
            <a:ext cx="10541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Sandars J. The use of reflection in medical education: AMEE Guide No. 44. Medical Teacher. 2009;31:685–695.</a:t>
            </a:r>
          </a:p>
        </p:txBody>
      </p:sp>
      <p:pic>
        <p:nvPicPr>
          <p:cNvPr id="17" name="Graphic 1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8600" y="3606800"/>
            <a:ext cx="355600" cy="355600"/>
          </a:xfrm>
          <a:prstGeom prst="rect">
            <a:avLst/>
          </a:prstGeom>
        </p:spPr>
      </p:pic>
      <p:pic>
        <p:nvPicPr>
          <p:cNvPr id="18" name="Graphic 18"/>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8600" y="4927600"/>
            <a:ext cx="355600" cy="355600"/>
          </a:xfrm>
          <a:prstGeom prst="rect">
            <a:avLst/>
          </a:prstGeom>
        </p:spPr>
      </p:pic>
    </p:spTree>
    <p:extLst>
      <p:ext uri="{BB962C8B-B14F-4D97-AF65-F5344CB8AC3E}">
        <p14:creationId xmlns:p14="http://schemas.microsoft.com/office/powerpoint/2010/main" val="42190228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F7624864-D9F8-2A44-A619-F15AC3F8D2EB}"/>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1EEBE668-3412-CD46-A542-CC096DFC31DE}"/>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PRACTICE · CHALLENGES</a:t>
            </a:r>
          </a:p>
        </p:txBody>
      </p:sp>
      <p:sp>
        <p:nvSpPr>
          <p:cNvPr id="4" name="SlideTitle">
            <a:extLst>
              <a:ext uri="{FF2B5EF4-FFF2-40B4-BE49-F238E27FC236}">
                <a16:creationId xmlns:a16="http://schemas.microsoft.com/office/drawing/2014/main" id="{5B63DEF7-4451-044B-A7A7-FCCDB5189820}"/>
              </a:ext>
            </a:extLst>
          </p:cNvPr>
          <p:cNvSpPr txBox="1"/>
          <p:nvPr/>
        </p:nvSpPr>
        <p:spPr>
          <a:xfrm>
            <a:off x="990600" y="1219200"/>
            <a:ext cx="10541000" cy="889000"/>
          </a:xfrm>
          <a:prstGeom prst="rect">
            <a:avLst/>
          </a:prstGeom>
          <a:noFill/>
        </p:spPr>
        <p:txBody>
          <a:bodyPr vertOverflow="overflow" vert="horz" wrap="square" rtlCol="0" anchor="t">
            <a:spAutoFit/>
          </a:bodyPr>
          <a:lstStyle/>
          <a:p>
            <a:pPr algn="l"/>
            <a:r>
              <a:rPr lang="en-US" sz="3800" b="1">
                <a:solidFill>
                  <a:srgbClr val="0E2A3B"/>
                </a:solidFill>
                <a:latin typeface="Poppins"/>
                <a:cs typeface="Poppins"/>
              </a:rPr>
              <a:t>Barriers, and how to overcome them</a:t>
            </a:r>
          </a:p>
        </p:txBody>
      </p:sp>
      <p:sp>
        <p:nvSpPr>
          <p:cNvPr id="5" name="Rectangle 4">
            <a:extLst>
              <a:ext uri="{FF2B5EF4-FFF2-40B4-BE49-F238E27FC236}">
                <a16:creationId xmlns:a16="http://schemas.microsoft.com/office/drawing/2014/main" id="{B435F2BB-6B9F-8A43-A717-991D62D6C7C2}"/>
              </a:ext>
            </a:extLst>
          </p:cNvPr>
          <p:cNvSpPr/>
          <p:nvPr/>
        </p:nvSpPr>
        <p:spPr>
          <a:xfrm>
            <a:off x="1041400" y="21082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EFCF2002-9155-F14E-8F7C-014EBA2B6D7A}"/>
              </a:ext>
            </a:extLst>
          </p:cNvPr>
          <p:cNvSpPr txBox="1"/>
          <p:nvPr/>
        </p:nvSpPr>
        <p:spPr>
          <a:xfrm>
            <a:off x="1397000" y="2692400"/>
            <a:ext cx="4191000" cy="279400"/>
          </a:xfrm>
          <a:prstGeom prst="rect">
            <a:avLst/>
          </a:prstGeom>
          <a:noFill/>
        </p:spPr>
        <p:txBody>
          <a:bodyPr vertOverflow="overflow" vert="horz" wrap="square" rtlCol="0" anchor="t">
            <a:spAutoFit/>
          </a:bodyPr>
          <a:lstStyle/>
          <a:p>
            <a:pPr algn="l"/>
            <a:r>
              <a:rPr lang="en-US" sz="1300" b="1">
                <a:solidFill>
                  <a:srgbClr val="C0392B"/>
                </a:solidFill>
                <a:latin typeface="Source Sans Pro"/>
                <a:ea typeface="Source Sans Pro"/>
              </a:rPr>
              <a:t>THE BARRIER</a:t>
            </a:r>
          </a:p>
        </p:txBody>
      </p:sp>
      <p:sp>
        <p:nvSpPr>
          <p:cNvPr id="7" name="TextBox 6">
            <a:extLst>
              <a:ext uri="{FF2B5EF4-FFF2-40B4-BE49-F238E27FC236}">
                <a16:creationId xmlns:a16="http://schemas.microsoft.com/office/drawing/2014/main" id="{BBAC5C66-BF65-3D4F-AB65-ABB2F92A6ACD}"/>
              </a:ext>
            </a:extLst>
          </p:cNvPr>
          <p:cNvSpPr txBox="1"/>
          <p:nvPr/>
        </p:nvSpPr>
        <p:spPr>
          <a:xfrm>
            <a:off x="6350000" y="2692400"/>
            <a:ext cx="4826000" cy="279400"/>
          </a:xfrm>
          <a:prstGeom prst="rect">
            <a:avLst/>
          </a:prstGeom>
          <a:noFill/>
        </p:spPr>
        <p:txBody>
          <a:bodyPr vertOverflow="overflow" vert="horz" wrap="square" rtlCol="0" anchor="t">
            <a:spAutoFit/>
          </a:bodyPr>
          <a:lstStyle/>
          <a:p>
            <a:pPr algn="l"/>
            <a:r>
              <a:rPr lang="en-US" sz="1300" b="1">
                <a:solidFill>
                  <a:srgbClr val="0E8A8A"/>
                </a:solidFill>
                <a:latin typeface="Source Sans Pro"/>
                <a:ea typeface="Source Sans Pro"/>
              </a:rPr>
              <a:t>HOW TO OVERCOME IT</a:t>
            </a:r>
          </a:p>
        </p:txBody>
      </p:sp>
      <p:sp>
        <p:nvSpPr>
          <p:cNvPr id="8" name="Rounded Rectangle 7">
            <a:extLst>
              <a:ext uri="{FF2B5EF4-FFF2-40B4-BE49-F238E27FC236}">
                <a16:creationId xmlns:a16="http://schemas.microsoft.com/office/drawing/2014/main" id="{3847B9E7-A79F-DF48-89E2-463B32761ABA}"/>
              </a:ext>
            </a:extLst>
          </p:cNvPr>
          <p:cNvSpPr/>
          <p:nvPr/>
        </p:nvSpPr>
        <p:spPr>
          <a:xfrm>
            <a:off x="1016000" y="3124200"/>
            <a:ext cx="4953000" cy="863600"/>
          </a:xfrm>
          <a:prstGeom prst="roundRect">
            <a:avLst/>
          </a:prstGeom>
          <a:solidFill>
            <a:srgbClr val="FBEE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D636B674-3AA5-9141-82CB-68FEEEFA655C}"/>
              </a:ext>
            </a:extLst>
          </p:cNvPr>
          <p:cNvSpPr txBox="1"/>
          <p:nvPr/>
        </p:nvSpPr>
        <p:spPr>
          <a:xfrm>
            <a:off x="1320800" y="3251200"/>
            <a:ext cx="4445000" cy="304800"/>
          </a:xfrm>
          <a:prstGeom prst="rect">
            <a:avLst/>
          </a:prstGeom>
          <a:noFill/>
        </p:spPr>
        <p:txBody>
          <a:bodyPr vertOverflow="overflow" vert="horz" wrap="square" rtlCol="0" anchor="t">
            <a:spAutoFit/>
          </a:bodyPr>
          <a:lstStyle/>
          <a:p>
            <a:pPr algn="l"/>
            <a:r>
              <a:rPr lang="en-US" sz="1700" b="1">
                <a:solidFill>
                  <a:srgbClr val="C0392B"/>
                </a:solidFill>
                <a:latin typeface="Poppins"/>
                <a:cs typeface="Poppins"/>
              </a:rPr>
              <a:t>Low motivation</a:t>
            </a:r>
          </a:p>
        </p:txBody>
      </p:sp>
      <p:sp>
        <p:nvSpPr>
          <p:cNvPr id="10" name="TextBox 9">
            <a:extLst>
              <a:ext uri="{FF2B5EF4-FFF2-40B4-BE49-F238E27FC236}">
                <a16:creationId xmlns:a16="http://schemas.microsoft.com/office/drawing/2014/main" id="{39BB9EBD-1966-E749-9CD7-F6B6093C41ED}"/>
              </a:ext>
            </a:extLst>
          </p:cNvPr>
          <p:cNvSpPr txBox="1"/>
          <p:nvPr/>
        </p:nvSpPr>
        <p:spPr>
          <a:xfrm>
            <a:off x="1320800" y="3581400"/>
            <a:ext cx="4445000" cy="482600"/>
          </a:xfrm>
          <a:prstGeom prst="rect">
            <a:avLst/>
          </a:prstGeom>
          <a:noFill/>
        </p:spPr>
        <p:txBody>
          <a:bodyPr vertOverflow="overflow" vert="horz" wrap="square" rtlCol="0" anchor="t">
            <a:spAutoFit/>
          </a:bodyPr>
          <a:lstStyle/>
          <a:p>
            <a:pPr algn="l"/>
            <a:r>
              <a:rPr lang="en-US" sz="1300">
                <a:solidFill>
                  <a:srgbClr val="7A4A44"/>
                </a:solidFill>
                <a:latin typeface="Source Sans Pro"/>
                <a:ea typeface="Source Sans Pro"/>
              </a:rPr>
              <a:t>“Just reflect” feels pointless without a clear purpose.</a:t>
            </a:r>
          </a:p>
        </p:txBody>
      </p:sp>
      <p:sp>
        <p:nvSpPr>
          <p:cNvPr id="11" name="Right Arrow 10">
            <a:extLst>
              <a:ext uri="{FF2B5EF4-FFF2-40B4-BE49-F238E27FC236}">
                <a16:creationId xmlns:a16="http://schemas.microsoft.com/office/drawing/2014/main" id="{68CDDB85-0019-FC43-87B7-9FE29C562102}"/>
              </a:ext>
            </a:extLst>
          </p:cNvPr>
          <p:cNvSpPr/>
          <p:nvPr/>
        </p:nvSpPr>
        <p:spPr>
          <a:xfrm>
            <a:off x="6019800" y="3429000"/>
            <a:ext cx="279400" cy="254000"/>
          </a:xfrm>
          <a:prstGeom prst="rightArrow">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BF93F54D-05AE-0F4D-991C-A54029D05847}"/>
              </a:ext>
            </a:extLst>
          </p:cNvPr>
          <p:cNvSpPr/>
          <p:nvPr/>
        </p:nvSpPr>
        <p:spPr>
          <a:xfrm>
            <a:off x="6350000" y="3124200"/>
            <a:ext cx="4953000" cy="863600"/>
          </a:xfrm>
          <a:prstGeom prst="roundRect">
            <a:avLst/>
          </a:prstGeom>
          <a:solidFill>
            <a:srgbClr val="EAF6F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75E60F6A-655E-BE4B-9683-DF19F875E0E5}"/>
              </a:ext>
            </a:extLst>
          </p:cNvPr>
          <p:cNvSpPr txBox="1"/>
          <p:nvPr/>
        </p:nvSpPr>
        <p:spPr>
          <a:xfrm>
            <a:off x="6654800" y="3251200"/>
            <a:ext cx="4445000" cy="323165"/>
          </a:xfrm>
          <a:prstGeom prst="rect">
            <a:avLst/>
          </a:prstGeom>
          <a:noFill/>
        </p:spPr>
        <p:txBody>
          <a:bodyPr vertOverflow="overflow" vert="horz" wrap="square" rtlCol="0" anchor="t">
            <a:spAutoFit/>
          </a:bodyPr>
          <a:lstStyle/>
          <a:p>
            <a:pPr>
              <a:buNone/>
            </a:pPr>
            <a:r>
              <a:rPr lang="en-US" sz="1500" dirty="0">
                <a:solidFill>
                  <a:srgbClr val="0E5A52"/>
                </a:solidFill>
              </a:rPr>
              <a:t>Set an </a:t>
            </a:r>
            <a:r>
              <a:rPr lang="en-US" sz="1500" b="1" dirty="0">
                <a:solidFill>
                  <a:srgbClr val="0E5A52"/>
                </a:solidFill>
              </a:rPr>
              <a:t>explicit, specific goal</a:t>
            </a:r>
            <a:r>
              <a:rPr lang="en-US" sz="1500" dirty="0">
                <a:solidFill>
                  <a:srgbClr val="0E5A52"/>
                </a:solidFill>
              </a:rPr>
              <a:t> for each reflection.</a:t>
            </a:r>
          </a:p>
        </p:txBody>
      </p:sp>
      <p:sp>
        <p:nvSpPr>
          <p:cNvPr id="14" name="Rounded Rectangle 13">
            <a:extLst>
              <a:ext uri="{FF2B5EF4-FFF2-40B4-BE49-F238E27FC236}">
                <a16:creationId xmlns:a16="http://schemas.microsoft.com/office/drawing/2014/main" id="{CC99A3FC-661D-AA4F-A956-E9667AD5F6F2}"/>
              </a:ext>
            </a:extLst>
          </p:cNvPr>
          <p:cNvSpPr/>
          <p:nvPr/>
        </p:nvSpPr>
        <p:spPr>
          <a:xfrm>
            <a:off x="1016000" y="4140200"/>
            <a:ext cx="4953000" cy="863600"/>
          </a:xfrm>
          <a:prstGeom prst="roundRect">
            <a:avLst/>
          </a:prstGeom>
          <a:solidFill>
            <a:srgbClr val="FBEE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327A228F-0A95-614F-9BD6-95BDFAC6C614}"/>
              </a:ext>
            </a:extLst>
          </p:cNvPr>
          <p:cNvSpPr txBox="1"/>
          <p:nvPr/>
        </p:nvSpPr>
        <p:spPr>
          <a:xfrm>
            <a:off x="1320800" y="4267200"/>
            <a:ext cx="4445000" cy="304800"/>
          </a:xfrm>
          <a:prstGeom prst="rect">
            <a:avLst/>
          </a:prstGeom>
          <a:noFill/>
        </p:spPr>
        <p:txBody>
          <a:bodyPr vertOverflow="overflow" vert="horz" wrap="square" rtlCol="0" anchor="t">
            <a:spAutoFit/>
          </a:bodyPr>
          <a:lstStyle/>
          <a:p>
            <a:pPr algn="l"/>
            <a:r>
              <a:rPr lang="en-US" sz="1700" b="1">
                <a:solidFill>
                  <a:srgbClr val="C0392B"/>
                </a:solidFill>
                <a:latin typeface="Poppins"/>
                <a:cs typeface="Poppins"/>
              </a:rPr>
              <a:t>Emotional vulnerability</a:t>
            </a:r>
          </a:p>
        </p:txBody>
      </p:sp>
      <p:sp>
        <p:nvSpPr>
          <p:cNvPr id="16" name="TextBox 15">
            <a:extLst>
              <a:ext uri="{FF2B5EF4-FFF2-40B4-BE49-F238E27FC236}">
                <a16:creationId xmlns:a16="http://schemas.microsoft.com/office/drawing/2014/main" id="{2D972CCD-A0D0-C44E-819E-DC73D232C794}"/>
              </a:ext>
            </a:extLst>
          </p:cNvPr>
          <p:cNvSpPr txBox="1"/>
          <p:nvPr/>
        </p:nvSpPr>
        <p:spPr>
          <a:xfrm>
            <a:off x="1320800" y="4597400"/>
            <a:ext cx="4445000" cy="482600"/>
          </a:xfrm>
          <a:prstGeom prst="rect">
            <a:avLst/>
          </a:prstGeom>
          <a:noFill/>
        </p:spPr>
        <p:txBody>
          <a:bodyPr vertOverflow="overflow" vert="horz" wrap="square" rtlCol="0" anchor="t">
            <a:spAutoFit/>
          </a:bodyPr>
          <a:lstStyle/>
          <a:p>
            <a:pPr algn="l"/>
            <a:r>
              <a:rPr lang="en-US" sz="1300">
                <a:solidFill>
                  <a:srgbClr val="7A4A44"/>
                </a:solidFill>
                <a:latin typeface="Source Sans Pro"/>
                <a:ea typeface="Source Sans Pro"/>
              </a:rPr>
              <a:t>Deep reflection exposes feelings of doubt or failure.</a:t>
            </a:r>
          </a:p>
        </p:txBody>
      </p:sp>
      <p:sp>
        <p:nvSpPr>
          <p:cNvPr id="17" name="Right Arrow 16">
            <a:extLst>
              <a:ext uri="{FF2B5EF4-FFF2-40B4-BE49-F238E27FC236}">
                <a16:creationId xmlns:a16="http://schemas.microsoft.com/office/drawing/2014/main" id="{9B3A0D54-8C27-794D-A4F4-8CDA1252BC7A}"/>
              </a:ext>
            </a:extLst>
          </p:cNvPr>
          <p:cNvSpPr/>
          <p:nvPr/>
        </p:nvSpPr>
        <p:spPr>
          <a:xfrm>
            <a:off x="6019800" y="4445000"/>
            <a:ext cx="279400" cy="254000"/>
          </a:xfrm>
          <a:prstGeom prst="rightArrow">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ounded Rectangle 17">
            <a:extLst>
              <a:ext uri="{FF2B5EF4-FFF2-40B4-BE49-F238E27FC236}">
                <a16:creationId xmlns:a16="http://schemas.microsoft.com/office/drawing/2014/main" id="{646CF358-ABA5-CC42-90F0-039D8EEBC5BA}"/>
              </a:ext>
            </a:extLst>
          </p:cNvPr>
          <p:cNvSpPr/>
          <p:nvPr/>
        </p:nvSpPr>
        <p:spPr>
          <a:xfrm>
            <a:off x="6350000" y="4140200"/>
            <a:ext cx="4953000" cy="863600"/>
          </a:xfrm>
          <a:prstGeom prst="roundRect">
            <a:avLst/>
          </a:prstGeom>
          <a:solidFill>
            <a:srgbClr val="EAF6F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28EBDB71-F22F-8F41-927A-2FB314C58594}"/>
              </a:ext>
            </a:extLst>
          </p:cNvPr>
          <p:cNvSpPr txBox="1"/>
          <p:nvPr/>
        </p:nvSpPr>
        <p:spPr>
          <a:xfrm>
            <a:off x="6654800" y="4267200"/>
            <a:ext cx="4445000" cy="323165"/>
          </a:xfrm>
          <a:prstGeom prst="rect">
            <a:avLst/>
          </a:prstGeom>
          <a:noFill/>
        </p:spPr>
        <p:txBody>
          <a:bodyPr vertOverflow="overflow" vert="horz" wrap="square" rtlCol="0" anchor="t">
            <a:spAutoFit/>
          </a:bodyPr>
          <a:lstStyle/>
          <a:p>
            <a:pPr>
              <a:buNone/>
            </a:pPr>
            <a:r>
              <a:rPr lang="en-US" sz="1500" dirty="0">
                <a:solidFill>
                  <a:srgbClr val="0E5A52"/>
                </a:solidFill>
              </a:rPr>
              <a:t>Create a </a:t>
            </a:r>
            <a:r>
              <a:rPr lang="en-US" sz="1500" b="1" dirty="0">
                <a:solidFill>
                  <a:srgbClr val="0E5A52"/>
                </a:solidFill>
              </a:rPr>
              <a:t>safe space</a:t>
            </a:r>
            <a:r>
              <a:rPr lang="en-US" sz="1500" dirty="0">
                <a:solidFill>
                  <a:srgbClr val="0E5A52"/>
                </a:solidFill>
              </a:rPr>
              <a:t>; offer support beyond the task.</a:t>
            </a:r>
          </a:p>
        </p:txBody>
      </p:sp>
      <p:sp>
        <p:nvSpPr>
          <p:cNvPr id="20" name="Rounded Rectangle 19">
            <a:extLst>
              <a:ext uri="{FF2B5EF4-FFF2-40B4-BE49-F238E27FC236}">
                <a16:creationId xmlns:a16="http://schemas.microsoft.com/office/drawing/2014/main" id="{64968674-44B4-B348-8727-E3EAEB5652AF}"/>
              </a:ext>
            </a:extLst>
          </p:cNvPr>
          <p:cNvSpPr/>
          <p:nvPr/>
        </p:nvSpPr>
        <p:spPr>
          <a:xfrm>
            <a:off x="1016000" y="5156200"/>
            <a:ext cx="4953000" cy="863600"/>
          </a:xfrm>
          <a:prstGeom prst="roundRect">
            <a:avLst/>
          </a:prstGeom>
          <a:solidFill>
            <a:srgbClr val="FBEE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3124CB16-616F-CB4C-A2CE-826D59DB4AD2}"/>
              </a:ext>
            </a:extLst>
          </p:cNvPr>
          <p:cNvSpPr txBox="1"/>
          <p:nvPr/>
        </p:nvSpPr>
        <p:spPr>
          <a:xfrm>
            <a:off x="1320800" y="5283200"/>
            <a:ext cx="4445000" cy="304800"/>
          </a:xfrm>
          <a:prstGeom prst="rect">
            <a:avLst/>
          </a:prstGeom>
          <a:noFill/>
        </p:spPr>
        <p:txBody>
          <a:bodyPr vertOverflow="overflow" vert="horz" wrap="square" rtlCol="0" anchor="t">
            <a:spAutoFit/>
          </a:bodyPr>
          <a:lstStyle/>
          <a:p>
            <a:pPr algn="l"/>
            <a:r>
              <a:rPr lang="en-US" sz="1700" b="1">
                <a:solidFill>
                  <a:srgbClr val="C0392B"/>
                </a:solidFill>
                <a:latin typeface="Poppins"/>
                <a:cs typeface="Poppins"/>
              </a:rPr>
              <a:t>Assessment tension</a:t>
            </a:r>
          </a:p>
        </p:txBody>
      </p:sp>
      <p:sp>
        <p:nvSpPr>
          <p:cNvPr id="22" name="TextBox 21">
            <a:extLst>
              <a:ext uri="{FF2B5EF4-FFF2-40B4-BE49-F238E27FC236}">
                <a16:creationId xmlns:a16="http://schemas.microsoft.com/office/drawing/2014/main" id="{330BAB8A-B231-8141-B7B4-25A0DC5B8055}"/>
              </a:ext>
            </a:extLst>
          </p:cNvPr>
          <p:cNvSpPr txBox="1"/>
          <p:nvPr/>
        </p:nvSpPr>
        <p:spPr>
          <a:xfrm>
            <a:off x="1320800" y="5613400"/>
            <a:ext cx="4445000" cy="482600"/>
          </a:xfrm>
          <a:prstGeom prst="rect">
            <a:avLst/>
          </a:prstGeom>
          <a:noFill/>
        </p:spPr>
        <p:txBody>
          <a:bodyPr vertOverflow="overflow" vert="horz" wrap="square" rtlCol="0" anchor="t">
            <a:spAutoFit/>
          </a:bodyPr>
          <a:lstStyle/>
          <a:p>
            <a:pPr algn="l"/>
            <a:r>
              <a:rPr lang="en-US" sz="1300">
                <a:solidFill>
                  <a:srgbClr val="7A4A44"/>
                </a:solidFill>
                <a:latin typeface="Source Sans Pro"/>
                <a:ea typeface="Source Sans Pro"/>
              </a:rPr>
              <a:t>Being graded discourages honest, deep reflection.</a:t>
            </a:r>
          </a:p>
        </p:txBody>
      </p:sp>
      <p:sp>
        <p:nvSpPr>
          <p:cNvPr id="23" name="Right Arrow 22">
            <a:extLst>
              <a:ext uri="{FF2B5EF4-FFF2-40B4-BE49-F238E27FC236}">
                <a16:creationId xmlns:a16="http://schemas.microsoft.com/office/drawing/2014/main" id="{3F95D31F-9910-4C4B-A74A-256DB9A573C2}"/>
              </a:ext>
            </a:extLst>
          </p:cNvPr>
          <p:cNvSpPr/>
          <p:nvPr/>
        </p:nvSpPr>
        <p:spPr>
          <a:xfrm>
            <a:off x="6019800" y="5461000"/>
            <a:ext cx="279400" cy="254000"/>
          </a:xfrm>
          <a:prstGeom prst="rightArrow">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ounded Rectangle 23">
            <a:extLst>
              <a:ext uri="{FF2B5EF4-FFF2-40B4-BE49-F238E27FC236}">
                <a16:creationId xmlns:a16="http://schemas.microsoft.com/office/drawing/2014/main" id="{44E5DC6B-5BE7-C648-9D88-9F117E15E65D}"/>
              </a:ext>
            </a:extLst>
          </p:cNvPr>
          <p:cNvSpPr/>
          <p:nvPr/>
        </p:nvSpPr>
        <p:spPr>
          <a:xfrm>
            <a:off x="6350000" y="5156200"/>
            <a:ext cx="4953000" cy="863600"/>
          </a:xfrm>
          <a:prstGeom prst="roundRect">
            <a:avLst/>
          </a:prstGeom>
          <a:solidFill>
            <a:srgbClr val="EAF6F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DD448B8E-A4B4-1548-A9BA-F7D3871D509F}"/>
              </a:ext>
            </a:extLst>
          </p:cNvPr>
          <p:cNvSpPr txBox="1"/>
          <p:nvPr/>
        </p:nvSpPr>
        <p:spPr>
          <a:xfrm>
            <a:off x="6654800" y="5283200"/>
            <a:ext cx="4445000" cy="323165"/>
          </a:xfrm>
          <a:prstGeom prst="rect">
            <a:avLst/>
          </a:prstGeom>
          <a:noFill/>
        </p:spPr>
        <p:txBody>
          <a:bodyPr vertOverflow="overflow" vert="horz" wrap="square" rtlCol="0" anchor="t">
            <a:spAutoFit/>
          </a:bodyPr>
          <a:lstStyle/>
          <a:p>
            <a:pPr>
              <a:buNone/>
            </a:pPr>
            <a:r>
              <a:rPr lang="en-US" sz="1500" dirty="0">
                <a:solidFill>
                  <a:srgbClr val="0E5A52"/>
                </a:solidFill>
              </a:rPr>
              <a:t>Separate the </a:t>
            </a:r>
            <a:r>
              <a:rPr lang="en-US" sz="1500" b="1" dirty="0">
                <a:solidFill>
                  <a:srgbClr val="0E5A52"/>
                </a:solidFill>
              </a:rPr>
              <a:t>mentor role from the assessor role</a:t>
            </a:r>
            <a:r>
              <a:rPr lang="en-US" sz="1500" dirty="0">
                <a:solidFill>
                  <a:srgbClr val="0E5A52"/>
                </a:solidFill>
              </a:rPr>
              <a:t>.</a:t>
            </a:r>
          </a:p>
        </p:txBody>
      </p:sp>
      <p:sp>
        <p:nvSpPr>
          <p:cNvPr id="26" name="Citation">
            <a:extLst>
              <a:ext uri="{FF2B5EF4-FFF2-40B4-BE49-F238E27FC236}">
                <a16:creationId xmlns:a16="http://schemas.microsoft.com/office/drawing/2014/main" id="{EF83672B-68CD-8E42-A39D-FC68DA26D657}"/>
              </a:ext>
            </a:extLst>
          </p:cNvPr>
          <p:cNvSpPr txBox="1"/>
          <p:nvPr/>
        </p:nvSpPr>
        <p:spPr>
          <a:xfrm>
            <a:off x="1016000" y="6477000"/>
            <a:ext cx="10541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Sandars J. The use of reflection in medical education: AMEE Guide No. 44. Medical Teacher. 2009;31:685–695.</a:t>
            </a:r>
          </a:p>
        </p:txBody>
      </p:sp>
    </p:spTree>
    <p:extLst>
      <p:ext uri="{BB962C8B-B14F-4D97-AF65-F5344CB8AC3E}">
        <p14:creationId xmlns:p14="http://schemas.microsoft.com/office/powerpoint/2010/main" val="10801603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FD015B7B-3057-F44F-9107-A8A788AF0E55}"/>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FF66E8E3-FC8F-7344-AD9D-41C116E91EBE}"/>
              </a:ext>
            </a:extLst>
          </p:cNvPr>
          <p:cNvSpPr txBox="1"/>
          <p:nvPr/>
        </p:nvSpPr>
        <p:spPr>
          <a:xfrm>
            <a:off x="1244600" y="863600"/>
            <a:ext cx="3048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APPLY · A PRACTICAL MODEL</a:t>
            </a:r>
          </a:p>
        </p:txBody>
      </p:sp>
      <p:sp>
        <p:nvSpPr>
          <p:cNvPr id="4" name="SlideTitle">
            <a:extLst>
              <a:ext uri="{FF2B5EF4-FFF2-40B4-BE49-F238E27FC236}">
                <a16:creationId xmlns:a16="http://schemas.microsoft.com/office/drawing/2014/main" id="{47CAD6E0-CBA0-9E4F-8D8B-8CFA82C84FE9}"/>
              </a:ext>
            </a:extLst>
          </p:cNvPr>
          <p:cNvSpPr txBox="1"/>
          <p:nvPr/>
        </p:nvSpPr>
        <p:spPr>
          <a:xfrm>
            <a:off x="990600" y="1219200"/>
            <a:ext cx="4572000" cy="1524000"/>
          </a:xfrm>
          <a:prstGeom prst="rect">
            <a:avLst/>
          </a:prstGeom>
          <a:noFill/>
        </p:spPr>
        <p:txBody>
          <a:bodyPr vertOverflow="overflow" vert="horz" wrap="square" rtlCol="0" anchor="t">
            <a:spAutoFit/>
          </a:bodyPr>
          <a:lstStyle/>
          <a:p>
            <a:pPr algn="l"/>
            <a:r>
              <a:rPr lang="en-US" sz="4000" b="1" dirty="0">
                <a:solidFill>
                  <a:srgbClr val="0E2A3B"/>
                </a:solidFill>
                <a:latin typeface="Poppins"/>
                <a:cs typeface="Poppins"/>
              </a:rPr>
              <a:t>Gibbs' reflective cycle</a:t>
            </a:r>
          </a:p>
        </p:txBody>
      </p:sp>
      <p:sp>
        <p:nvSpPr>
          <p:cNvPr id="5" name="Rectangle 4">
            <a:extLst>
              <a:ext uri="{FF2B5EF4-FFF2-40B4-BE49-F238E27FC236}">
                <a16:creationId xmlns:a16="http://schemas.microsoft.com/office/drawing/2014/main" id="{111F3894-367D-7447-A0BE-5CC6B8CFC76A}"/>
              </a:ext>
            </a:extLst>
          </p:cNvPr>
          <p:cNvSpPr/>
          <p:nvPr/>
        </p:nvSpPr>
        <p:spPr>
          <a:xfrm>
            <a:off x="1041400" y="28448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7A3A25BA-405E-9A4C-B549-F473C8477716}"/>
              </a:ext>
            </a:extLst>
          </p:cNvPr>
          <p:cNvSpPr txBox="1"/>
          <p:nvPr/>
        </p:nvSpPr>
        <p:spPr>
          <a:xfrm>
            <a:off x="1016000" y="3124200"/>
            <a:ext cx="2819400" cy="2713692"/>
          </a:xfrm>
          <a:prstGeom prst="rect">
            <a:avLst/>
          </a:prstGeom>
          <a:noFill/>
        </p:spPr>
        <p:txBody>
          <a:bodyPr vertOverflow="overflow" vert="horz" wrap="square" rtlCol="0" anchor="t">
            <a:spAutoFit/>
          </a:bodyPr>
          <a:lstStyle/>
          <a:p>
            <a:pPr algn="l">
              <a:lnSpc>
                <a:spcPts val="2200"/>
              </a:lnSpc>
              <a:spcAft>
                <a:spcPts val="800"/>
              </a:spcAft>
            </a:pPr>
            <a:r>
              <a:rPr lang="en-US" sz="1500" dirty="0">
                <a:solidFill>
                  <a:srgbClr val="33474F"/>
                </a:solidFill>
                <a:latin typeface="Source Sans Pro"/>
                <a:ea typeface="Source Sans Pro"/>
              </a:rPr>
              <a:t>A structured way to turn experience into learning. It guides you through </a:t>
            </a:r>
            <a:r>
              <a:rPr lang="en-US" sz="1500" b="1" dirty="0">
                <a:solidFill>
                  <a:srgbClr val="0E8A8A"/>
                </a:solidFill>
                <a:latin typeface="Source Sans Pro"/>
                <a:ea typeface="Source Sans Pro"/>
              </a:rPr>
              <a:t>six stages</a:t>
            </a:r>
            <a:r>
              <a:rPr lang="en-US" sz="1500" b="1" dirty="0">
                <a:solidFill>
                  <a:srgbClr val="33474F"/>
                </a:solidFill>
                <a:latin typeface="Source Sans Pro"/>
                <a:ea typeface="Source Sans Pro"/>
              </a:rPr>
              <a:t>.</a:t>
            </a:r>
            <a:r>
              <a:rPr lang="en-US" sz="1500" dirty="0">
                <a:solidFill>
                  <a:srgbClr val="33474F"/>
                </a:solidFill>
                <a:latin typeface="Source Sans Pro"/>
                <a:ea typeface="Source Sans Pro"/>
              </a:rPr>
              <a:t> From what happened to what you will do differently.</a:t>
            </a:r>
          </a:p>
          <a:p>
            <a:pPr algn="l">
              <a:lnSpc>
                <a:spcPts val="2200"/>
              </a:lnSpc>
              <a:spcAft>
                <a:spcPts val="800"/>
              </a:spcAft>
            </a:pPr>
            <a:r>
              <a:rPr lang="en-US" sz="1500" dirty="0">
                <a:solidFill>
                  <a:srgbClr val="33474F"/>
                </a:solidFill>
                <a:latin typeface="Source Sans Pro"/>
                <a:ea typeface="Source Sans Pro"/>
              </a:rPr>
              <a:t>Run the loop after any </a:t>
            </a:r>
            <a:r>
              <a:rPr lang="en-US" sz="1500" b="1" dirty="0">
                <a:solidFill>
                  <a:srgbClr val="0E8A8A"/>
                </a:solidFill>
                <a:latin typeface="Source Sans Pro"/>
                <a:ea typeface="Source Sans Pro"/>
              </a:rPr>
              <a:t>clinical experience</a:t>
            </a:r>
            <a:r>
              <a:rPr lang="en-US" sz="1500" dirty="0">
                <a:solidFill>
                  <a:srgbClr val="33474F"/>
                </a:solidFill>
                <a:latin typeface="Source Sans Pro"/>
                <a:ea typeface="Source Sans Pro"/>
              </a:rPr>
              <a:t> to build </a:t>
            </a:r>
            <a:r>
              <a:rPr lang="en-US" sz="1500" b="1" dirty="0">
                <a:solidFill>
                  <a:srgbClr val="0E8A8A"/>
                </a:solidFill>
                <a:latin typeface="Source Sans Pro"/>
                <a:ea typeface="Source Sans Pro"/>
              </a:rPr>
              <a:t>self-awareness</a:t>
            </a:r>
            <a:r>
              <a:rPr lang="en-US" sz="1500" dirty="0">
                <a:solidFill>
                  <a:srgbClr val="33474F"/>
                </a:solidFill>
                <a:latin typeface="Source Sans Pro"/>
                <a:ea typeface="Source Sans Pro"/>
              </a:rPr>
              <a:t> and steadily improve your practice.</a:t>
            </a:r>
          </a:p>
        </p:txBody>
      </p:sp>
      <p:sp>
        <p:nvSpPr>
          <p:cNvPr id="33" name="Citation">
            <a:extLst>
              <a:ext uri="{FF2B5EF4-FFF2-40B4-BE49-F238E27FC236}">
                <a16:creationId xmlns:a16="http://schemas.microsoft.com/office/drawing/2014/main" id="{C7320A1F-FB66-F546-8E1A-42042967B086}"/>
              </a:ext>
            </a:extLst>
          </p:cNvPr>
          <p:cNvSpPr txBox="1"/>
          <p:nvPr/>
        </p:nvSpPr>
        <p:spPr>
          <a:xfrm>
            <a:off x="1016000" y="6452938"/>
            <a:ext cx="10414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Gibbs G. Learning by Doing. 1988. A widely used practical model in medical education.</a:t>
            </a:r>
          </a:p>
        </p:txBody>
      </p:sp>
      <p:graphicFrame>
        <p:nvGraphicFramePr>
          <p:cNvPr id="151" name="GibbsRingChart"/>
          <p:cNvGraphicFramePr/>
          <p:nvPr>
            <p:extLst>
              <p:ext uri="{D42A27DB-BD31-4B8C-83A1-F6EECF244321}">
                <p14:modId xmlns:p14="http://schemas.microsoft.com/office/powerpoint/2010/main" val="391549226"/>
              </p:ext>
            </p:extLst>
          </p:nvPr>
        </p:nvGraphicFramePr>
        <p:xfrm>
          <a:off x="6350000" y="1930400"/>
          <a:ext cx="3810000" cy="3810000"/>
        </p:xfrm>
        <a:graphic>
          <a:graphicData uri="http://schemas.openxmlformats.org/drawingml/2006/chart">
            <c:chart xmlns:c="http://schemas.openxmlformats.org/drawingml/2006/chart" xmlns:r="http://schemas.openxmlformats.org/officeDocument/2006/relationships" r:id="rId3"/>
          </a:graphicData>
        </a:graphic>
      </p:graphicFrame>
      <p:sp>
        <p:nvSpPr>
          <p:cNvPr id="13" name="GibbsHub">
            <a:extLst>
              <a:ext uri="{FF2B5EF4-FFF2-40B4-BE49-F238E27FC236}">
                <a16:creationId xmlns:a16="http://schemas.microsoft.com/office/drawing/2014/main" id="{4DF023FE-C6CB-464E-8170-2EFE92546BD8}"/>
              </a:ext>
            </a:extLst>
          </p:cNvPr>
          <p:cNvSpPr/>
          <p:nvPr/>
        </p:nvSpPr>
        <p:spPr>
          <a:xfrm>
            <a:off x="7429500" y="3009900"/>
            <a:ext cx="1651000" cy="1651000"/>
          </a:xfrm>
          <a:prstGeom prst="ellipse">
            <a:avLst/>
          </a:prstGeom>
          <a:solidFill>
            <a:srgbClr val="0E2A3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n-US" sz="1500" b="1" dirty="0">
                <a:solidFill>
                  <a:srgbClr val="FFFFFF"/>
                </a:solidFill>
                <a:latin typeface="Poppins"/>
                <a:cs typeface="Poppins"/>
              </a:rPr>
              <a:t>Reflect </a:t>
            </a:r>
          </a:p>
          <a:p>
            <a:pPr algn="ctr"/>
            <a:r>
              <a:rPr lang="en-US" sz="1500" b="1" dirty="0">
                <a:solidFill>
                  <a:srgbClr val="FFFFFF"/>
                </a:solidFill>
                <a:latin typeface="Poppins"/>
                <a:cs typeface="Poppins"/>
              </a:rPr>
              <a:t>&amp;
Repeat</a:t>
            </a:r>
          </a:p>
        </p:txBody>
      </p:sp>
      <p:sp>
        <p:nvSpPr>
          <p:cNvPr id="400" name="disc1"/>
          <p:cNvSpPr/>
          <p:nvPr/>
        </p:nvSpPr>
        <p:spPr>
          <a:xfrm>
            <a:off x="9105900" y="1778000"/>
            <a:ext cx="431800" cy="431800"/>
          </a:xfrm>
          <a:prstGeom prst="ellipse">
            <a:avLst/>
          </a:prstGeom>
          <a:solidFill>
            <a:srgbClr val="0E8A8A"/>
          </a:solidFill>
          <a:ln>
            <a:noFill/>
          </a:ln>
        </p:spPr>
        <p:txBody>
          <a:bodyPr wrap="none" lIns="0" tIns="0" rIns="0" bIns="0" anchor="ctr">
            <a:spAutoFit/>
          </a:bodyPr>
          <a:lstStyle/>
          <a:p>
            <a:pPr algn="ctr"/>
            <a:r>
              <a:rPr lang="en-US" sz="1500" b="1">
                <a:solidFill>
                  <a:srgbClr val="FFFFFF"/>
                </a:solidFill>
                <a:latin typeface="Poppins"/>
                <a:cs typeface="Poppins"/>
              </a:rPr>
              <a:t>1</a:t>
            </a:r>
          </a:p>
        </p:txBody>
      </p:sp>
      <p:sp>
        <p:nvSpPr>
          <p:cNvPr id="401" name="lbl1"/>
          <p:cNvSpPr/>
          <p:nvPr/>
        </p:nvSpPr>
        <p:spPr>
          <a:xfrm>
            <a:off x="9639300" y="1638300"/>
            <a:ext cx="1905000" cy="711200"/>
          </a:xfrm>
          <a:prstGeom prst="rect">
            <a:avLst/>
          </a:prstGeom>
          <a:noFill/>
          <a:ln>
            <a:noFill/>
          </a:ln>
        </p:spPr>
        <p:txBody>
          <a:bodyPr wrap="square" lIns="0" tIns="0" rIns="0" bIns="0" anchor="ctr"/>
          <a:lstStyle/>
          <a:p>
            <a:pPr algn="l"/>
            <a:r>
              <a:rPr lang="en-US" sz="1500" b="1">
                <a:solidFill>
                  <a:srgbClr val="0E8A8A"/>
                </a:solidFill>
                <a:latin typeface="Poppins"/>
                <a:cs typeface="Poppins"/>
              </a:rPr>
              <a:t>Description</a:t>
            </a:r>
          </a:p>
          <a:p>
            <a:pPr algn="l"/>
            <a:r>
              <a:rPr lang="en-US" sz="1300">
                <a:solidFill>
                  <a:srgbClr val="5A6A70"/>
                </a:solidFill>
                <a:latin typeface="Source Sans Pro"/>
                <a:ea typeface="Source Sans Pro"/>
              </a:rPr>
              <a:t>What happened?</a:t>
            </a:r>
          </a:p>
        </p:txBody>
      </p:sp>
      <p:sp>
        <p:nvSpPr>
          <p:cNvPr id="402" name="disc2"/>
          <p:cNvSpPr/>
          <p:nvPr/>
        </p:nvSpPr>
        <p:spPr>
          <a:xfrm>
            <a:off x="10172700" y="3619500"/>
            <a:ext cx="431800" cy="431800"/>
          </a:xfrm>
          <a:prstGeom prst="ellipse">
            <a:avLst/>
          </a:prstGeom>
          <a:solidFill>
            <a:srgbClr val="12B5A5"/>
          </a:solidFill>
          <a:ln>
            <a:noFill/>
          </a:ln>
        </p:spPr>
        <p:txBody>
          <a:bodyPr wrap="none" lIns="0" tIns="0" rIns="0" bIns="0" anchor="ctr">
            <a:spAutoFit/>
          </a:bodyPr>
          <a:lstStyle/>
          <a:p>
            <a:pPr algn="ctr"/>
            <a:r>
              <a:rPr lang="en-US" sz="1500" b="1">
                <a:solidFill>
                  <a:srgbClr val="FFFFFF"/>
                </a:solidFill>
                <a:latin typeface="Poppins"/>
                <a:cs typeface="Poppins"/>
              </a:rPr>
              <a:t>2</a:t>
            </a:r>
          </a:p>
        </p:txBody>
      </p:sp>
      <p:sp>
        <p:nvSpPr>
          <p:cNvPr id="403" name="lbl2"/>
          <p:cNvSpPr/>
          <p:nvPr/>
        </p:nvSpPr>
        <p:spPr>
          <a:xfrm>
            <a:off x="10706100" y="3479800"/>
            <a:ext cx="1905000" cy="711200"/>
          </a:xfrm>
          <a:prstGeom prst="rect">
            <a:avLst/>
          </a:prstGeom>
          <a:noFill/>
          <a:ln>
            <a:noFill/>
          </a:ln>
        </p:spPr>
        <p:txBody>
          <a:bodyPr wrap="square" lIns="0" tIns="0" rIns="0" bIns="0" anchor="ctr"/>
          <a:lstStyle/>
          <a:p>
            <a:pPr algn="l"/>
            <a:r>
              <a:rPr lang="en-US" sz="1500" b="1">
                <a:solidFill>
                  <a:srgbClr val="12B5A5"/>
                </a:solidFill>
                <a:latin typeface="Poppins"/>
                <a:cs typeface="Poppins"/>
              </a:rPr>
              <a:t>Feelings</a:t>
            </a:r>
          </a:p>
          <a:p>
            <a:pPr algn="l"/>
            <a:r>
              <a:rPr lang="en-US" sz="1300">
                <a:solidFill>
                  <a:srgbClr val="5A6A70"/>
                </a:solidFill>
                <a:latin typeface="Source Sans Pro"/>
                <a:ea typeface="Source Sans Pro"/>
              </a:rPr>
              <a:t>What did you feel?</a:t>
            </a:r>
          </a:p>
        </p:txBody>
      </p:sp>
      <p:sp>
        <p:nvSpPr>
          <p:cNvPr id="404" name="disc3"/>
          <p:cNvSpPr/>
          <p:nvPr/>
        </p:nvSpPr>
        <p:spPr>
          <a:xfrm>
            <a:off x="9105900" y="5461000"/>
            <a:ext cx="431800" cy="431800"/>
          </a:xfrm>
          <a:prstGeom prst="ellipse">
            <a:avLst/>
          </a:prstGeom>
          <a:solidFill>
            <a:srgbClr val="1F4E6B"/>
          </a:solidFill>
          <a:ln>
            <a:noFill/>
          </a:ln>
        </p:spPr>
        <p:txBody>
          <a:bodyPr wrap="none" lIns="0" tIns="0" rIns="0" bIns="0" anchor="ctr">
            <a:spAutoFit/>
          </a:bodyPr>
          <a:lstStyle/>
          <a:p>
            <a:pPr algn="ctr"/>
            <a:r>
              <a:rPr lang="en-US" sz="1500" b="1">
                <a:solidFill>
                  <a:srgbClr val="FFFFFF"/>
                </a:solidFill>
                <a:latin typeface="Poppins"/>
                <a:cs typeface="Poppins"/>
              </a:rPr>
              <a:t>3</a:t>
            </a:r>
          </a:p>
        </p:txBody>
      </p:sp>
      <p:sp>
        <p:nvSpPr>
          <p:cNvPr id="405" name="lbl3"/>
          <p:cNvSpPr/>
          <p:nvPr/>
        </p:nvSpPr>
        <p:spPr>
          <a:xfrm>
            <a:off x="9639300" y="5321300"/>
            <a:ext cx="1905000" cy="711200"/>
          </a:xfrm>
          <a:prstGeom prst="rect">
            <a:avLst/>
          </a:prstGeom>
          <a:noFill/>
          <a:ln>
            <a:noFill/>
          </a:ln>
        </p:spPr>
        <p:txBody>
          <a:bodyPr wrap="square" lIns="0" tIns="0" rIns="0" bIns="0" anchor="ctr"/>
          <a:lstStyle/>
          <a:p>
            <a:pPr algn="l"/>
            <a:r>
              <a:rPr lang="en-US" sz="1500" b="1">
                <a:solidFill>
                  <a:srgbClr val="1F4E6B"/>
                </a:solidFill>
                <a:latin typeface="Poppins"/>
                <a:cs typeface="Poppins"/>
              </a:rPr>
              <a:t>Evaluation</a:t>
            </a:r>
          </a:p>
          <a:p>
            <a:pPr algn="l"/>
            <a:r>
              <a:rPr lang="en-US" sz="1300">
                <a:solidFill>
                  <a:srgbClr val="5A6A70"/>
                </a:solidFill>
                <a:latin typeface="Source Sans Pro"/>
                <a:ea typeface="Source Sans Pro"/>
              </a:rPr>
              <a:t>What was good or bad?</a:t>
            </a:r>
          </a:p>
        </p:txBody>
      </p:sp>
      <p:sp>
        <p:nvSpPr>
          <p:cNvPr id="406" name="disc4"/>
          <p:cNvSpPr/>
          <p:nvPr/>
        </p:nvSpPr>
        <p:spPr>
          <a:xfrm>
            <a:off x="6972300" y="5461000"/>
            <a:ext cx="431800" cy="431800"/>
          </a:xfrm>
          <a:prstGeom prst="ellipse">
            <a:avLst/>
          </a:prstGeom>
          <a:solidFill>
            <a:srgbClr val="3E7596"/>
          </a:solidFill>
          <a:ln>
            <a:noFill/>
          </a:ln>
        </p:spPr>
        <p:txBody>
          <a:bodyPr wrap="none" lIns="0" tIns="0" rIns="0" bIns="0" anchor="ctr">
            <a:spAutoFit/>
          </a:bodyPr>
          <a:lstStyle/>
          <a:p>
            <a:pPr algn="ctr"/>
            <a:r>
              <a:rPr lang="en-US" sz="1500" b="1" dirty="0">
                <a:solidFill>
                  <a:srgbClr val="FFFFFF"/>
                </a:solidFill>
                <a:latin typeface="Poppins"/>
                <a:cs typeface="Poppins"/>
              </a:rPr>
              <a:t>4</a:t>
            </a:r>
          </a:p>
        </p:txBody>
      </p:sp>
      <p:sp>
        <p:nvSpPr>
          <p:cNvPr id="407" name="lbl4"/>
          <p:cNvSpPr/>
          <p:nvPr/>
        </p:nvSpPr>
        <p:spPr>
          <a:xfrm>
            <a:off x="4965700" y="5321300"/>
            <a:ext cx="1905000" cy="711200"/>
          </a:xfrm>
          <a:prstGeom prst="rect">
            <a:avLst/>
          </a:prstGeom>
          <a:noFill/>
          <a:ln>
            <a:noFill/>
          </a:ln>
        </p:spPr>
        <p:txBody>
          <a:bodyPr wrap="square" lIns="0" tIns="0" rIns="0" bIns="0" anchor="ctr"/>
          <a:lstStyle/>
          <a:p>
            <a:pPr algn="r"/>
            <a:r>
              <a:rPr lang="en-US" sz="1500" b="1">
                <a:solidFill>
                  <a:srgbClr val="3E7596"/>
                </a:solidFill>
                <a:latin typeface="Poppins"/>
                <a:cs typeface="Poppins"/>
              </a:rPr>
              <a:t>Analysis</a:t>
            </a:r>
          </a:p>
          <a:p>
            <a:pPr algn="r"/>
            <a:r>
              <a:rPr lang="en-US" sz="1300">
                <a:solidFill>
                  <a:srgbClr val="5A6A70"/>
                </a:solidFill>
                <a:latin typeface="Source Sans Pro"/>
                <a:ea typeface="Source Sans Pro"/>
              </a:rPr>
              <a:t>Why did it happen?</a:t>
            </a:r>
          </a:p>
        </p:txBody>
      </p:sp>
      <p:sp>
        <p:nvSpPr>
          <p:cNvPr id="408" name="disc5"/>
          <p:cNvSpPr/>
          <p:nvPr/>
        </p:nvSpPr>
        <p:spPr>
          <a:xfrm>
            <a:off x="5905500" y="3619500"/>
            <a:ext cx="431800" cy="431800"/>
          </a:xfrm>
          <a:prstGeom prst="ellipse">
            <a:avLst/>
          </a:prstGeom>
          <a:solidFill>
            <a:srgbClr val="E08A3C"/>
          </a:solidFill>
          <a:ln>
            <a:noFill/>
          </a:ln>
        </p:spPr>
        <p:txBody>
          <a:bodyPr wrap="none" lIns="0" tIns="0" rIns="0" bIns="0" anchor="ctr">
            <a:spAutoFit/>
          </a:bodyPr>
          <a:lstStyle/>
          <a:p>
            <a:pPr algn="ctr"/>
            <a:r>
              <a:rPr lang="en-US" sz="1500" b="1" dirty="0">
                <a:solidFill>
                  <a:srgbClr val="FFFFFF"/>
                </a:solidFill>
                <a:latin typeface="Poppins"/>
                <a:cs typeface="Poppins"/>
              </a:rPr>
              <a:t>5</a:t>
            </a:r>
          </a:p>
        </p:txBody>
      </p:sp>
      <p:sp>
        <p:nvSpPr>
          <p:cNvPr id="409" name="lbl5"/>
          <p:cNvSpPr/>
          <p:nvPr/>
        </p:nvSpPr>
        <p:spPr>
          <a:xfrm>
            <a:off x="3898900" y="3479800"/>
            <a:ext cx="1905000" cy="711200"/>
          </a:xfrm>
          <a:prstGeom prst="rect">
            <a:avLst/>
          </a:prstGeom>
          <a:noFill/>
          <a:ln>
            <a:noFill/>
          </a:ln>
        </p:spPr>
        <p:txBody>
          <a:bodyPr wrap="square" lIns="0" tIns="0" rIns="0" bIns="0" anchor="ctr"/>
          <a:lstStyle/>
          <a:p>
            <a:pPr algn="r"/>
            <a:r>
              <a:rPr lang="en-US" sz="1500" b="1">
                <a:solidFill>
                  <a:srgbClr val="E08A3C"/>
                </a:solidFill>
                <a:latin typeface="Poppins"/>
                <a:cs typeface="Poppins"/>
              </a:rPr>
              <a:t>Conclusion</a:t>
            </a:r>
          </a:p>
          <a:p>
            <a:pPr algn="r"/>
            <a:r>
              <a:rPr lang="en-US" sz="1300">
                <a:solidFill>
                  <a:srgbClr val="5A6A70"/>
                </a:solidFill>
                <a:latin typeface="Source Sans Pro"/>
                <a:ea typeface="Source Sans Pro"/>
              </a:rPr>
              <a:t>What else could you do?</a:t>
            </a:r>
          </a:p>
        </p:txBody>
      </p:sp>
      <p:sp>
        <p:nvSpPr>
          <p:cNvPr id="410" name="disc6"/>
          <p:cNvSpPr/>
          <p:nvPr/>
        </p:nvSpPr>
        <p:spPr>
          <a:xfrm>
            <a:off x="6972300" y="1778000"/>
            <a:ext cx="431800" cy="431800"/>
          </a:xfrm>
          <a:prstGeom prst="ellipse">
            <a:avLst/>
          </a:prstGeom>
          <a:solidFill>
            <a:srgbClr val="C97B33"/>
          </a:solidFill>
          <a:ln>
            <a:noFill/>
          </a:ln>
        </p:spPr>
        <p:txBody>
          <a:bodyPr wrap="none" lIns="0" tIns="0" rIns="0" bIns="0" anchor="ctr">
            <a:spAutoFit/>
          </a:bodyPr>
          <a:lstStyle/>
          <a:p>
            <a:pPr algn="ctr"/>
            <a:r>
              <a:rPr lang="en-US" sz="1500" b="1">
                <a:solidFill>
                  <a:srgbClr val="FFFFFF"/>
                </a:solidFill>
                <a:latin typeface="Poppins"/>
                <a:cs typeface="Poppins"/>
              </a:rPr>
              <a:t>6</a:t>
            </a:r>
          </a:p>
        </p:txBody>
      </p:sp>
      <p:sp>
        <p:nvSpPr>
          <p:cNvPr id="411" name="lbl6"/>
          <p:cNvSpPr/>
          <p:nvPr/>
        </p:nvSpPr>
        <p:spPr>
          <a:xfrm>
            <a:off x="4965700" y="1638300"/>
            <a:ext cx="1905000" cy="711200"/>
          </a:xfrm>
          <a:prstGeom prst="rect">
            <a:avLst/>
          </a:prstGeom>
          <a:noFill/>
          <a:ln>
            <a:noFill/>
          </a:ln>
        </p:spPr>
        <p:txBody>
          <a:bodyPr wrap="square" lIns="0" tIns="0" rIns="0" bIns="0" anchor="ctr"/>
          <a:lstStyle/>
          <a:p>
            <a:pPr algn="r"/>
            <a:r>
              <a:rPr lang="en-US" sz="1500" b="1">
                <a:solidFill>
                  <a:srgbClr val="C97B33"/>
                </a:solidFill>
                <a:latin typeface="Poppins"/>
                <a:cs typeface="Poppins"/>
              </a:rPr>
              <a:t>Action plan</a:t>
            </a:r>
          </a:p>
          <a:p>
            <a:pPr algn="r"/>
            <a:r>
              <a:rPr lang="en-US" sz="1300">
                <a:solidFill>
                  <a:srgbClr val="5A6A70"/>
                </a:solidFill>
                <a:latin typeface="Source Sans Pro"/>
                <a:ea typeface="Source Sans Pro"/>
              </a:rPr>
              <a:t>What will you do next?</a:t>
            </a:r>
          </a:p>
        </p:txBody>
      </p:sp>
    </p:spTree>
    <p:extLst>
      <p:ext uri="{BB962C8B-B14F-4D97-AF65-F5344CB8AC3E}">
        <p14:creationId xmlns:p14="http://schemas.microsoft.com/office/powerpoint/2010/main" val="42949452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897C214B-23B8-A944-92D8-19D9C2272E11}"/>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9F9F3A89-31C8-BA44-8163-9B61EFA3118B}"/>
              </a:ext>
            </a:extLst>
          </p:cNvPr>
          <p:cNvSpPr txBox="1"/>
          <p:nvPr/>
        </p:nvSpPr>
        <p:spPr>
          <a:xfrm>
            <a:off x="1244600" y="863600"/>
            <a:ext cx="5080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APPLY · YOUR ROUTINE</a:t>
            </a:r>
          </a:p>
        </p:txBody>
      </p:sp>
      <p:sp>
        <p:nvSpPr>
          <p:cNvPr id="4" name="SlideTitle">
            <a:extLst>
              <a:ext uri="{FF2B5EF4-FFF2-40B4-BE49-F238E27FC236}">
                <a16:creationId xmlns:a16="http://schemas.microsoft.com/office/drawing/2014/main" id="{C9E8E3FF-8F6F-004A-9475-A1A5FC9D7330}"/>
              </a:ext>
            </a:extLst>
          </p:cNvPr>
          <p:cNvSpPr txBox="1"/>
          <p:nvPr/>
        </p:nvSpPr>
        <p:spPr>
          <a:xfrm>
            <a:off x="990600" y="1219200"/>
            <a:ext cx="10414000" cy="889000"/>
          </a:xfrm>
          <a:prstGeom prst="rect">
            <a:avLst/>
          </a:prstGeom>
          <a:noFill/>
        </p:spPr>
        <p:txBody>
          <a:bodyPr vertOverflow="overflow" vert="horz" wrap="square" rtlCol="0" anchor="t">
            <a:spAutoFit/>
          </a:bodyPr>
          <a:lstStyle/>
          <a:p>
            <a:pPr algn="l"/>
            <a:r>
              <a:rPr lang="en-US" sz="4000" b="1">
                <a:solidFill>
                  <a:srgbClr val="0E2A3B"/>
                </a:solidFill>
                <a:latin typeface="Poppins"/>
                <a:cs typeface="Poppins"/>
              </a:rPr>
              <a:t>Build a daily reflective habit</a:t>
            </a:r>
          </a:p>
        </p:txBody>
      </p:sp>
      <p:sp>
        <p:nvSpPr>
          <p:cNvPr id="5" name="Rectangle 4">
            <a:extLst>
              <a:ext uri="{FF2B5EF4-FFF2-40B4-BE49-F238E27FC236}">
                <a16:creationId xmlns:a16="http://schemas.microsoft.com/office/drawing/2014/main" id="{B4B48E3E-AC37-B345-8F2C-FA7B79DEB36C}"/>
              </a:ext>
            </a:extLst>
          </p:cNvPr>
          <p:cNvSpPr/>
          <p:nvPr/>
        </p:nvSpPr>
        <p:spPr>
          <a:xfrm>
            <a:off x="1041400" y="21082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8FEF1C3D-DC69-6248-AA20-72BB96CE345D}"/>
              </a:ext>
            </a:extLst>
          </p:cNvPr>
          <p:cNvSpPr txBox="1"/>
          <p:nvPr/>
        </p:nvSpPr>
        <p:spPr>
          <a:xfrm>
            <a:off x="1016000" y="2438400"/>
            <a:ext cx="10414000" cy="381000"/>
          </a:xfrm>
          <a:prstGeom prst="rect">
            <a:avLst/>
          </a:prstGeom>
          <a:noFill/>
        </p:spPr>
        <p:txBody>
          <a:bodyPr vertOverflow="overflow" vert="horz" wrap="square" rtlCol="0" anchor="t">
            <a:spAutoFit/>
          </a:bodyPr>
          <a:lstStyle/>
          <a:p>
            <a:pPr algn="l"/>
            <a:r>
              <a:rPr lang="en-US" sz="1700">
                <a:solidFill>
                  <a:srgbClr val="33474F"/>
                </a:solidFill>
                <a:latin typeface="Source Sans Pro"/>
                <a:ea typeface="Source Sans Pro"/>
              </a:rPr>
              <a:t>You don't need an hour. A few minutes, done consistently, builds the skill. Try this loop after each clinical day.</a:t>
            </a:r>
          </a:p>
        </p:txBody>
      </p:sp>
      <p:sp>
        <p:nvSpPr>
          <p:cNvPr id="7" name="Rectangle 6">
            <a:extLst>
              <a:ext uri="{FF2B5EF4-FFF2-40B4-BE49-F238E27FC236}">
                <a16:creationId xmlns:a16="http://schemas.microsoft.com/office/drawing/2014/main" id="{7C1EE620-5345-B94D-BB58-ADDBD0D96BE6}"/>
              </a:ext>
            </a:extLst>
          </p:cNvPr>
          <p:cNvSpPr/>
          <p:nvPr/>
        </p:nvSpPr>
        <p:spPr>
          <a:xfrm>
            <a:off x="1651000" y="3962400"/>
            <a:ext cx="8890000" cy="50800"/>
          </a:xfrm>
          <a:prstGeom prst="rect">
            <a:avLst/>
          </a:prstGeom>
          <a:solidFill>
            <a:srgbClr val="D9E6E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Oval 7">
            <a:extLst>
              <a:ext uri="{FF2B5EF4-FFF2-40B4-BE49-F238E27FC236}">
                <a16:creationId xmlns:a16="http://schemas.microsoft.com/office/drawing/2014/main" id="{EE325B09-EEAD-884D-813C-65FDCAF2123E}"/>
              </a:ext>
            </a:extLst>
          </p:cNvPr>
          <p:cNvSpPr/>
          <p:nvPr/>
        </p:nvSpPr>
        <p:spPr>
          <a:xfrm>
            <a:off x="1778000" y="3657600"/>
            <a:ext cx="660400" cy="660400"/>
          </a:xfrm>
          <a:prstGeom prst="ellipse">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200" b="1" dirty="0">
                <a:solidFill>
                  <a:srgbClr val="FFFFFF"/>
                </a:solidFill>
                <a:latin typeface="Poppins"/>
                <a:cs typeface="Poppins"/>
              </a:rPr>
              <a:t>1</a:t>
            </a:r>
          </a:p>
        </p:txBody>
      </p:sp>
      <p:sp>
        <p:nvSpPr>
          <p:cNvPr id="9" name="TextBox 8">
            <a:extLst>
              <a:ext uri="{FF2B5EF4-FFF2-40B4-BE49-F238E27FC236}">
                <a16:creationId xmlns:a16="http://schemas.microsoft.com/office/drawing/2014/main" id="{D3A15798-52F7-7B48-8FAC-35429C27503F}"/>
              </a:ext>
            </a:extLst>
          </p:cNvPr>
          <p:cNvSpPr txBox="1"/>
          <p:nvPr/>
        </p:nvSpPr>
        <p:spPr>
          <a:xfrm>
            <a:off x="1270000" y="4546600"/>
            <a:ext cx="2413000" cy="355600"/>
          </a:xfrm>
          <a:prstGeom prst="rect">
            <a:avLst/>
          </a:prstGeom>
          <a:noFill/>
        </p:spPr>
        <p:txBody>
          <a:bodyPr vertOverflow="overflow" vert="horz" wrap="square" rtlCol="0" anchor="t">
            <a:spAutoFit/>
          </a:bodyPr>
          <a:lstStyle/>
          <a:p>
            <a:pPr algn="l"/>
            <a:r>
              <a:rPr lang="en-US" sz="1900" b="1">
                <a:solidFill>
                  <a:srgbClr val="0E8A8A"/>
                </a:solidFill>
                <a:latin typeface="Poppins"/>
                <a:cs typeface="Poppins"/>
              </a:rPr>
              <a:t>Pause</a:t>
            </a:r>
          </a:p>
        </p:txBody>
      </p:sp>
      <p:sp>
        <p:nvSpPr>
          <p:cNvPr id="10" name="TextBox 9">
            <a:extLst>
              <a:ext uri="{FF2B5EF4-FFF2-40B4-BE49-F238E27FC236}">
                <a16:creationId xmlns:a16="http://schemas.microsoft.com/office/drawing/2014/main" id="{49E697CA-6AA0-1446-95EF-BBE5F1BAFB5D}"/>
              </a:ext>
            </a:extLst>
          </p:cNvPr>
          <p:cNvSpPr txBox="1"/>
          <p:nvPr/>
        </p:nvSpPr>
        <p:spPr>
          <a:xfrm>
            <a:off x="1270000" y="4927600"/>
            <a:ext cx="2413000" cy="762000"/>
          </a:xfrm>
          <a:prstGeom prst="rect">
            <a:avLst/>
          </a:prstGeom>
          <a:noFill/>
        </p:spPr>
        <p:txBody>
          <a:bodyPr vertOverflow="overflow" vert="horz" wrap="square" rtlCol="0" anchor="t">
            <a:spAutoFit/>
          </a:bodyPr>
          <a:lstStyle/>
          <a:p>
            <a:pPr algn="l"/>
            <a:r>
              <a:rPr lang="en-US" sz="1400">
                <a:solidFill>
                  <a:srgbClr val="33474F"/>
                </a:solidFill>
                <a:latin typeface="Source Sans Pro"/>
                <a:ea typeface="Source Sans Pro"/>
              </a:rPr>
              <a:t>Take 2 minutes at the end of the day.</a:t>
            </a:r>
          </a:p>
        </p:txBody>
      </p:sp>
      <p:sp>
        <p:nvSpPr>
          <p:cNvPr id="11" name="Oval 10">
            <a:extLst>
              <a:ext uri="{FF2B5EF4-FFF2-40B4-BE49-F238E27FC236}">
                <a16:creationId xmlns:a16="http://schemas.microsoft.com/office/drawing/2014/main" id="{99EA69E4-3E9B-664D-992E-286A1C71C8E8}"/>
              </a:ext>
            </a:extLst>
          </p:cNvPr>
          <p:cNvSpPr/>
          <p:nvPr/>
        </p:nvSpPr>
        <p:spPr>
          <a:xfrm>
            <a:off x="4064000" y="3657600"/>
            <a:ext cx="660400" cy="660400"/>
          </a:xfrm>
          <a:prstGeom prst="ellipse">
            <a:avLst/>
          </a:prstGeom>
          <a:solidFill>
            <a:srgbClr val="1F4E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200" b="1" dirty="0">
                <a:solidFill>
                  <a:srgbClr val="FFFFFF"/>
                </a:solidFill>
                <a:latin typeface="Poppins"/>
                <a:cs typeface="Poppins"/>
              </a:rPr>
              <a:t>2</a:t>
            </a:r>
          </a:p>
        </p:txBody>
      </p:sp>
      <p:sp>
        <p:nvSpPr>
          <p:cNvPr id="12" name="TextBox 11">
            <a:extLst>
              <a:ext uri="{FF2B5EF4-FFF2-40B4-BE49-F238E27FC236}">
                <a16:creationId xmlns:a16="http://schemas.microsoft.com/office/drawing/2014/main" id="{9529CE2A-A993-A84D-9305-ADB0C068120E}"/>
              </a:ext>
            </a:extLst>
          </p:cNvPr>
          <p:cNvSpPr txBox="1"/>
          <p:nvPr/>
        </p:nvSpPr>
        <p:spPr>
          <a:xfrm>
            <a:off x="3556000" y="4546600"/>
            <a:ext cx="2413000" cy="355600"/>
          </a:xfrm>
          <a:prstGeom prst="rect">
            <a:avLst/>
          </a:prstGeom>
          <a:noFill/>
        </p:spPr>
        <p:txBody>
          <a:bodyPr vertOverflow="overflow" vert="horz" wrap="square" rtlCol="0" anchor="t">
            <a:spAutoFit/>
          </a:bodyPr>
          <a:lstStyle/>
          <a:p>
            <a:pPr algn="l"/>
            <a:r>
              <a:rPr lang="en-US" sz="1900" b="1">
                <a:solidFill>
                  <a:srgbClr val="1F4E6B"/>
                </a:solidFill>
                <a:latin typeface="Poppins"/>
                <a:cs typeface="Poppins"/>
              </a:rPr>
              <a:t>Pick one moment</a:t>
            </a:r>
          </a:p>
        </p:txBody>
      </p:sp>
      <p:sp>
        <p:nvSpPr>
          <p:cNvPr id="13" name="TextBox 12">
            <a:extLst>
              <a:ext uri="{FF2B5EF4-FFF2-40B4-BE49-F238E27FC236}">
                <a16:creationId xmlns:a16="http://schemas.microsoft.com/office/drawing/2014/main" id="{F51CECE8-F538-3945-8208-209813DA9D45}"/>
              </a:ext>
            </a:extLst>
          </p:cNvPr>
          <p:cNvSpPr txBox="1"/>
          <p:nvPr/>
        </p:nvSpPr>
        <p:spPr>
          <a:xfrm>
            <a:off x="3556000" y="4927600"/>
            <a:ext cx="2413000" cy="762000"/>
          </a:xfrm>
          <a:prstGeom prst="rect">
            <a:avLst/>
          </a:prstGeom>
          <a:noFill/>
        </p:spPr>
        <p:txBody>
          <a:bodyPr vertOverflow="overflow" vert="horz" wrap="square" rtlCol="0" anchor="t">
            <a:spAutoFit/>
          </a:bodyPr>
          <a:lstStyle/>
          <a:p>
            <a:pPr algn="l"/>
            <a:r>
              <a:rPr lang="en-US" sz="1400">
                <a:solidFill>
                  <a:srgbClr val="33474F"/>
                </a:solidFill>
                <a:latin typeface="Source Sans Pro"/>
                <a:ea typeface="Source Sans Pro"/>
              </a:rPr>
              <a:t>Choose a single case that stayed with you.</a:t>
            </a:r>
          </a:p>
        </p:txBody>
      </p:sp>
      <p:sp>
        <p:nvSpPr>
          <p:cNvPr id="14" name="Oval 13">
            <a:extLst>
              <a:ext uri="{FF2B5EF4-FFF2-40B4-BE49-F238E27FC236}">
                <a16:creationId xmlns:a16="http://schemas.microsoft.com/office/drawing/2014/main" id="{58174C42-99C5-6F40-9CA7-835FE6F9CF28}"/>
              </a:ext>
            </a:extLst>
          </p:cNvPr>
          <p:cNvSpPr/>
          <p:nvPr/>
        </p:nvSpPr>
        <p:spPr>
          <a:xfrm>
            <a:off x="6350000" y="3657600"/>
            <a:ext cx="660400" cy="6604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200" b="1" dirty="0">
                <a:solidFill>
                  <a:srgbClr val="FFFFFF"/>
                </a:solidFill>
                <a:latin typeface="Poppins"/>
                <a:cs typeface="Poppins"/>
              </a:rPr>
              <a:t>3</a:t>
            </a:r>
          </a:p>
        </p:txBody>
      </p:sp>
      <p:sp>
        <p:nvSpPr>
          <p:cNvPr id="15" name="TextBox 14">
            <a:extLst>
              <a:ext uri="{FF2B5EF4-FFF2-40B4-BE49-F238E27FC236}">
                <a16:creationId xmlns:a16="http://schemas.microsoft.com/office/drawing/2014/main" id="{852C4CBB-509A-4641-BE40-6641236E3689}"/>
              </a:ext>
            </a:extLst>
          </p:cNvPr>
          <p:cNvSpPr txBox="1"/>
          <p:nvPr/>
        </p:nvSpPr>
        <p:spPr>
          <a:xfrm>
            <a:off x="5842000" y="4546600"/>
            <a:ext cx="2413000" cy="355600"/>
          </a:xfrm>
          <a:prstGeom prst="rect">
            <a:avLst/>
          </a:prstGeom>
          <a:noFill/>
        </p:spPr>
        <p:txBody>
          <a:bodyPr vertOverflow="overflow" vert="horz" wrap="square" rtlCol="0" anchor="t">
            <a:spAutoFit/>
          </a:bodyPr>
          <a:lstStyle/>
          <a:p>
            <a:pPr algn="l"/>
            <a:r>
              <a:rPr lang="en-US" sz="1900" b="1">
                <a:solidFill>
                  <a:srgbClr val="E08A3C"/>
                </a:solidFill>
                <a:latin typeface="Poppins"/>
                <a:cs typeface="Poppins"/>
              </a:rPr>
              <a:t>Ask why</a:t>
            </a:r>
          </a:p>
        </p:txBody>
      </p:sp>
      <p:sp>
        <p:nvSpPr>
          <p:cNvPr id="16" name="TextBox 15">
            <a:extLst>
              <a:ext uri="{FF2B5EF4-FFF2-40B4-BE49-F238E27FC236}">
                <a16:creationId xmlns:a16="http://schemas.microsoft.com/office/drawing/2014/main" id="{152449A8-EE08-8443-8910-FE8F4337CA6C}"/>
              </a:ext>
            </a:extLst>
          </p:cNvPr>
          <p:cNvSpPr txBox="1"/>
          <p:nvPr/>
        </p:nvSpPr>
        <p:spPr>
          <a:xfrm>
            <a:off x="5842000" y="4927600"/>
            <a:ext cx="2413000" cy="762000"/>
          </a:xfrm>
          <a:prstGeom prst="rect">
            <a:avLst/>
          </a:prstGeom>
          <a:noFill/>
        </p:spPr>
        <p:txBody>
          <a:bodyPr vertOverflow="overflow" vert="horz" wrap="square" rtlCol="0" anchor="t">
            <a:spAutoFit/>
          </a:bodyPr>
          <a:lstStyle/>
          <a:p>
            <a:pPr algn="l"/>
            <a:r>
              <a:rPr lang="en-US" sz="1400">
                <a:solidFill>
                  <a:srgbClr val="33474F"/>
                </a:solidFill>
                <a:latin typeface="Source Sans Pro"/>
                <a:ea typeface="Source Sans Pro"/>
              </a:rPr>
              <a:t>What did it teach you about yourself?</a:t>
            </a:r>
          </a:p>
        </p:txBody>
      </p:sp>
      <p:sp>
        <p:nvSpPr>
          <p:cNvPr id="17" name="Oval 16">
            <a:extLst>
              <a:ext uri="{FF2B5EF4-FFF2-40B4-BE49-F238E27FC236}">
                <a16:creationId xmlns:a16="http://schemas.microsoft.com/office/drawing/2014/main" id="{59B77C01-9021-524C-8E16-765BA834A108}"/>
              </a:ext>
            </a:extLst>
          </p:cNvPr>
          <p:cNvSpPr/>
          <p:nvPr/>
        </p:nvSpPr>
        <p:spPr>
          <a:xfrm>
            <a:off x="8636000" y="3657600"/>
            <a:ext cx="660400" cy="660400"/>
          </a:xfrm>
          <a:prstGeom prst="ellipse">
            <a:avLst/>
          </a:prstGeom>
          <a:solidFill>
            <a:srgbClr val="12B5A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200" b="1" dirty="0">
                <a:solidFill>
                  <a:srgbClr val="FFFFFF"/>
                </a:solidFill>
                <a:latin typeface="Poppins"/>
                <a:cs typeface="Poppins"/>
              </a:rPr>
              <a:t>4</a:t>
            </a:r>
          </a:p>
        </p:txBody>
      </p:sp>
      <p:sp>
        <p:nvSpPr>
          <p:cNvPr id="18" name="TextBox 17">
            <a:extLst>
              <a:ext uri="{FF2B5EF4-FFF2-40B4-BE49-F238E27FC236}">
                <a16:creationId xmlns:a16="http://schemas.microsoft.com/office/drawing/2014/main" id="{CA2DA113-F9AD-E740-8716-F735FBB9DDC4}"/>
              </a:ext>
            </a:extLst>
          </p:cNvPr>
          <p:cNvSpPr txBox="1"/>
          <p:nvPr/>
        </p:nvSpPr>
        <p:spPr>
          <a:xfrm>
            <a:off x="8128000" y="4546600"/>
            <a:ext cx="2413000" cy="355600"/>
          </a:xfrm>
          <a:prstGeom prst="rect">
            <a:avLst/>
          </a:prstGeom>
          <a:noFill/>
        </p:spPr>
        <p:txBody>
          <a:bodyPr vertOverflow="overflow" vert="horz" wrap="square" rtlCol="0" anchor="t">
            <a:spAutoFit/>
          </a:bodyPr>
          <a:lstStyle/>
          <a:p>
            <a:pPr algn="l"/>
            <a:r>
              <a:rPr lang="en-US" sz="1900" b="1">
                <a:solidFill>
                  <a:srgbClr val="12B5A5"/>
                </a:solidFill>
                <a:latin typeface="Poppins"/>
                <a:cs typeface="Poppins"/>
              </a:rPr>
              <a:t>Commit</a:t>
            </a:r>
          </a:p>
        </p:txBody>
      </p:sp>
      <p:sp>
        <p:nvSpPr>
          <p:cNvPr id="19" name="TextBox 18">
            <a:extLst>
              <a:ext uri="{FF2B5EF4-FFF2-40B4-BE49-F238E27FC236}">
                <a16:creationId xmlns:a16="http://schemas.microsoft.com/office/drawing/2014/main" id="{703DE7EC-EAC4-9F47-92D1-57F4FD4EFDB8}"/>
              </a:ext>
            </a:extLst>
          </p:cNvPr>
          <p:cNvSpPr txBox="1"/>
          <p:nvPr/>
        </p:nvSpPr>
        <p:spPr>
          <a:xfrm>
            <a:off x="8128000" y="4927600"/>
            <a:ext cx="2413000" cy="762000"/>
          </a:xfrm>
          <a:prstGeom prst="rect">
            <a:avLst/>
          </a:prstGeom>
          <a:noFill/>
        </p:spPr>
        <p:txBody>
          <a:bodyPr vertOverflow="overflow" vert="horz" wrap="square" rtlCol="0" anchor="t">
            <a:spAutoFit/>
          </a:bodyPr>
          <a:lstStyle/>
          <a:p>
            <a:pPr algn="l"/>
            <a:r>
              <a:rPr lang="en-US" sz="1400">
                <a:solidFill>
                  <a:srgbClr val="33474F"/>
                </a:solidFill>
                <a:latin typeface="Source Sans Pro"/>
                <a:ea typeface="Source Sans Pro"/>
              </a:rPr>
              <a:t>Name one thing you'll do differently.</a:t>
            </a:r>
          </a:p>
        </p:txBody>
      </p:sp>
      <p:sp>
        <p:nvSpPr>
          <p:cNvPr id="20" name="Rounded Rectangle 19">
            <a:extLst>
              <a:ext uri="{FF2B5EF4-FFF2-40B4-BE49-F238E27FC236}">
                <a16:creationId xmlns:a16="http://schemas.microsoft.com/office/drawing/2014/main" id="{8621E178-5D7B-644B-83F5-C95DB91221C0}"/>
              </a:ext>
            </a:extLst>
          </p:cNvPr>
          <p:cNvSpPr/>
          <p:nvPr/>
        </p:nvSpPr>
        <p:spPr>
          <a:xfrm>
            <a:off x="1016000" y="5867400"/>
            <a:ext cx="10287000" cy="558800"/>
          </a:xfrm>
          <a:prstGeom prst="roundRect">
            <a:avLst/>
          </a:prstGeom>
          <a:solidFill>
            <a:srgbClr val="FBF1E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50" b="1" dirty="0">
                <a:solidFill>
                  <a:srgbClr val="6B4A20"/>
                </a:solidFill>
                <a:latin typeface="Source Sans Pro"/>
                <a:ea typeface="Source Sans Pro"/>
              </a:rPr>
              <a:t>Consistency beats length, two honest minutes a day outperforms one long entry a month.</a:t>
            </a:r>
          </a:p>
        </p:txBody>
      </p:sp>
    </p:spTree>
    <p:extLst>
      <p:ext uri="{BB962C8B-B14F-4D97-AF65-F5344CB8AC3E}">
        <p14:creationId xmlns:p14="http://schemas.microsoft.com/office/powerpoint/2010/main" val="25814471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897C214B-23B8-A944-92D8-19D9C2272E11}"/>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9F9F3A89-31C8-BA44-8163-9B61EFA3118B}"/>
              </a:ext>
            </a:extLst>
          </p:cNvPr>
          <p:cNvSpPr txBox="1"/>
          <p:nvPr/>
        </p:nvSpPr>
        <p:spPr>
          <a:xfrm>
            <a:off x="1244600" y="863600"/>
            <a:ext cx="5080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APPLY · WRITE IT UP</a:t>
            </a:r>
          </a:p>
        </p:txBody>
      </p:sp>
      <p:sp>
        <p:nvSpPr>
          <p:cNvPr id="4" name="SlideTitle">
            <a:extLst>
              <a:ext uri="{FF2B5EF4-FFF2-40B4-BE49-F238E27FC236}">
                <a16:creationId xmlns:a16="http://schemas.microsoft.com/office/drawing/2014/main" id="{C9E8E3FF-8F6F-004A-9475-A1A5FC9D7330}"/>
              </a:ext>
            </a:extLst>
          </p:cNvPr>
          <p:cNvSpPr txBox="1"/>
          <p:nvPr/>
        </p:nvSpPr>
        <p:spPr>
          <a:xfrm>
            <a:off x="990600" y="1219200"/>
            <a:ext cx="10414000" cy="707886"/>
          </a:xfrm>
          <a:prstGeom prst="rect">
            <a:avLst/>
          </a:prstGeom>
          <a:noFill/>
        </p:spPr>
        <p:txBody>
          <a:bodyPr vertOverflow="overflow" vert="horz" wrap="square" rtlCol="0" anchor="t">
            <a:spAutoFit/>
          </a:bodyPr>
          <a:lstStyle/>
          <a:p>
            <a:pPr algn="l"/>
            <a:r>
              <a:rPr lang="en-US" sz="4000" b="1">
                <a:solidFill>
                  <a:srgbClr val="0E2A3B"/>
                </a:solidFill>
                <a:latin typeface="Poppins"/>
                <a:cs typeface="Poppins"/>
              </a:rPr>
              <a:t>Write your reflective essay</a:t>
            </a:r>
          </a:p>
        </p:txBody>
      </p:sp>
      <p:sp>
        <p:nvSpPr>
          <p:cNvPr id="5" name="Rectangle 4">
            <a:extLst>
              <a:ext uri="{FF2B5EF4-FFF2-40B4-BE49-F238E27FC236}">
                <a16:creationId xmlns:a16="http://schemas.microsoft.com/office/drawing/2014/main" id="{B4B48E3E-AC37-B345-8F2C-FA7B79DEB36C}"/>
              </a:ext>
            </a:extLst>
          </p:cNvPr>
          <p:cNvSpPr/>
          <p:nvPr/>
        </p:nvSpPr>
        <p:spPr>
          <a:xfrm>
            <a:off x="1041400" y="21082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8FEF1C3D-DC69-6248-AA20-72BB96CE345D}"/>
              </a:ext>
            </a:extLst>
          </p:cNvPr>
          <p:cNvSpPr txBox="1"/>
          <p:nvPr/>
        </p:nvSpPr>
        <p:spPr>
          <a:xfrm>
            <a:off x="1016000" y="2438400"/>
            <a:ext cx="10414000" cy="338554"/>
          </a:xfrm>
          <a:prstGeom prst="rect">
            <a:avLst/>
          </a:prstGeom>
          <a:noFill/>
        </p:spPr>
        <p:txBody>
          <a:bodyPr vertOverflow="overflow" vert="horz" wrap="square" rtlCol="0" anchor="t">
            <a:spAutoFit/>
          </a:bodyPr>
          <a:lstStyle/>
          <a:p>
            <a:pPr algn="l"/>
            <a:r>
              <a:rPr lang="en-US" sz="1600">
                <a:solidFill>
                  <a:srgbClr val="33474F"/>
                </a:solidFill>
                <a:latin typeface="Source Sans Pro"/>
                <a:ea typeface="Source Sans Pro"/>
              </a:rPr>
              <a:t>Turn the cycle into paragraphs, then close with a SMART action plan you can act on.</a:t>
            </a:r>
          </a:p>
        </p:txBody>
      </p:sp>
      <p:sp>
        <p:nvSpPr>
          <p:cNvPr id="500" name="lh"/>
          <p:cNvSpPr/>
          <p:nvPr/>
        </p:nvSpPr>
        <p:spPr>
          <a:xfrm>
            <a:off x="1016000" y="2997200"/>
            <a:ext cx="5461000" cy="304800"/>
          </a:xfrm>
          <a:prstGeom prst="rect">
            <a:avLst/>
          </a:prstGeom>
          <a:noFill/>
          <a:ln>
            <a:noFill/>
          </a:ln>
        </p:spPr>
        <p:txBody>
          <a:bodyPr lIns="0" tIns="0" rIns="0" bIns="0" anchor="ctr"/>
          <a:lstStyle/>
          <a:p>
            <a:pPr algn="l"/>
            <a:r>
              <a:rPr lang="en-US" sz="1400" b="1">
                <a:solidFill>
                  <a:srgbClr val="0E2A3B"/>
                </a:solidFill>
                <a:latin typeface="Poppins"/>
                <a:cs typeface="Poppins"/>
              </a:rPr>
              <a:t>STRUCTURE · ONE PARAGRAPH PER STAGE</a:t>
            </a:r>
          </a:p>
        </p:txBody>
      </p:sp>
      <p:sp>
        <p:nvSpPr>
          <p:cNvPr id="501" name="d"/>
          <p:cNvSpPr/>
          <p:nvPr/>
        </p:nvSpPr>
        <p:spPr>
          <a:xfrm>
            <a:off x="1016000" y="3327400"/>
            <a:ext cx="355600" cy="355600"/>
          </a:xfrm>
          <a:prstGeom prst="ellipse">
            <a:avLst/>
          </a:prstGeom>
          <a:solidFill>
            <a:srgbClr val="0E8A8A"/>
          </a:solidFill>
          <a:ln>
            <a:noFill/>
          </a:ln>
        </p:spPr>
        <p:txBody>
          <a:bodyPr wrap="none" lIns="0" tIns="0" rIns="0" bIns="0" anchor="ctr"/>
          <a:lstStyle/>
          <a:p>
            <a:pPr algn="ctr"/>
            <a:r>
              <a:rPr lang="en-US" sz="1400" b="1">
                <a:solidFill>
                  <a:srgbClr val="FFFFFF"/>
                </a:solidFill>
                <a:latin typeface="Poppins"/>
                <a:cs typeface="Poppins"/>
              </a:rPr>
              <a:t>1</a:t>
            </a:r>
          </a:p>
        </p:txBody>
      </p:sp>
      <p:sp>
        <p:nvSpPr>
          <p:cNvPr id="502" name="l"/>
          <p:cNvSpPr/>
          <p:nvPr/>
        </p:nvSpPr>
        <p:spPr>
          <a:xfrm>
            <a:off x="1524000" y="3225800"/>
            <a:ext cx="4953000" cy="558800"/>
          </a:xfrm>
          <a:prstGeom prst="rect">
            <a:avLst/>
          </a:prstGeom>
          <a:noFill/>
          <a:ln>
            <a:noFill/>
          </a:ln>
        </p:spPr>
        <p:txBody>
          <a:bodyPr lIns="0" tIns="0" rIns="0" bIns="0" anchor="ctr"/>
          <a:lstStyle/>
          <a:p>
            <a:pPr algn="l"/>
            <a:r>
              <a:rPr lang="en-US" sz="1500" b="1">
                <a:solidFill>
                  <a:srgbClr val="0E2A3B"/>
                </a:solidFill>
                <a:latin typeface="Poppins"/>
                <a:cs typeface="Poppins"/>
              </a:rPr>
              <a:t>Description</a:t>
            </a:r>
          </a:p>
          <a:p>
            <a:pPr algn="l"/>
            <a:r>
              <a:rPr lang="en-US" sz="1300" i="1">
                <a:solidFill>
                  <a:srgbClr val="5A6A70"/>
                </a:solidFill>
                <a:latin typeface="Source Sans Pro"/>
                <a:ea typeface="Source Sans Pro"/>
              </a:rPr>
              <a:t>“During my placement, I…”</a:t>
            </a:r>
          </a:p>
        </p:txBody>
      </p:sp>
      <p:sp>
        <p:nvSpPr>
          <p:cNvPr id="503" name="d"/>
          <p:cNvSpPr/>
          <p:nvPr/>
        </p:nvSpPr>
        <p:spPr>
          <a:xfrm>
            <a:off x="1016000" y="3797300"/>
            <a:ext cx="355600" cy="355600"/>
          </a:xfrm>
          <a:prstGeom prst="ellipse">
            <a:avLst/>
          </a:prstGeom>
          <a:solidFill>
            <a:srgbClr val="12B5A5"/>
          </a:solidFill>
          <a:ln>
            <a:noFill/>
          </a:ln>
        </p:spPr>
        <p:txBody>
          <a:bodyPr wrap="none" lIns="0" tIns="0" rIns="0" bIns="0" anchor="ctr"/>
          <a:lstStyle/>
          <a:p>
            <a:pPr algn="ctr"/>
            <a:r>
              <a:rPr lang="en-US" sz="1400" b="1">
                <a:solidFill>
                  <a:srgbClr val="FFFFFF"/>
                </a:solidFill>
                <a:latin typeface="Poppins"/>
                <a:cs typeface="Poppins"/>
              </a:rPr>
              <a:t>2</a:t>
            </a:r>
          </a:p>
        </p:txBody>
      </p:sp>
      <p:sp>
        <p:nvSpPr>
          <p:cNvPr id="504" name="l"/>
          <p:cNvSpPr/>
          <p:nvPr/>
        </p:nvSpPr>
        <p:spPr>
          <a:xfrm>
            <a:off x="1524000" y="3695700"/>
            <a:ext cx="4953000" cy="558800"/>
          </a:xfrm>
          <a:prstGeom prst="rect">
            <a:avLst/>
          </a:prstGeom>
          <a:noFill/>
          <a:ln>
            <a:noFill/>
          </a:ln>
        </p:spPr>
        <p:txBody>
          <a:bodyPr lIns="0" tIns="0" rIns="0" bIns="0" anchor="ctr"/>
          <a:lstStyle/>
          <a:p>
            <a:pPr algn="l"/>
            <a:r>
              <a:rPr lang="en-US" sz="1500" b="1">
                <a:solidFill>
                  <a:srgbClr val="0E2A3B"/>
                </a:solidFill>
                <a:latin typeface="Poppins"/>
                <a:cs typeface="Poppins"/>
              </a:rPr>
              <a:t>Feelings</a:t>
            </a:r>
          </a:p>
          <a:p>
            <a:pPr algn="l"/>
            <a:r>
              <a:rPr lang="en-US" sz="1300" i="1">
                <a:solidFill>
                  <a:srgbClr val="5A6A70"/>
                </a:solidFill>
                <a:latin typeface="Source Sans Pro"/>
                <a:ea typeface="Source Sans Pro"/>
              </a:rPr>
              <a:t>“At the time I felt…”</a:t>
            </a:r>
          </a:p>
        </p:txBody>
      </p:sp>
      <p:sp>
        <p:nvSpPr>
          <p:cNvPr id="505" name="d"/>
          <p:cNvSpPr/>
          <p:nvPr/>
        </p:nvSpPr>
        <p:spPr>
          <a:xfrm>
            <a:off x="1016000" y="4267200"/>
            <a:ext cx="355600" cy="355600"/>
          </a:xfrm>
          <a:prstGeom prst="ellipse">
            <a:avLst/>
          </a:prstGeom>
          <a:solidFill>
            <a:srgbClr val="1F4E6B"/>
          </a:solidFill>
          <a:ln>
            <a:noFill/>
          </a:ln>
        </p:spPr>
        <p:txBody>
          <a:bodyPr wrap="none" lIns="0" tIns="0" rIns="0" bIns="0" anchor="ctr"/>
          <a:lstStyle/>
          <a:p>
            <a:pPr algn="ctr"/>
            <a:r>
              <a:rPr lang="en-US" sz="1400" b="1">
                <a:solidFill>
                  <a:srgbClr val="FFFFFF"/>
                </a:solidFill>
                <a:latin typeface="Poppins"/>
                <a:cs typeface="Poppins"/>
              </a:rPr>
              <a:t>3</a:t>
            </a:r>
          </a:p>
        </p:txBody>
      </p:sp>
      <p:sp>
        <p:nvSpPr>
          <p:cNvPr id="506" name="l"/>
          <p:cNvSpPr/>
          <p:nvPr/>
        </p:nvSpPr>
        <p:spPr>
          <a:xfrm>
            <a:off x="1524000" y="4165600"/>
            <a:ext cx="4953000" cy="558800"/>
          </a:xfrm>
          <a:prstGeom prst="rect">
            <a:avLst/>
          </a:prstGeom>
          <a:noFill/>
          <a:ln>
            <a:noFill/>
          </a:ln>
        </p:spPr>
        <p:txBody>
          <a:bodyPr lIns="0" tIns="0" rIns="0" bIns="0" anchor="ctr"/>
          <a:lstStyle/>
          <a:p>
            <a:pPr algn="l"/>
            <a:r>
              <a:rPr lang="en-US" sz="1500" b="1">
                <a:solidFill>
                  <a:srgbClr val="0E2A3B"/>
                </a:solidFill>
                <a:latin typeface="Poppins"/>
                <a:cs typeface="Poppins"/>
              </a:rPr>
              <a:t>Evaluation</a:t>
            </a:r>
          </a:p>
          <a:p>
            <a:pPr algn="l"/>
            <a:r>
              <a:rPr lang="en-US" sz="1300" i="1">
                <a:solidFill>
                  <a:srgbClr val="5A6A70"/>
                </a:solidFill>
                <a:latin typeface="Source Sans Pro"/>
                <a:ea typeface="Source Sans Pro"/>
              </a:rPr>
              <a:t>“What worked well was… less so was…”</a:t>
            </a:r>
          </a:p>
        </p:txBody>
      </p:sp>
      <p:sp>
        <p:nvSpPr>
          <p:cNvPr id="507" name="d"/>
          <p:cNvSpPr/>
          <p:nvPr/>
        </p:nvSpPr>
        <p:spPr>
          <a:xfrm>
            <a:off x="1016000" y="4737100"/>
            <a:ext cx="355600" cy="355600"/>
          </a:xfrm>
          <a:prstGeom prst="ellipse">
            <a:avLst/>
          </a:prstGeom>
          <a:solidFill>
            <a:srgbClr val="3E7596"/>
          </a:solidFill>
          <a:ln>
            <a:noFill/>
          </a:ln>
        </p:spPr>
        <p:txBody>
          <a:bodyPr wrap="none" lIns="0" tIns="0" rIns="0" bIns="0" anchor="ctr"/>
          <a:lstStyle/>
          <a:p>
            <a:pPr algn="ctr"/>
            <a:r>
              <a:rPr lang="en-US" sz="1400" b="1">
                <a:solidFill>
                  <a:srgbClr val="FFFFFF"/>
                </a:solidFill>
                <a:latin typeface="Poppins"/>
                <a:cs typeface="Poppins"/>
              </a:rPr>
              <a:t>4</a:t>
            </a:r>
          </a:p>
        </p:txBody>
      </p:sp>
      <p:sp>
        <p:nvSpPr>
          <p:cNvPr id="508" name="l"/>
          <p:cNvSpPr/>
          <p:nvPr/>
        </p:nvSpPr>
        <p:spPr>
          <a:xfrm>
            <a:off x="1524000" y="4635500"/>
            <a:ext cx="4953000" cy="558800"/>
          </a:xfrm>
          <a:prstGeom prst="rect">
            <a:avLst/>
          </a:prstGeom>
          <a:noFill/>
          <a:ln>
            <a:noFill/>
          </a:ln>
        </p:spPr>
        <p:txBody>
          <a:bodyPr lIns="0" tIns="0" rIns="0" bIns="0" anchor="ctr"/>
          <a:lstStyle/>
          <a:p>
            <a:pPr algn="l"/>
            <a:r>
              <a:rPr lang="en-US" sz="1500" b="1">
                <a:solidFill>
                  <a:srgbClr val="0E2A3B"/>
                </a:solidFill>
                <a:latin typeface="Poppins"/>
                <a:cs typeface="Poppins"/>
              </a:rPr>
              <a:t>Analysis</a:t>
            </a:r>
          </a:p>
          <a:p>
            <a:pPr algn="l"/>
            <a:r>
              <a:rPr lang="en-US" sz="1300" i="1">
                <a:solidFill>
                  <a:srgbClr val="5A6A70"/>
                </a:solidFill>
                <a:latin typeface="Source Sans Pro"/>
                <a:ea typeface="Source Sans Pro"/>
              </a:rPr>
              <a:t>“This likely happened because…”</a:t>
            </a:r>
          </a:p>
        </p:txBody>
      </p:sp>
      <p:sp>
        <p:nvSpPr>
          <p:cNvPr id="509" name="d"/>
          <p:cNvSpPr/>
          <p:nvPr/>
        </p:nvSpPr>
        <p:spPr>
          <a:xfrm>
            <a:off x="1016000" y="5207000"/>
            <a:ext cx="355600" cy="355600"/>
          </a:xfrm>
          <a:prstGeom prst="ellipse">
            <a:avLst/>
          </a:prstGeom>
          <a:solidFill>
            <a:srgbClr val="E08A3C"/>
          </a:solidFill>
          <a:ln>
            <a:noFill/>
          </a:ln>
        </p:spPr>
        <p:txBody>
          <a:bodyPr wrap="none" lIns="0" tIns="0" rIns="0" bIns="0" anchor="ctr"/>
          <a:lstStyle/>
          <a:p>
            <a:pPr algn="ctr"/>
            <a:r>
              <a:rPr lang="en-US" sz="1400" b="1">
                <a:solidFill>
                  <a:srgbClr val="FFFFFF"/>
                </a:solidFill>
                <a:latin typeface="Poppins"/>
                <a:cs typeface="Poppins"/>
              </a:rPr>
              <a:t>5</a:t>
            </a:r>
          </a:p>
        </p:txBody>
      </p:sp>
      <p:sp>
        <p:nvSpPr>
          <p:cNvPr id="510" name="l"/>
          <p:cNvSpPr/>
          <p:nvPr/>
        </p:nvSpPr>
        <p:spPr>
          <a:xfrm>
            <a:off x="1524000" y="5105400"/>
            <a:ext cx="4953000" cy="558800"/>
          </a:xfrm>
          <a:prstGeom prst="rect">
            <a:avLst/>
          </a:prstGeom>
          <a:noFill/>
          <a:ln>
            <a:noFill/>
          </a:ln>
        </p:spPr>
        <p:txBody>
          <a:bodyPr lIns="0" tIns="0" rIns="0" bIns="0" anchor="ctr"/>
          <a:lstStyle/>
          <a:p>
            <a:pPr algn="l"/>
            <a:r>
              <a:rPr lang="en-US" sz="1500" b="1">
                <a:solidFill>
                  <a:srgbClr val="0E2A3B"/>
                </a:solidFill>
                <a:latin typeface="Poppins"/>
                <a:cs typeface="Poppins"/>
              </a:rPr>
              <a:t>Conclusion</a:t>
            </a:r>
          </a:p>
          <a:p>
            <a:pPr algn="l"/>
            <a:r>
              <a:rPr lang="en-US" sz="1300" i="1">
                <a:solidFill>
                  <a:srgbClr val="5A6A70"/>
                </a:solidFill>
                <a:latin typeface="Source Sans Pro"/>
                <a:ea typeface="Source Sans Pro"/>
              </a:rPr>
              <a:t>“I now realise that…”</a:t>
            </a:r>
          </a:p>
        </p:txBody>
      </p:sp>
      <p:sp>
        <p:nvSpPr>
          <p:cNvPr id="511" name="d"/>
          <p:cNvSpPr/>
          <p:nvPr/>
        </p:nvSpPr>
        <p:spPr>
          <a:xfrm>
            <a:off x="1016000" y="5676900"/>
            <a:ext cx="355600" cy="355600"/>
          </a:xfrm>
          <a:prstGeom prst="ellipse">
            <a:avLst/>
          </a:prstGeom>
          <a:solidFill>
            <a:srgbClr val="C97B33"/>
          </a:solidFill>
          <a:ln>
            <a:noFill/>
          </a:ln>
        </p:spPr>
        <p:txBody>
          <a:bodyPr wrap="none" lIns="0" tIns="0" rIns="0" bIns="0" anchor="ctr"/>
          <a:lstStyle/>
          <a:p>
            <a:pPr algn="ctr"/>
            <a:r>
              <a:rPr lang="en-US" sz="1400" b="1">
                <a:solidFill>
                  <a:srgbClr val="FFFFFF"/>
                </a:solidFill>
                <a:latin typeface="Poppins"/>
                <a:cs typeface="Poppins"/>
              </a:rPr>
              <a:t>6</a:t>
            </a:r>
          </a:p>
        </p:txBody>
      </p:sp>
      <p:sp>
        <p:nvSpPr>
          <p:cNvPr id="512" name="l"/>
          <p:cNvSpPr/>
          <p:nvPr/>
        </p:nvSpPr>
        <p:spPr>
          <a:xfrm>
            <a:off x="1524000" y="5575300"/>
            <a:ext cx="4953000" cy="558800"/>
          </a:xfrm>
          <a:prstGeom prst="rect">
            <a:avLst/>
          </a:prstGeom>
          <a:noFill/>
          <a:ln>
            <a:noFill/>
          </a:ln>
        </p:spPr>
        <p:txBody>
          <a:bodyPr lIns="0" tIns="0" rIns="0" bIns="0" anchor="ctr"/>
          <a:lstStyle/>
          <a:p>
            <a:pPr algn="l"/>
            <a:r>
              <a:rPr lang="en-US" sz="1500" b="1">
                <a:solidFill>
                  <a:srgbClr val="0E2A3B"/>
                </a:solidFill>
                <a:latin typeface="Poppins"/>
                <a:cs typeface="Poppins"/>
              </a:rPr>
              <a:t>Action plan</a:t>
            </a:r>
          </a:p>
          <a:p>
            <a:pPr algn="l"/>
            <a:r>
              <a:rPr lang="en-US" sz="1300" i="1">
                <a:solidFill>
                  <a:srgbClr val="5A6A70"/>
                </a:solidFill>
                <a:latin typeface="Source Sans Pro"/>
                <a:ea typeface="Source Sans Pro"/>
              </a:rPr>
              <a:t>“Next time I will…”</a:t>
            </a:r>
          </a:p>
        </p:txBody>
      </p:sp>
      <p:sp>
        <p:nvSpPr>
          <p:cNvPr id="600" name="smartcard"/>
          <p:cNvSpPr/>
          <p:nvPr/>
        </p:nvSpPr>
        <p:spPr>
          <a:xfrm>
            <a:off x="6705600" y="3098800"/>
            <a:ext cx="4597400" cy="3454400"/>
          </a:xfrm>
          <a:prstGeom prst="roundRect">
            <a:avLst>
              <a:gd name="adj" fmla="val 4500"/>
            </a:avLst>
          </a:prstGeom>
          <a:solidFill>
            <a:srgbClr val="F2F6F7"/>
          </a:solidFill>
          <a:ln>
            <a:noFill/>
          </a:ln>
        </p:spPr>
        <p:txBody>
          <a:bodyPr lIns="0" tIns="0" rIns="0" bIns="0"/>
          <a:lstStyle/>
          <a:p>
            <a:endParaRPr lang="en-US"/>
          </a:p>
        </p:txBody>
      </p:sp>
      <p:sp>
        <p:nvSpPr>
          <p:cNvPr id="601" name="sh"/>
          <p:cNvSpPr/>
          <p:nvPr/>
        </p:nvSpPr>
        <p:spPr>
          <a:xfrm>
            <a:off x="7010400" y="3327400"/>
            <a:ext cx="3987800" cy="304800"/>
          </a:xfrm>
          <a:prstGeom prst="rect">
            <a:avLst/>
          </a:prstGeom>
          <a:noFill/>
          <a:ln>
            <a:noFill/>
          </a:ln>
        </p:spPr>
        <p:txBody>
          <a:bodyPr lIns="0" tIns="0" rIns="0" bIns="0" anchor="ctr"/>
          <a:lstStyle/>
          <a:p>
            <a:pPr algn="l"/>
            <a:r>
              <a:rPr lang="en-US" sz="1400" b="1">
                <a:solidFill>
                  <a:srgbClr val="0E8A8A"/>
                </a:solidFill>
                <a:latin typeface="Source Sans Pro"/>
                <a:ea typeface="Source Sans Pro"/>
              </a:rPr>
              <a:t>THEN MAKE YOUR ACTION PLAN SMART</a:t>
            </a:r>
          </a:p>
        </p:txBody>
      </p:sp>
      <p:sp>
        <p:nvSpPr>
          <p:cNvPr id="602" name="sd"/>
          <p:cNvSpPr/>
          <p:nvPr/>
        </p:nvSpPr>
        <p:spPr>
          <a:xfrm>
            <a:off x="7010400" y="3784600"/>
            <a:ext cx="381000" cy="381000"/>
          </a:xfrm>
          <a:prstGeom prst="ellipse">
            <a:avLst/>
          </a:prstGeom>
          <a:solidFill>
            <a:srgbClr val="0E8A8A"/>
          </a:solidFill>
          <a:ln>
            <a:noFill/>
          </a:ln>
        </p:spPr>
        <p:txBody>
          <a:bodyPr wrap="none" lIns="0" tIns="0" rIns="0" bIns="0" anchor="ctr"/>
          <a:lstStyle/>
          <a:p>
            <a:pPr algn="ctr"/>
            <a:r>
              <a:rPr lang="en-US" sz="1400" b="1">
                <a:solidFill>
                  <a:srgbClr val="FFFFFF"/>
                </a:solidFill>
                <a:latin typeface="Poppins"/>
                <a:cs typeface="Poppins"/>
              </a:rPr>
              <a:t>S</a:t>
            </a:r>
          </a:p>
        </p:txBody>
      </p:sp>
      <p:sp>
        <p:nvSpPr>
          <p:cNvPr id="603" name="sr"/>
          <p:cNvSpPr/>
          <p:nvPr/>
        </p:nvSpPr>
        <p:spPr>
          <a:xfrm>
            <a:off x="7543800" y="3784600"/>
            <a:ext cx="3454400" cy="381000"/>
          </a:xfrm>
          <a:prstGeom prst="rect">
            <a:avLst/>
          </a:prstGeom>
          <a:noFill/>
          <a:ln>
            <a:noFill/>
          </a:ln>
        </p:spPr>
        <p:txBody>
          <a:bodyPr lIns="0" tIns="0" rIns="0" bIns="0" anchor="ctr"/>
          <a:lstStyle/>
          <a:p>
            <a:pPr algn="l"/>
            <a:r>
              <a:rPr lang="en-US" sz="1450" b="1">
                <a:solidFill>
                  <a:srgbClr val="0E2A3B"/>
                </a:solidFill>
                <a:latin typeface="Poppins"/>
                <a:cs typeface="Poppins"/>
              </a:rPr>
              <a:t>Specific</a:t>
            </a:r>
            <a:r>
              <a:rPr lang="en-US" sz="1350">
                <a:solidFill>
                  <a:srgbClr val="5A6A70"/>
                </a:solidFill>
                <a:latin typeface="Source Sans Pro"/>
                <a:ea typeface="Source Sans Pro"/>
              </a:rPr>
              <a:t>  — name the exact behaviour</a:t>
            </a:r>
          </a:p>
        </p:txBody>
      </p:sp>
      <p:sp>
        <p:nvSpPr>
          <p:cNvPr id="604" name="sd"/>
          <p:cNvSpPr/>
          <p:nvPr/>
        </p:nvSpPr>
        <p:spPr>
          <a:xfrm>
            <a:off x="7010400" y="4318000"/>
            <a:ext cx="381000" cy="381000"/>
          </a:xfrm>
          <a:prstGeom prst="ellipse">
            <a:avLst/>
          </a:prstGeom>
          <a:solidFill>
            <a:srgbClr val="0E8A8A"/>
          </a:solidFill>
          <a:ln>
            <a:noFill/>
          </a:ln>
        </p:spPr>
        <p:txBody>
          <a:bodyPr wrap="none" lIns="0" tIns="0" rIns="0" bIns="0" anchor="ctr"/>
          <a:lstStyle/>
          <a:p>
            <a:pPr algn="ctr"/>
            <a:r>
              <a:rPr lang="en-US" sz="1400" b="1">
                <a:solidFill>
                  <a:srgbClr val="FFFFFF"/>
                </a:solidFill>
                <a:latin typeface="Poppins"/>
                <a:cs typeface="Poppins"/>
              </a:rPr>
              <a:t>M</a:t>
            </a:r>
          </a:p>
        </p:txBody>
      </p:sp>
      <p:sp>
        <p:nvSpPr>
          <p:cNvPr id="605" name="sr"/>
          <p:cNvSpPr/>
          <p:nvPr/>
        </p:nvSpPr>
        <p:spPr>
          <a:xfrm>
            <a:off x="7543800" y="4318000"/>
            <a:ext cx="3454400" cy="381000"/>
          </a:xfrm>
          <a:prstGeom prst="rect">
            <a:avLst/>
          </a:prstGeom>
          <a:noFill/>
          <a:ln>
            <a:noFill/>
          </a:ln>
        </p:spPr>
        <p:txBody>
          <a:bodyPr lIns="0" tIns="0" rIns="0" bIns="0" anchor="ctr"/>
          <a:lstStyle/>
          <a:p>
            <a:pPr algn="l"/>
            <a:r>
              <a:rPr lang="en-US" sz="1450" b="1">
                <a:solidFill>
                  <a:srgbClr val="0E2A3B"/>
                </a:solidFill>
                <a:latin typeface="Poppins"/>
                <a:cs typeface="Poppins"/>
              </a:rPr>
              <a:t>Measurable</a:t>
            </a:r>
            <a:r>
              <a:rPr lang="en-US" sz="1350">
                <a:solidFill>
                  <a:srgbClr val="5A6A70"/>
                </a:solidFill>
                <a:latin typeface="Source Sans Pro"/>
                <a:ea typeface="Source Sans Pro"/>
              </a:rPr>
              <a:t>  — how will you know it’s done?</a:t>
            </a:r>
          </a:p>
        </p:txBody>
      </p:sp>
      <p:sp>
        <p:nvSpPr>
          <p:cNvPr id="606" name="sd"/>
          <p:cNvSpPr/>
          <p:nvPr/>
        </p:nvSpPr>
        <p:spPr>
          <a:xfrm>
            <a:off x="7010400" y="4851400"/>
            <a:ext cx="381000" cy="381000"/>
          </a:xfrm>
          <a:prstGeom prst="ellipse">
            <a:avLst/>
          </a:prstGeom>
          <a:solidFill>
            <a:srgbClr val="0E8A8A"/>
          </a:solidFill>
          <a:ln>
            <a:noFill/>
          </a:ln>
        </p:spPr>
        <p:txBody>
          <a:bodyPr wrap="none" lIns="0" tIns="0" rIns="0" bIns="0" anchor="ctr"/>
          <a:lstStyle/>
          <a:p>
            <a:pPr algn="ctr"/>
            <a:r>
              <a:rPr lang="en-US" sz="1400" b="1">
                <a:solidFill>
                  <a:srgbClr val="FFFFFF"/>
                </a:solidFill>
                <a:latin typeface="Poppins"/>
                <a:cs typeface="Poppins"/>
              </a:rPr>
              <a:t>A</a:t>
            </a:r>
          </a:p>
        </p:txBody>
      </p:sp>
      <p:sp>
        <p:nvSpPr>
          <p:cNvPr id="607" name="sr"/>
          <p:cNvSpPr/>
          <p:nvPr/>
        </p:nvSpPr>
        <p:spPr>
          <a:xfrm>
            <a:off x="7543800" y="4851400"/>
            <a:ext cx="3454400" cy="381000"/>
          </a:xfrm>
          <a:prstGeom prst="rect">
            <a:avLst/>
          </a:prstGeom>
          <a:noFill/>
          <a:ln>
            <a:noFill/>
          </a:ln>
        </p:spPr>
        <p:txBody>
          <a:bodyPr lIns="0" tIns="0" rIns="0" bIns="0" anchor="ctr"/>
          <a:lstStyle/>
          <a:p>
            <a:pPr algn="l"/>
            <a:r>
              <a:rPr lang="en-US" sz="1450" b="1">
                <a:solidFill>
                  <a:srgbClr val="0E2A3B"/>
                </a:solidFill>
                <a:latin typeface="Poppins"/>
                <a:cs typeface="Poppins"/>
              </a:rPr>
              <a:t>Achievable</a:t>
            </a:r>
            <a:r>
              <a:rPr lang="en-US" sz="1350">
                <a:solidFill>
                  <a:srgbClr val="5A6A70"/>
                </a:solidFill>
                <a:latin typeface="Source Sans Pro"/>
                <a:ea typeface="Source Sans Pro"/>
              </a:rPr>
              <a:t>  — realistic within your rotation</a:t>
            </a:r>
          </a:p>
        </p:txBody>
      </p:sp>
      <p:sp>
        <p:nvSpPr>
          <p:cNvPr id="608" name="sd"/>
          <p:cNvSpPr/>
          <p:nvPr/>
        </p:nvSpPr>
        <p:spPr>
          <a:xfrm>
            <a:off x="7010400" y="5384800"/>
            <a:ext cx="381000" cy="381000"/>
          </a:xfrm>
          <a:prstGeom prst="ellipse">
            <a:avLst/>
          </a:prstGeom>
          <a:solidFill>
            <a:srgbClr val="0E8A8A"/>
          </a:solidFill>
          <a:ln>
            <a:noFill/>
          </a:ln>
        </p:spPr>
        <p:txBody>
          <a:bodyPr wrap="none" lIns="0" tIns="0" rIns="0" bIns="0" anchor="ctr"/>
          <a:lstStyle/>
          <a:p>
            <a:pPr algn="ctr"/>
            <a:r>
              <a:rPr lang="en-US" sz="1400" b="1">
                <a:solidFill>
                  <a:srgbClr val="FFFFFF"/>
                </a:solidFill>
                <a:latin typeface="Poppins"/>
                <a:cs typeface="Poppins"/>
              </a:rPr>
              <a:t>R</a:t>
            </a:r>
          </a:p>
        </p:txBody>
      </p:sp>
      <p:sp>
        <p:nvSpPr>
          <p:cNvPr id="609" name="sr"/>
          <p:cNvSpPr/>
          <p:nvPr/>
        </p:nvSpPr>
        <p:spPr>
          <a:xfrm>
            <a:off x="7543800" y="5384800"/>
            <a:ext cx="3454400" cy="381000"/>
          </a:xfrm>
          <a:prstGeom prst="rect">
            <a:avLst/>
          </a:prstGeom>
          <a:noFill/>
          <a:ln>
            <a:noFill/>
          </a:ln>
        </p:spPr>
        <p:txBody>
          <a:bodyPr lIns="0" tIns="0" rIns="0" bIns="0" anchor="ctr"/>
          <a:lstStyle/>
          <a:p>
            <a:pPr algn="l"/>
            <a:r>
              <a:rPr lang="en-US" sz="1450" b="1">
                <a:solidFill>
                  <a:srgbClr val="0E2A3B"/>
                </a:solidFill>
                <a:latin typeface="Poppins"/>
                <a:cs typeface="Poppins"/>
              </a:rPr>
              <a:t>Relevant</a:t>
            </a:r>
            <a:r>
              <a:rPr lang="en-US" sz="1350">
                <a:solidFill>
                  <a:srgbClr val="5A6A70"/>
                </a:solidFill>
                <a:latin typeface="Source Sans Pro"/>
                <a:ea typeface="Source Sans Pro"/>
              </a:rPr>
              <a:t>  — tied to this reflection</a:t>
            </a:r>
          </a:p>
        </p:txBody>
      </p:sp>
      <p:sp>
        <p:nvSpPr>
          <p:cNvPr id="610" name="sd"/>
          <p:cNvSpPr/>
          <p:nvPr/>
        </p:nvSpPr>
        <p:spPr>
          <a:xfrm>
            <a:off x="7010400" y="5918200"/>
            <a:ext cx="381000" cy="381000"/>
          </a:xfrm>
          <a:prstGeom prst="ellipse">
            <a:avLst/>
          </a:prstGeom>
          <a:solidFill>
            <a:srgbClr val="0E8A8A"/>
          </a:solidFill>
          <a:ln>
            <a:noFill/>
          </a:ln>
        </p:spPr>
        <p:txBody>
          <a:bodyPr wrap="none" lIns="0" tIns="0" rIns="0" bIns="0" anchor="ctr"/>
          <a:lstStyle/>
          <a:p>
            <a:pPr algn="ctr"/>
            <a:r>
              <a:rPr lang="en-US" sz="1400" b="1">
                <a:solidFill>
                  <a:srgbClr val="FFFFFF"/>
                </a:solidFill>
                <a:latin typeface="Poppins"/>
                <a:cs typeface="Poppins"/>
              </a:rPr>
              <a:t>T</a:t>
            </a:r>
          </a:p>
        </p:txBody>
      </p:sp>
      <p:sp>
        <p:nvSpPr>
          <p:cNvPr id="611" name="sr"/>
          <p:cNvSpPr/>
          <p:nvPr/>
        </p:nvSpPr>
        <p:spPr>
          <a:xfrm>
            <a:off x="7543800" y="5918200"/>
            <a:ext cx="3454400" cy="381000"/>
          </a:xfrm>
          <a:prstGeom prst="rect">
            <a:avLst/>
          </a:prstGeom>
          <a:noFill/>
          <a:ln>
            <a:noFill/>
          </a:ln>
        </p:spPr>
        <p:txBody>
          <a:bodyPr lIns="0" tIns="0" rIns="0" bIns="0" anchor="ctr"/>
          <a:lstStyle/>
          <a:p>
            <a:pPr algn="l"/>
            <a:r>
              <a:rPr lang="en-US" sz="1450" b="1">
                <a:solidFill>
                  <a:srgbClr val="0E2A3B"/>
                </a:solidFill>
                <a:latin typeface="Poppins"/>
                <a:cs typeface="Poppins"/>
              </a:rPr>
              <a:t>Time-bound</a:t>
            </a:r>
            <a:r>
              <a:rPr lang="en-US" sz="1350">
                <a:solidFill>
                  <a:srgbClr val="5A6A70"/>
                </a:solidFill>
                <a:latin typeface="Source Sans Pro"/>
                <a:ea typeface="Source Sans Pro"/>
              </a:rPr>
              <a:t>  — set a clear deadline</a:t>
            </a:r>
          </a:p>
        </p:txBody>
      </p:sp>
    </p:spTree>
    <p:extLst>
      <p:ext uri="{BB962C8B-B14F-4D97-AF65-F5344CB8AC3E}">
        <p14:creationId xmlns:p14="http://schemas.microsoft.com/office/powerpoint/2010/main" val="11704478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383150DB-E579-2449-9717-81288370E8B0}"/>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FFE8B710-8A8A-0442-9F13-24397B93C08A}"/>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IN SUMMARY</a:t>
            </a:r>
          </a:p>
        </p:txBody>
      </p:sp>
      <p:sp>
        <p:nvSpPr>
          <p:cNvPr id="4" name="SlideTitle">
            <a:extLst>
              <a:ext uri="{FF2B5EF4-FFF2-40B4-BE49-F238E27FC236}">
                <a16:creationId xmlns:a16="http://schemas.microsoft.com/office/drawing/2014/main" id="{068416FE-77D6-8848-9E6B-D788ACF42442}"/>
              </a:ext>
            </a:extLst>
          </p:cNvPr>
          <p:cNvSpPr txBox="1"/>
          <p:nvPr/>
        </p:nvSpPr>
        <p:spPr>
          <a:xfrm>
            <a:off x="990600" y="1219200"/>
            <a:ext cx="7112000" cy="889000"/>
          </a:xfrm>
          <a:prstGeom prst="rect">
            <a:avLst/>
          </a:prstGeom>
          <a:noFill/>
        </p:spPr>
        <p:txBody>
          <a:bodyPr vertOverflow="overflow" vert="horz" wrap="square" rtlCol="0" anchor="t">
            <a:spAutoFit/>
          </a:bodyPr>
          <a:lstStyle/>
          <a:p>
            <a:pPr algn="l"/>
            <a:r>
              <a:rPr lang="en-US" sz="4000" b="1">
                <a:solidFill>
                  <a:srgbClr val="0E2A3B"/>
                </a:solidFill>
                <a:latin typeface="Poppins"/>
                <a:cs typeface="Poppins"/>
              </a:rPr>
              <a:t>Key takeaways</a:t>
            </a:r>
          </a:p>
        </p:txBody>
      </p:sp>
      <p:sp>
        <p:nvSpPr>
          <p:cNvPr id="5" name="Rectangle 4">
            <a:extLst>
              <a:ext uri="{FF2B5EF4-FFF2-40B4-BE49-F238E27FC236}">
                <a16:creationId xmlns:a16="http://schemas.microsoft.com/office/drawing/2014/main" id="{12E9F80C-FB80-8645-82D2-E6465D7A03D3}"/>
              </a:ext>
            </a:extLst>
          </p:cNvPr>
          <p:cNvSpPr/>
          <p:nvPr/>
        </p:nvSpPr>
        <p:spPr>
          <a:xfrm>
            <a:off x="1041400" y="21082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flectionOrb">
            <a:extLst>
              <a:ext uri="{FF2B5EF4-FFF2-40B4-BE49-F238E27FC236}">
                <a16:creationId xmlns:a16="http://schemas.microsoft.com/office/drawing/2014/main" id="{80C622B2-8914-FC43-A4AA-3655440291E7}"/>
              </a:ext>
            </a:extLst>
          </p:cNvPr>
          <p:cNvSpPr/>
          <p:nvPr/>
        </p:nvSpPr>
        <p:spPr>
          <a:xfrm>
            <a:off x="9398000" y="889000"/>
            <a:ext cx="1524000" cy="1524000"/>
          </a:xfrm>
          <a:prstGeom prst="ellipse">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flectionOrbInner">
            <a:extLst>
              <a:ext uri="{FF2B5EF4-FFF2-40B4-BE49-F238E27FC236}">
                <a16:creationId xmlns:a16="http://schemas.microsoft.com/office/drawing/2014/main" id="{698F2655-0816-B646-ADF6-5AB3C9E1F1E3}"/>
              </a:ext>
            </a:extLst>
          </p:cNvPr>
          <p:cNvSpPr/>
          <p:nvPr/>
        </p:nvSpPr>
        <p:spPr>
          <a:xfrm>
            <a:off x="9715500" y="1206500"/>
            <a:ext cx="889000" cy="889000"/>
          </a:xfrm>
          <a:prstGeom prst="ellipse">
            <a:avLst/>
          </a:prstGeom>
          <a:solidFill>
            <a:srgbClr val="12B5A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Oval 7">
            <a:extLst>
              <a:ext uri="{FF2B5EF4-FFF2-40B4-BE49-F238E27FC236}">
                <a16:creationId xmlns:a16="http://schemas.microsoft.com/office/drawing/2014/main" id="{8720466D-708F-1B47-AF96-6AE013F50796}"/>
              </a:ext>
            </a:extLst>
          </p:cNvPr>
          <p:cNvSpPr/>
          <p:nvPr/>
        </p:nvSpPr>
        <p:spPr>
          <a:xfrm>
            <a:off x="1143000" y="2692400"/>
            <a:ext cx="558800" cy="558800"/>
          </a:xfrm>
          <a:prstGeom prst="ellipse">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000" b="1" dirty="0">
                <a:solidFill>
                  <a:srgbClr val="FFFFFF"/>
                </a:solidFill>
                <a:latin typeface="Poppins"/>
                <a:cs typeface="Poppins"/>
              </a:rPr>
              <a:t>1</a:t>
            </a:r>
          </a:p>
        </p:txBody>
      </p:sp>
      <p:sp>
        <p:nvSpPr>
          <p:cNvPr id="9" name="TextBox 8">
            <a:extLst>
              <a:ext uri="{FF2B5EF4-FFF2-40B4-BE49-F238E27FC236}">
                <a16:creationId xmlns:a16="http://schemas.microsoft.com/office/drawing/2014/main" id="{7284CE7C-BE2A-2F49-8161-29A57832AAC9}"/>
              </a:ext>
            </a:extLst>
          </p:cNvPr>
          <p:cNvSpPr txBox="1"/>
          <p:nvPr/>
        </p:nvSpPr>
        <p:spPr>
          <a:xfrm>
            <a:off x="1955800" y="2667000"/>
            <a:ext cx="9398000" cy="355600"/>
          </a:xfrm>
          <a:prstGeom prst="rect">
            <a:avLst/>
          </a:prstGeom>
          <a:noFill/>
        </p:spPr>
        <p:txBody>
          <a:bodyPr vertOverflow="overflow" vert="horz" wrap="square" rtlCol="0" anchor="t">
            <a:spAutoFit/>
          </a:bodyPr>
          <a:lstStyle/>
          <a:p>
            <a:pPr algn="l"/>
            <a:r>
              <a:rPr lang="en-US" sz="2100" b="1">
                <a:solidFill>
                  <a:srgbClr val="0E2A3B"/>
                </a:solidFill>
                <a:latin typeface="Poppins"/>
                <a:cs typeface="Poppins"/>
              </a:rPr>
              <a:t>Reflection is a skill, not a mood</a:t>
            </a:r>
          </a:p>
        </p:txBody>
      </p:sp>
      <p:sp>
        <p:nvSpPr>
          <p:cNvPr id="10" name="TextBox 9">
            <a:extLst>
              <a:ext uri="{FF2B5EF4-FFF2-40B4-BE49-F238E27FC236}">
                <a16:creationId xmlns:a16="http://schemas.microsoft.com/office/drawing/2014/main" id="{944B275C-73E4-1544-A528-4E4D4B96EDA3}"/>
              </a:ext>
            </a:extLst>
          </p:cNvPr>
          <p:cNvSpPr txBox="1"/>
          <p:nvPr/>
        </p:nvSpPr>
        <p:spPr>
          <a:xfrm>
            <a:off x="1955800" y="3048000"/>
            <a:ext cx="9144000" cy="381000"/>
          </a:xfrm>
          <a:prstGeom prst="rect">
            <a:avLst/>
          </a:prstGeom>
          <a:noFill/>
        </p:spPr>
        <p:txBody>
          <a:bodyPr vertOverflow="overflow" vert="horz" wrap="square" rtlCol="0" anchor="t">
            <a:spAutoFit/>
          </a:bodyPr>
          <a:lstStyle/>
          <a:p>
            <a:pPr algn="l"/>
            <a:r>
              <a:rPr lang="en-US" sz="1500">
                <a:solidFill>
                  <a:srgbClr val="5A6A70"/>
                </a:solidFill>
                <a:latin typeface="Source Sans Pro"/>
                <a:ea typeface="Source Sans Pro"/>
              </a:rPr>
              <a:t>It is a deliberate metacognitive process you can learn and practise.</a:t>
            </a:r>
          </a:p>
        </p:txBody>
      </p:sp>
      <p:sp>
        <p:nvSpPr>
          <p:cNvPr id="11" name="Oval 10">
            <a:extLst>
              <a:ext uri="{FF2B5EF4-FFF2-40B4-BE49-F238E27FC236}">
                <a16:creationId xmlns:a16="http://schemas.microsoft.com/office/drawing/2014/main" id="{706C3BC5-C9E2-794E-B113-9FAA465D3F32}"/>
              </a:ext>
            </a:extLst>
          </p:cNvPr>
          <p:cNvSpPr/>
          <p:nvPr/>
        </p:nvSpPr>
        <p:spPr>
          <a:xfrm>
            <a:off x="1143000" y="3606800"/>
            <a:ext cx="558800" cy="558800"/>
          </a:xfrm>
          <a:prstGeom prst="ellipse">
            <a:avLst/>
          </a:prstGeom>
          <a:solidFill>
            <a:srgbClr val="1F4E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000" b="1" dirty="0">
                <a:solidFill>
                  <a:srgbClr val="FFFFFF"/>
                </a:solidFill>
                <a:latin typeface="Poppins"/>
                <a:cs typeface="Poppins"/>
              </a:rPr>
              <a:t>2</a:t>
            </a:r>
          </a:p>
        </p:txBody>
      </p:sp>
      <p:sp>
        <p:nvSpPr>
          <p:cNvPr id="12" name="TextBox 11">
            <a:extLst>
              <a:ext uri="{FF2B5EF4-FFF2-40B4-BE49-F238E27FC236}">
                <a16:creationId xmlns:a16="http://schemas.microsoft.com/office/drawing/2014/main" id="{B5984994-5127-3B40-89F4-F84E802D8B45}"/>
              </a:ext>
            </a:extLst>
          </p:cNvPr>
          <p:cNvSpPr txBox="1"/>
          <p:nvPr/>
        </p:nvSpPr>
        <p:spPr>
          <a:xfrm>
            <a:off x="1955800" y="3581400"/>
            <a:ext cx="9398000" cy="355600"/>
          </a:xfrm>
          <a:prstGeom prst="rect">
            <a:avLst/>
          </a:prstGeom>
          <a:noFill/>
        </p:spPr>
        <p:txBody>
          <a:bodyPr vertOverflow="overflow" vert="horz" wrap="square" rtlCol="0" anchor="t">
            <a:spAutoFit/>
          </a:bodyPr>
          <a:lstStyle/>
          <a:p>
            <a:pPr algn="l"/>
            <a:r>
              <a:rPr lang="en-US" sz="2100" b="1">
                <a:solidFill>
                  <a:srgbClr val="0E2A3B"/>
                </a:solidFill>
                <a:latin typeface="Poppins"/>
                <a:cs typeface="Poppins"/>
              </a:rPr>
              <a:t>Depth is the goal</a:t>
            </a:r>
          </a:p>
        </p:txBody>
      </p:sp>
      <p:sp>
        <p:nvSpPr>
          <p:cNvPr id="13" name="TextBox 12">
            <a:extLst>
              <a:ext uri="{FF2B5EF4-FFF2-40B4-BE49-F238E27FC236}">
                <a16:creationId xmlns:a16="http://schemas.microsoft.com/office/drawing/2014/main" id="{C5502778-73E3-D448-8C33-3F04EDF28033}"/>
              </a:ext>
            </a:extLst>
          </p:cNvPr>
          <p:cNvSpPr txBox="1"/>
          <p:nvPr/>
        </p:nvSpPr>
        <p:spPr>
          <a:xfrm>
            <a:off x="1955800" y="3962400"/>
            <a:ext cx="9144000" cy="381000"/>
          </a:xfrm>
          <a:prstGeom prst="rect">
            <a:avLst/>
          </a:prstGeom>
          <a:noFill/>
        </p:spPr>
        <p:txBody>
          <a:bodyPr vertOverflow="overflow" vert="horz" wrap="square" rtlCol="0" anchor="t">
            <a:spAutoFit/>
          </a:bodyPr>
          <a:lstStyle/>
          <a:p>
            <a:pPr algn="l"/>
            <a:r>
              <a:rPr lang="en-US" sz="1500">
                <a:solidFill>
                  <a:srgbClr val="5A6A70"/>
                </a:solidFill>
                <a:latin typeface="Source Sans Pro"/>
                <a:ea typeface="Source Sans Pro"/>
              </a:rPr>
              <a:t>Move beyond describing events to challenging your own assumptions.</a:t>
            </a:r>
          </a:p>
        </p:txBody>
      </p:sp>
      <p:sp>
        <p:nvSpPr>
          <p:cNvPr id="14" name="Oval 13">
            <a:extLst>
              <a:ext uri="{FF2B5EF4-FFF2-40B4-BE49-F238E27FC236}">
                <a16:creationId xmlns:a16="http://schemas.microsoft.com/office/drawing/2014/main" id="{93CE41C4-35C8-374D-B99D-4C96ECA4B7D6}"/>
              </a:ext>
            </a:extLst>
          </p:cNvPr>
          <p:cNvSpPr/>
          <p:nvPr/>
        </p:nvSpPr>
        <p:spPr>
          <a:xfrm>
            <a:off x="1143000" y="4521200"/>
            <a:ext cx="558800" cy="5588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000" b="1" dirty="0">
                <a:solidFill>
                  <a:srgbClr val="FFFFFF"/>
                </a:solidFill>
                <a:latin typeface="Poppins"/>
                <a:cs typeface="Poppins"/>
              </a:rPr>
              <a:t>3</a:t>
            </a:r>
          </a:p>
        </p:txBody>
      </p:sp>
      <p:sp>
        <p:nvSpPr>
          <p:cNvPr id="15" name="TextBox 14">
            <a:extLst>
              <a:ext uri="{FF2B5EF4-FFF2-40B4-BE49-F238E27FC236}">
                <a16:creationId xmlns:a16="http://schemas.microsoft.com/office/drawing/2014/main" id="{8BE865CE-7DB3-6C40-B5FB-5CE9E4F5D6C0}"/>
              </a:ext>
            </a:extLst>
          </p:cNvPr>
          <p:cNvSpPr txBox="1"/>
          <p:nvPr/>
        </p:nvSpPr>
        <p:spPr>
          <a:xfrm>
            <a:off x="1955800" y="4495800"/>
            <a:ext cx="9398000" cy="355600"/>
          </a:xfrm>
          <a:prstGeom prst="rect">
            <a:avLst/>
          </a:prstGeom>
          <a:noFill/>
        </p:spPr>
        <p:txBody>
          <a:bodyPr vertOverflow="overflow" vert="horz" wrap="square" rtlCol="0" anchor="t">
            <a:spAutoFit/>
          </a:bodyPr>
          <a:lstStyle/>
          <a:p>
            <a:pPr algn="l"/>
            <a:r>
              <a:rPr lang="en-US" sz="2100" b="1">
                <a:solidFill>
                  <a:srgbClr val="0E2A3B"/>
                </a:solidFill>
                <a:latin typeface="Poppins"/>
                <a:cs typeface="Poppins"/>
              </a:rPr>
              <a:t>Use a structure</a:t>
            </a:r>
          </a:p>
        </p:txBody>
      </p:sp>
      <p:sp>
        <p:nvSpPr>
          <p:cNvPr id="16" name="TextBox 15">
            <a:extLst>
              <a:ext uri="{FF2B5EF4-FFF2-40B4-BE49-F238E27FC236}">
                <a16:creationId xmlns:a16="http://schemas.microsoft.com/office/drawing/2014/main" id="{8CAA84E0-67B9-DE4E-A25E-45BF3742DE22}"/>
              </a:ext>
            </a:extLst>
          </p:cNvPr>
          <p:cNvSpPr txBox="1"/>
          <p:nvPr/>
        </p:nvSpPr>
        <p:spPr>
          <a:xfrm>
            <a:off x="1955800" y="4876800"/>
            <a:ext cx="9144000" cy="381000"/>
          </a:xfrm>
          <a:prstGeom prst="rect">
            <a:avLst/>
          </a:prstGeom>
          <a:noFill/>
        </p:spPr>
        <p:txBody>
          <a:bodyPr vertOverflow="overflow" vert="horz" wrap="square" rtlCol="0" anchor="t">
            <a:spAutoFit/>
          </a:bodyPr>
          <a:lstStyle/>
          <a:p>
            <a:pPr algn="l"/>
            <a:r>
              <a:rPr lang="en-US" sz="1500">
                <a:solidFill>
                  <a:srgbClr val="5A6A70"/>
                </a:solidFill>
                <a:latin typeface="Source Sans Pro"/>
                <a:ea typeface="Source Sans Pro"/>
              </a:rPr>
              <a:t>Models like Kolb and Gibbs give reflection a repeatable shape.</a:t>
            </a:r>
          </a:p>
        </p:txBody>
      </p:sp>
      <p:sp>
        <p:nvSpPr>
          <p:cNvPr id="17" name="Oval 16">
            <a:extLst>
              <a:ext uri="{FF2B5EF4-FFF2-40B4-BE49-F238E27FC236}">
                <a16:creationId xmlns:a16="http://schemas.microsoft.com/office/drawing/2014/main" id="{C470B9D2-40C3-7443-AD29-2F80B3BAEF57}"/>
              </a:ext>
            </a:extLst>
          </p:cNvPr>
          <p:cNvSpPr/>
          <p:nvPr/>
        </p:nvSpPr>
        <p:spPr>
          <a:xfrm>
            <a:off x="1143000" y="5435600"/>
            <a:ext cx="558800" cy="558800"/>
          </a:xfrm>
          <a:prstGeom prst="ellipse">
            <a:avLst/>
          </a:prstGeom>
          <a:solidFill>
            <a:srgbClr val="12B5A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000" b="1" dirty="0">
                <a:solidFill>
                  <a:srgbClr val="FFFFFF"/>
                </a:solidFill>
                <a:latin typeface="Poppins"/>
                <a:cs typeface="Poppins"/>
              </a:rPr>
              <a:t>4</a:t>
            </a:r>
          </a:p>
        </p:txBody>
      </p:sp>
      <p:sp>
        <p:nvSpPr>
          <p:cNvPr id="18" name="TextBox 17">
            <a:extLst>
              <a:ext uri="{FF2B5EF4-FFF2-40B4-BE49-F238E27FC236}">
                <a16:creationId xmlns:a16="http://schemas.microsoft.com/office/drawing/2014/main" id="{34D86E27-2F29-FC46-A3EE-831DA7C48F53}"/>
              </a:ext>
            </a:extLst>
          </p:cNvPr>
          <p:cNvSpPr txBox="1"/>
          <p:nvPr/>
        </p:nvSpPr>
        <p:spPr>
          <a:xfrm>
            <a:off x="1955800" y="5410200"/>
            <a:ext cx="9398000" cy="355600"/>
          </a:xfrm>
          <a:prstGeom prst="rect">
            <a:avLst/>
          </a:prstGeom>
          <a:noFill/>
        </p:spPr>
        <p:txBody>
          <a:bodyPr vertOverflow="overflow" vert="horz" wrap="square" rtlCol="0" anchor="t">
            <a:spAutoFit/>
          </a:bodyPr>
          <a:lstStyle/>
          <a:p>
            <a:pPr algn="l"/>
            <a:r>
              <a:rPr lang="en-US" sz="2100" b="1">
                <a:solidFill>
                  <a:srgbClr val="0E2A3B"/>
                </a:solidFill>
                <a:latin typeface="Poppins"/>
                <a:cs typeface="Poppins"/>
              </a:rPr>
              <a:t>Don't reflect alone</a:t>
            </a:r>
          </a:p>
        </p:txBody>
      </p:sp>
      <p:sp>
        <p:nvSpPr>
          <p:cNvPr id="19" name="TextBox 18">
            <a:extLst>
              <a:ext uri="{FF2B5EF4-FFF2-40B4-BE49-F238E27FC236}">
                <a16:creationId xmlns:a16="http://schemas.microsoft.com/office/drawing/2014/main" id="{F28C42AD-DD1D-C84D-B092-DE2AB49E4863}"/>
              </a:ext>
            </a:extLst>
          </p:cNvPr>
          <p:cNvSpPr txBox="1"/>
          <p:nvPr/>
        </p:nvSpPr>
        <p:spPr>
          <a:xfrm>
            <a:off x="1955800" y="5791200"/>
            <a:ext cx="9144000" cy="381000"/>
          </a:xfrm>
          <a:prstGeom prst="rect">
            <a:avLst/>
          </a:prstGeom>
          <a:noFill/>
        </p:spPr>
        <p:txBody>
          <a:bodyPr vertOverflow="overflow" vert="horz" wrap="square" rtlCol="0" anchor="t">
            <a:spAutoFit/>
          </a:bodyPr>
          <a:lstStyle/>
          <a:p>
            <a:pPr algn="l"/>
            <a:r>
              <a:rPr lang="en-US" sz="1500">
                <a:solidFill>
                  <a:srgbClr val="5A6A70"/>
                </a:solidFill>
                <a:latin typeface="Source Sans Pro"/>
                <a:ea typeface="Source Sans Pro"/>
              </a:rPr>
              <a:t>Mentors and feedback turn private thoughts into real growth.</a:t>
            </a:r>
          </a:p>
        </p:txBody>
      </p:sp>
      <p:sp>
        <p:nvSpPr>
          <p:cNvPr id="20" name="Citation">
            <a:extLst>
              <a:ext uri="{FF2B5EF4-FFF2-40B4-BE49-F238E27FC236}">
                <a16:creationId xmlns:a16="http://schemas.microsoft.com/office/drawing/2014/main" id="{FC71F65A-F3E2-3E42-9154-CA91B9426CC6}"/>
              </a:ext>
            </a:extLst>
          </p:cNvPr>
          <p:cNvSpPr txBox="1"/>
          <p:nvPr/>
        </p:nvSpPr>
        <p:spPr>
          <a:xfrm>
            <a:off x="1016000" y="6502400"/>
            <a:ext cx="10541000" cy="304800"/>
          </a:xfrm>
          <a:prstGeom prst="rect">
            <a:avLst/>
          </a:prstGeom>
          <a:noFill/>
        </p:spPr>
        <p:txBody>
          <a:bodyPr vertOverflow="overflow" vert="horz" wrap="square" rtlCol="0" anchor="t">
            <a:spAutoFit/>
          </a:bodyPr>
          <a:lstStyle/>
          <a:p>
            <a:pPr algn="l"/>
            <a:r>
              <a:rPr lang="en-US" sz="1000">
                <a:solidFill>
                  <a:srgbClr val="8A9AA0"/>
                </a:solidFill>
                <a:latin typeface="Source Sans Pro"/>
                <a:ea typeface="Source Sans Pro"/>
              </a:rPr>
              <a:t>Sandars J. The use of reflection in medical education: AMEE Guide No. 44. Medical Teacher. 2009;31:685–695.</a:t>
            </a:r>
          </a:p>
        </p:txBody>
      </p:sp>
    </p:spTree>
    <p:extLst>
      <p:ext uri="{BB962C8B-B14F-4D97-AF65-F5344CB8AC3E}">
        <p14:creationId xmlns:p14="http://schemas.microsoft.com/office/powerpoint/2010/main" val="6846305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3540C891-FA43-8843-8372-FC0E55526C80}"/>
              </a:ext>
            </a:extLst>
          </p:cNvPr>
          <p:cNvSpPr/>
          <p:nvPr/>
        </p:nvSpPr>
        <p:spPr>
          <a:xfrm>
            <a:off x="1016000" y="914400"/>
            <a:ext cx="139700" cy="1397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852D1E4A-767D-F54A-991C-DC499D4B6B84}"/>
              </a:ext>
            </a:extLst>
          </p:cNvPr>
          <p:cNvSpPr txBox="1"/>
          <p:nvPr/>
        </p:nvSpPr>
        <p:spPr>
          <a:xfrm>
            <a:off x="1244600" y="863600"/>
            <a:ext cx="4572000" cy="330200"/>
          </a:xfrm>
          <a:prstGeom prst="rect">
            <a:avLst/>
          </a:prstGeom>
          <a:noFill/>
        </p:spPr>
        <p:txBody>
          <a:bodyPr vertOverflow="overflow" vert="horz" wrap="square" rtlCol="0" anchor="t">
            <a:spAutoFit/>
          </a:bodyPr>
          <a:lstStyle/>
          <a:p>
            <a:pPr algn="l"/>
            <a:r>
              <a:rPr lang="en-US" sz="1500" b="1">
                <a:solidFill>
                  <a:srgbClr val="0E8A8A"/>
                </a:solidFill>
                <a:latin typeface="Source Sans Pro"/>
                <a:ea typeface="Source Sans Pro"/>
              </a:rPr>
              <a:t>REFERENCES</a:t>
            </a:r>
          </a:p>
        </p:txBody>
      </p:sp>
      <p:sp>
        <p:nvSpPr>
          <p:cNvPr id="4" name="SlideTitle">
            <a:extLst>
              <a:ext uri="{FF2B5EF4-FFF2-40B4-BE49-F238E27FC236}">
                <a16:creationId xmlns:a16="http://schemas.microsoft.com/office/drawing/2014/main" id="{57AD2E84-F85C-7C4C-83A4-80C7DC2C148B}"/>
              </a:ext>
            </a:extLst>
          </p:cNvPr>
          <p:cNvSpPr txBox="1"/>
          <p:nvPr/>
        </p:nvSpPr>
        <p:spPr>
          <a:xfrm>
            <a:off x="990600" y="1219200"/>
            <a:ext cx="10414000" cy="889000"/>
          </a:xfrm>
          <a:prstGeom prst="rect">
            <a:avLst/>
          </a:prstGeom>
          <a:noFill/>
        </p:spPr>
        <p:txBody>
          <a:bodyPr vertOverflow="overflow" vert="horz" wrap="square" rtlCol="0" anchor="t">
            <a:spAutoFit/>
          </a:bodyPr>
          <a:lstStyle/>
          <a:p>
            <a:pPr algn="l"/>
            <a:r>
              <a:rPr lang="en-US" sz="3800" b="1">
                <a:solidFill>
                  <a:srgbClr val="0E2A3B"/>
                </a:solidFill>
                <a:latin typeface="Poppins"/>
                <a:cs typeface="Poppins"/>
              </a:rPr>
              <a:t>References &amp; further reading</a:t>
            </a:r>
          </a:p>
        </p:txBody>
      </p:sp>
      <p:sp>
        <p:nvSpPr>
          <p:cNvPr id="5" name="Rectangle 4">
            <a:extLst>
              <a:ext uri="{FF2B5EF4-FFF2-40B4-BE49-F238E27FC236}">
                <a16:creationId xmlns:a16="http://schemas.microsoft.com/office/drawing/2014/main" id="{4FFB1442-0D49-4E44-AC22-D7E8298D046D}"/>
              </a:ext>
            </a:extLst>
          </p:cNvPr>
          <p:cNvSpPr/>
          <p:nvPr/>
        </p:nvSpPr>
        <p:spPr>
          <a:xfrm>
            <a:off x="1041400" y="2057400"/>
            <a:ext cx="1143000" cy="63500"/>
          </a:xfrm>
          <a:prstGeom prst="rect">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ounded Rectangle 5">
            <a:extLst>
              <a:ext uri="{FF2B5EF4-FFF2-40B4-BE49-F238E27FC236}">
                <a16:creationId xmlns:a16="http://schemas.microsoft.com/office/drawing/2014/main" id="{5C531E96-A40C-7F4F-84F2-4AAED6BA6134}"/>
              </a:ext>
            </a:extLst>
          </p:cNvPr>
          <p:cNvSpPr/>
          <p:nvPr/>
        </p:nvSpPr>
        <p:spPr>
          <a:xfrm>
            <a:off x="1016000" y="2590800"/>
            <a:ext cx="10287000" cy="812800"/>
          </a:xfrm>
          <a:prstGeom prst="roundRect">
            <a:avLst/>
          </a:prstGeom>
          <a:solidFill>
            <a:srgbClr val="F2F6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53DD7015-F909-2A4A-93FE-8BA83317ABB7}"/>
              </a:ext>
            </a:extLst>
          </p:cNvPr>
          <p:cNvSpPr/>
          <p:nvPr/>
        </p:nvSpPr>
        <p:spPr>
          <a:xfrm>
            <a:off x="1016000" y="2590800"/>
            <a:ext cx="76200" cy="812800"/>
          </a:xfrm>
          <a:prstGeom prst="rect">
            <a:avLst/>
          </a:prstGeom>
          <a:solidFill>
            <a:srgbClr val="0E8A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09B5A5D5-3E9D-FA42-8EDA-8830FC14ABC0}"/>
              </a:ext>
            </a:extLst>
          </p:cNvPr>
          <p:cNvSpPr txBox="1"/>
          <p:nvPr/>
        </p:nvSpPr>
        <p:spPr>
          <a:xfrm>
            <a:off x="1270000" y="2717800"/>
            <a:ext cx="5080000" cy="228600"/>
          </a:xfrm>
          <a:prstGeom prst="rect">
            <a:avLst/>
          </a:prstGeom>
          <a:noFill/>
        </p:spPr>
        <p:txBody>
          <a:bodyPr vertOverflow="overflow" vert="horz" wrap="square" rtlCol="0" anchor="t">
            <a:spAutoFit/>
          </a:bodyPr>
          <a:lstStyle/>
          <a:p>
            <a:pPr algn="l"/>
            <a:r>
              <a:rPr lang="en-US" sz="1200" b="1">
                <a:solidFill>
                  <a:srgbClr val="0E8A8A"/>
                </a:solidFill>
                <a:latin typeface="Source Sans Pro"/>
                <a:ea typeface="Source Sans Pro"/>
              </a:rPr>
              <a:t>PRIMARY SOURCE</a:t>
            </a:r>
          </a:p>
        </p:txBody>
      </p:sp>
      <p:sp>
        <p:nvSpPr>
          <p:cNvPr id="9" name="TextBox 8">
            <a:extLst>
              <a:ext uri="{FF2B5EF4-FFF2-40B4-BE49-F238E27FC236}">
                <a16:creationId xmlns:a16="http://schemas.microsoft.com/office/drawing/2014/main" id="{25A6957A-9A61-5B4E-8949-021002BDB6AB}"/>
              </a:ext>
            </a:extLst>
          </p:cNvPr>
          <p:cNvSpPr txBox="1"/>
          <p:nvPr/>
        </p:nvSpPr>
        <p:spPr>
          <a:xfrm>
            <a:off x="1270000" y="2946400"/>
            <a:ext cx="9906000" cy="355600"/>
          </a:xfrm>
          <a:prstGeom prst="rect">
            <a:avLst/>
          </a:prstGeom>
          <a:noFill/>
        </p:spPr>
        <p:txBody>
          <a:bodyPr vertOverflow="overflow" vert="horz" wrap="square" rtlCol="0" anchor="t">
            <a:spAutoFit/>
          </a:bodyPr>
          <a:lstStyle/>
          <a:p>
            <a:pPr algn="l"/>
            <a:r>
              <a:rPr lang="en-US" sz="1500" b="1">
                <a:solidFill>
                  <a:srgbClr val="0E2A3B"/>
                </a:solidFill>
                <a:latin typeface="Source Sans Pro"/>
                <a:ea typeface="Source Sans Pro"/>
              </a:rPr>
              <a:t>Sandars J. The use of reflection in medical education: AMEE Guide No. 44. Medical Teacher. 2009;31(8):685–695.</a:t>
            </a:r>
          </a:p>
        </p:txBody>
      </p:sp>
      <p:sp>
        <p:nvSpPr>
          <p:cNvPr id="10" name="Oval 9">
            <a:extLst>
              <a:ext uri="{FF2B5EF4-FFF2-40B4-BE49-F238E27FC236}">
                <a16:creationId xmlns:a16="http://schemas.microsoft.com/office/drawing/2014/main" id="{91227AE4-0019-4246-A323-3478CB3B31D5}"/>
              </a:ext>
            </a:extLst>
          </p:cNvPr>
          <p:cNvSpPr/>
          <p:nvPr/>
        </p:nvSpPr>
        <p:spPr>
          <a:xfrm>
            <a:off x="1270000" y="3771900"/>
            <a:ext cx="88900" cy="889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95B809F6-D733-2940-983D-203C9D6D76CD}"/>
              </a:ext>
            </a:extLst>
          </p:cNvPr>
          <p:cNvSpPr txBox="1"/>
          <p:nvPr/>
        </p:nvSpPr>
        <p:spPr>
          <a:xfrm>
            <a:off x="1498600" y="3708400"/>
            <a:ext cx="4724400" cy="660400"/>
          </a:xfrm>
          <a:prstGeom prst="rect">
            <a:avLst/>
          </a:prstGeom>
          <a:noFill/>
        </p:spPr>
        <p:txBody>
          <a:bodyPr vertOverflow="overflow" vert="horz" wrap="square" rtlCol="0" anchor="t">
            <a:spAutoFit/>
          </a:bodyPr>
          <a:lstStyle/>
          <a:p>
            <a:pPr algn="l"/>
            <a:r>
              <a:rPr lang="en-US" sz="1250">
                <a:solidFill>
                  <a:srgbClr val="33474F"/>
                </a:solidFill>
                <a:latin typeface="Source Sans Pro"/>
                <a:ea typeface="Source Sans Pro"/>
              </a:rPr>
              <a:t>Boud D, Keogh R, Walker D. Reflection: Turning Experience into Learning. London: Kogan Page; 1985.</a:t>
            </a:r>
          </a:p>
        </p:txBody>
      </p:sp>
      <p:sp>
        <p:nvSpPr>
          <p:cNvPr id="12" name="Oval 11">
            <a:extLst>
              <a:ext uri="{FF2B5EF4-FFF2-40B4-BE49-F238E27FC236}">
                <a16:creationId xmlns:a16="http://schemas.microsoft.com/office/drawing/2014/main" id="{A3801900-4C02-6C4A-8973-85D67D0BB4AE}"/>
              </a:ext>
            </a:extLst>
          </p:cNvPr>
          <p:cNvSpPr/>
          <p:nvPr/>
        </p:nvSpPr>
        <p:spPr>
          <a:xfrm>
            <a:off x="1270000" y="4457700"/>
            <a:ext cx="88900" cy="889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640659BA-8653-EE4D-8459-411D8D82E032}"/>
              </a:ext>
            </a:extLst>
          </p:cNvPr>
          <p:cNvSpPr txBox="1"/>
          <p:nvPr/>
        </p:nvSpPr>
        <p:spPr>
          <a:xfrm>
            <a:off x="1498600" y="4394200"/>
            <a:ext cx="4724400" cy="660400"/>
          </a:xfrm>
          <a:prstGeom prst="rect">
            <a:avLst/>
          </a:prstGeom>
          <a:noFill/>
        </p:spPr>
        <p:txBody>
          <a:bodyPr vertOverflow="overflow" vert="horz" wrap="square" rtlCol="0" anchor="t">
            <a:spAutoFit/>
          </a:bodyPr>
          <a:lstStyle/>
          <a:p>
            <a:pPr algn="l"/>
            <a:r>
              <a:rPr lang="en-US" sz="1250">
                <a:solidFill>
                  <a:srgbClr val="33474F"/>
                </a:solidFill>
                <a:latin typeface="Source Sans Pro"/>
                <a:ea typeface="Source Sans Pro"/>
              </a:rPr>
              <a:t>Epstein RM. Mindful practice. JAMA. 1999;282(9):833–839.</a:t>
            </a:r>
          </a:p>
        </p:txBody>
      </p:sp>
      <p:sp>
        <p:nvSpPr>
          <p:cNvPr id="14" name="Oval 13">
            <a:extLst>
              <a:ext uri="{FF2B5EF4-FFF2-40B4-BE49-F238E27FC236}">
                <a16:creationId xmlns:a16="http://schemas.microsoft.com/office/drawing/2014/main" id="{9D2705B7-3D89-4344-8F41-757172DA056C}"/>
              </a:ext>
            </a:extLst>
          </p:cNvPr>
          <p:cNvSpPr/>
          <p:nvPr/>
        </p:nvSpPr>
        <p:spPr>
          <a:xfrm>
            <a:off x="1270000" y="5143500"/>
            <a:ext cx="88900" cy="889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CB5BD2CA-D666-CF41-8E3A-8C42C2D01D02}"/>
              </a:ext>
            </a:extLst>
          </p:cNvPr>
          <p:cNvSpPr txBox="1"/>
          <p:nvPr/>
        </p:nvSpPr>
        <p:spPr>
          <a:xfrm>
            <a:off x="1498600" y="5080000"/>
            <a:ext cx="4724400" cy="660400"/>
          </a:xfrm>
          <a:prstGeom prst="rect">
            <a:avLst/>
          </a:prstGeom>
          <a:noFill/>
        </p:spPr>
        <p:txBody>
          <a:bodyPr vertOverflow="overflow" vert="horz" wrap="square" rtlCol="0" anchor="t">
            <a:spAutoFit/>
          </a:bodyPr>
          <a:lstStyle/>
          <a:p>
            <a:pPr algn="l"/>
            <a:r>
              <a:rPr lang="en-US" sz="1250">
                <a:solidFill>
                  <a:srgbClr val="33474F"/>
                </a:solidFill>
                <a:latin typeface="Source Sans Pro"/>
                <a:ea typeface="Source Sans Pro"/>
              </a:rPr>
              <a:t>Eraut M. Developing Professional Knowledge and Competence. London: Falmer Press; 1994.</a:t>
            </a:r>
          </a:p>
        </p:txBody>
      </p:sp>
      <p:sp>
        <p:nvSpPr>
          <p:cNvPr id="16" name="Oval 15">
            <a:extLst>
              <a:ext uri="{FF2B5EF4-FFF2-40B4-BE49-F238E27FC236}">
                <a16:creationId xmlns:a16="http://schemas.microsoft.com/office/drawing/2014/main" id="{4F967AAE-1C13-1640-8F02-4CD15112195F}"/>
              </a:ext>
            </a:extLst>
          </p:cNvPr>
          <p:cNvSpPr/>
          <p:nvPr/>
        </p:nvSpPr>
        <p:spPr>
          <a:xfrm>
            <a:off x="1270000" y="5829300"/>
            <a:ext cx="88900" cy="889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164CF23A-AB72-1844-9080-603556EF5C10}"/>
              </a:ext>
            </a:extLst>
          </p:cNvPr>
          <p:cNvSpPr txBox="1"/>
          <p:nvPr/>
        </p:nvSpPr>
        <p:spPr>
          <a:xfrm>
            <a:off x="1498600" y="5765800"/>
            <a:ext cx="4724400" cy="660400"/>
          </a:xfrm>
          <a:prstGeom prst="rect">
            <a:avLst/>
          </a:prstGeom>
          <a:noFill/>
        </p:spPr>
        <p:txBody>
          <a:bodyPr vertOverflow="overflow" vert="horz" wrap="square" rtlCol="0" anchor="t">
            <a:spAutoFit/>
          </a:bodyPr>
          <a:lstStyle/>
          <a:p>
            <a:pPr algn="l"/>
            <a:r>
              <a:rPr lang="en-US" sz="1250">
                <a:solidFill>
                  <a:srgbClr val="33474F"/>
                </a:solidFill>
                <a:latin typeface="Source Sans Pro"/>
                <a:ea typeface="Source Sans Pro"/>
              </a:rPr>
              <a:t>Gibbs G. Learning by Doing: A Guide to Teaching and Learning Methods. Oxford: FEU; 1988.</a:t>
            </a:r>
          </a:p>
        </p:txBody>
      </p:sp>
      <p:sp>
        <p:nvSpPr>
          <p:cNvPr id="18" name="Oval 17">
            <a:extLst>
              <a:ext uri="{FF2B5EF4-FFF2-40B4-BE49-F238E27FC236}">
                <a16:creationId xmlns:a16="http://schemas.microsoft.com/office/drawing/2014/main" id="{A86CD7BA-25C6-8842-A41A-D5D02848236E}"/>
              </a:ext>
            </a:extLst>
          </p:cNvPr>
          <p:cNvSpPr/>
          <p:nvPr/>
        </p:nvSpPr>
        <p:spPr>
          <a:xfrm>
            <a:off x="6413500" y="3771900"/>
            <a:ext cx="88900" cy="889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38352529-FA3B-9248-84BD-8F11B167A070}"/>
              </a:ext>
            </a:extLst>
          </p:cNvPr>
          <p:cNvSpPr txBox="1"/>
          <p:nvPr/>
        </p:nvSpPr>
        <p:spPr>
          <a:xfrm>
            <a:off x="6642100" y="3708400"/>
            <a:ext cx="4724400" cy="660400"/>
          </a:xfrm>
          <a:prstGeom prst="rect">
            <a:avLst/>
          </a:prstGeom>
          <a:noFill/>
        </p:spPr>
        <p:txBody>
          <a:bodyPr vertOverflow="overflow" vert="horz" wrap="square" rtlCol="0" anchor="t">
            <a:spAutoFit/>
          </a:bodyPr>
          <a:lstStyle/>
          <a:p>
            <a:pPr algn="l"/>
            <a:r>
              <a:rPr lang="en-US" sz="1250">
                <a:solidFill>
                  <a:srgbClr val="33474F"/>
                </a:solidFill>
                <a:latin typeface="Source Sans Pro"/>
                <a:ea typeface="Source Sans Pro"/>
              </a:rPr>
              <a:t>Kolb DA. Experiential Learning: Experience as the Source of Learning and Development. Prentice Hall; 1984.</a:t>
            </a:r>
          </a:p>
        </p:txBody>
      </p:sp>
      <p:sp>
        <p:nvSpPr>
          <p:cNvPr id="20" name="Oval 19">
            <a:extLst>
              <a:ext uri="{FF2B5EF4-FFF2-40B4-BE49-F238E27FC236}">
                <a16:creationId xmlns:a16="http://schemas.microsoft.com/office/drawing/2014/main" id="{6BB96393-3D77-2541-8703-948D0B73189D}"/>
              </a:ext>
            </a:extLst>
          </p:cNvPr>
          <p:cNvSpPr/>
          <p:nvPr/>
        </p:nvSpPr>
        <p:spPr>
          <a:xfrm>
            <a:off x="6413500" y="4457700"/>
            <a:ext cx="88900" cy="889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7E02647F-02F5-D24C-83C6-A0485725482B}"/>
              </a:ext>
            </a:extLst>
          </p:cNvPr>
          <p:cNvSpPr txBox="1"/>
          <p:nvPr/>
        </p:nvSpPr>
        <p:spPr>
          <a:xfrm>
            <a:off x="6642100" y="4394200"/>
            <a:ext cx="4724400" cy="660400"/>
          </a:xfrm>
          <a:prstGeom prst="rect">
            <a:avLst/>
          </a:prstGeom>
          <a:noFill/>
        </p:spPr>
        <p:txBody>
          <a:bodyPr vertOverflow="overflow" vert="horz" wrap="square" rtlCol="0" anchor="t">
            <a:spAutoFit/>
          </a:bodyPr>
          <a:lstStyle/>
          <a:p>
            <a:pPr algn="l"/>
            <a:r>
              <a:rPr lang="en-US" sz="1250">
                <a:solidFill>
                  <a:srgbClr val="33474F"/>
                </a:solidFill>
                <a:latin typeface="Source Sans Pro"/>
                <a:ea typeface="Source Sans Pro"/>
              </a:rPr>
              <a:t>Mezirow J. A critical theory of adult learning and education. Adult Education. 1981;32(1):3–24.</a:t>
            </a:r>
          </a:p>
        </p:txBody>
      </p:sp>
      <p:sp>
        <p:nvSpPr>
          <p:cNvPr id="22" name="Oval 21">
            <a:extLst>
              <a:ext uri="{FF2B5EF4-FFF2-40B4-BE49-F238E27FC236}">
                <a16:creationId xmlns:a16="http://schemas.microsoft.com/office/drawing/2014/main" id="{A2AC96B2-7A0A-BF49-80E7-759E87C8E2FF}"/>
              </a:ext>
            </a:extLst>
          </p:cNvPr>
          <p:cNvSpPr/>
          <p:nvPr/>
        </p:nvSpPr>
        <p:spPr>
          <a:xfrm>
            <a:off x="6413500" y="5143500"/>
            <a:ext cx="88900" cy="889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9A2149F3-058B-C848-ABB4-38FD14D143D0}"/>
              </a:ext>
            </a:extLst>
          </p:cNvPr>
          <p:cNvSpPr txBox="1"/>
          <p:nvPr/>
        </p:nvSpPr>
        <p:spPr>
          <a:xfrm>
            <a:off x="6642100" y="5080000"/>
            <a:ext cx="4724400" cy="660400"/>
          </a:xfrm>
          <a:prstGeom prst="rect">
            <a:avLst/>
          </a:prstGeom>
          <a:noFill/>
        </p:spPr>
        <p:txBody>
          <a:bodyPr vertOverflow="overflow" vert="horz" wrap="square" rtlCol="0" anchor="t">
            <a:spAutoFit/>
          </a:bodyPr>
          <a:lstStyle/>
          <a:p>
            <a:pPr algn="l"/>
            <a:r>
              <a:rPr lang="en-US" sz="1250">
                <a:solidFill>
                  <a:srgbClr val="33474F"/>
                </a:solidFill>
                <a:latin typeface="Source Sans Pro"/>
                <a:ea typeface="Source Sans Pro"/>
              </a:rPr>
              <a:t>Moon J. A Handbook of Reflective and Experiential Learning. London: RoutledgeFalmer; 2004.</a:t>
            </a:r>
          </a:p>
        </p:txBody>
      </p:sp>
      <p:sp>
        <p:nvSpPr>
          <p:cNvPr id="24" name="Oval 23">
            <a:extLst>
              <a:ext uri="{FF2B5EF4-FFF2-40B4-BE49-F238E27FC236}">
                <a16:creationId xmlns:a16="http://schemas.microsoft.com/office/drawing/2014/main" id="{43B01C4F-AA59-E448-A9DD-DF30FA4692A6}"/>
              </a:ext>
            </a:extLst>
          </p:cNvPr>
          <p:cNvSpPr/>
          <p:nvPr/>
        </p:nvSpPr>
        <p:spPr>
          <a:xfrm>
            <a:off x="6413500" y="5829300"/>
            <a:ext cx="88900" cy="88900"/>
          </a:xfrm>
          <a:prstGeom prst="ellipse">
            <a:avLst/>
          </a:prstGeom>
          <a:solidFill>
            <a:srgbClr val="E08A3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DBD70A73-4094-AA46-B890-E85BBEB8C1FC}"/>
              </a:ext>
            </a:extLst>
          </p:cNvPr>
          <p:cNvSpPr txBox="1"/>
          <p:nvPr/>
        </p:nvSpPr>
        <p:spPr>
          <a:xfrm>
            <a:off x="6642100" y="5765800"/>
            <a:ext cx="4724400" cy="660400"/>
          </a:xfrm>
          <a:prstGeom prst="rect">
            <a:avLst/>
          </a:prstGeom>
          <a:noFill/>
        </p:spPr>
        <p:txBody>
          <a:bodyPr vertOverflow="overflow" vert="horz" wrap="square" rtlCol="0" anchor="t">
            <a:spAutoFit/>
          </a:bodyPr>
          <a:lstStyle/>
          <a:p>
            <a:pPr algn="l"/>
            <a:r>
              <a:rPr lang="en-US" sz="1250">
                <a:solidFill>
                  <a:srgbClr val="33474F"/>
                </a:solidFill>
                <a:latin typeface="Source Sans Pro"/>
                <a:ea typeface="Source Sans Pro"/>
              </a:rPr>
              <a:t>Schön DA. The Reflective Practitioner: How Professionals Think in Action. New York: Basic Books; 1983.</a:t>
            </a:r>
          </a:p>
        </p:txBody>
      </p:sp>
    </p:spTree>
    <p:extLst>
      <p:ext uri="{BB962C8B-B14F-4D97-AF65-F5344CB8AC3E}">
        <p14:creationId xmlns:p14="http://schemas.microsoft.com/office/powerpoint/2010/main" val="3026657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theme/theme1.xml><?xml version="1.0" encoding="utf-8"?>
<a:theme xmlns:a="http://schemas.openxmlformats.org/drawingml/2006/main" name="Office Theme [1780110064417]">
  <a:themeElements>
    <a:clrScheme name="Office">
      <a:dk1>
        <a:srgbClr val="0E2A3B"/>
      </a:dk1>
      <a:lt1>
        <a:srgbClr val="FFFFFF"/>
      </a:lt1>
      <a:dk2>
        <a:srgbClr val="0E2A3B"/>
      </a:dk2>
      <a:lt2>
        <a:srgbClr val="F2F6F7"/>
      </a:lt2>
      <a:accent1>
        <a:srgbClr val="0E8A8A"/>
      </a:accent1>
      <a:accent2>
        <a:srgbClr val="12B5A5"/>
      </a:accent2>
      <a:accent3>
        <a:srgbClr val="1F4E6B"/>
      </a:accent3>
      <a:accent4>
        <a:srgbClr val="E08A3C"/>
      </a:accent4>
      <a:accent5>
        <a:srgbClr val="5BC0BE"/>
      </a:accent5>
      <a:accent6>
        <a:srgbClr val="0E2A3B"/>
      </a:accent6>
      <a:hlink>
        <a:srgbClr val="0563C1"/>
      </a:hlink>
      <a:folHlink>
        <a:srgbClr val="954F72"/>
      </a:folHlink>
    </a:clrScheme>
    <a:fontScheme name="Office">
      <a:majorFont>
        <a:latin typeface="Poppins"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Pro"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5CFC7ED-36E1-084F-8DBA-977D4CF9CEE7}">
  <we:reference id="wa200010001" version="1.0.0.1" store="en-GB" storeType="OMEX"/>
  <we:alternateReferences>
    <we:reference id="wa200010001" version="1.0.0.1" store="wa200010001" storeType="OMEX"/>
  </we:alternateReferences>
  <we:properties>
    <we:property name="claude.fileId" value="&quot;4ee8967d-b99b-4dbc-83a2-49f2f9cdb63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1740</TotalTime>
  <Words>4518</Words>
  <Application>Microsoft Macintosh PowerPoint</Application>
  <PresentationFormat>Widescreen</PresentationFormat>
  <Paragraphs>442</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Poppins</vt:lpstr>
      <vt:lpstr>Source Sans Pro</vt:lpstr>
      <vt:lpstr>Office Theme [1780110064417]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Riyan Sopiyan</dc:creator>
  <cp:lastModifiedBy>Riyan Sopiyan</cp:lastModifiedBy>
  <cp:revision>6</cp:revision>
  <dcterms:created xsi:type="dcterms:W3CDTF">2026-05-30T02:45:55Z</dcterms:created>
  <dcterms:modified xsi:type="dcterms:W3CDTF">2026-05-31T07:46:50Z</dcterms:modified>
</cp:coreProperties>
</file>